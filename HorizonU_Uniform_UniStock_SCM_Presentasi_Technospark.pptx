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PRESENTASI SLIDE 1 (Target: 01:10 Menit):</a:t>
            </a:r>
          </a:p>
          <a:p>
            <a:r>
              <a:t>"Selamat pagi/siang Yang Terhormat Bapak/Ibu Dosen Penguji dan Dewan Juri Technospark. Kami dari Tim Nirwana, beranggotakan Fhazar, Ferry, Hildan, Fadel, Daffa, dan Acep. Hari ini kami mempresentasikan analisis dan solusi sistem informasi rantai pasok terpadu bertajuk: HorizonU Uniform, dengan engine sistem bernama UniStock.</a:t>
            </a:r>
          </a:p>
          <a:p/>
          <a:p>
            <a:r>
              <a:t>Studi kasus kami berfokus pada Departemen Keuangan Universitas Horizon Indonesia, yang bertanggung jawab atas pengadaan dan distribusi ribuan paket seragam kuliah, jas almamater, sepatu laboratorium, hingga perlengkapan medis mahasiswa baru setiap tahunnya.</a:t>
            </a:r>
          </a:p>
          <a:p/>
          <a:p>
            <a:r>
              <a:t>Sebelum UniStock dibangun, pengelolaan dilakukan manual memakai spreadsheet Excel induk sebesar 4.5 Megabytes dengan belasan lembar kerja yang sering sekali mengalami lag dan crash. Di lapangan terjadi antrean panjang hingga 20 menit per mahasiswa, ketidakcocokan ukuran pakaian yang memicu penumpukan dead-stock, serta kerentanan klaim ganda. Mari kita lihat bagaimana rantai pasok ini bekerja."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PRESENTASI SLIDE 2 (Target: 01:15 Menit):</a:t>
            </a:r>
          </a:p>
          <a:p>
            <a:r>
              <a:t>"Masuk ke Slide 2 mengenai Struktur Rantai Pasok. Rantai pasok HorizonU Uniform menghubungkan empat entitas stakeholder secara closed-loop:</a:t>
            </a:r>
          </a:p>
          <a:p/>
          <a:p>
            <a:r>
              <a:t>Pertama, di sisi Hulu (Supplier), terdapat Pabrik Garmen dan Sepatu yang memproduksi barang sesuai Purchase Order agregat kampus.</a:t>
            </a:r>
          </a:p>
          <a:p>
            <a:r>
              <a:t>Kedua, Gudang Logistik Kampus, yang bertindak sebagai distributor internal untuk memeriksa fisik, mencatat penerimaan batch, dan memberi nomor urut FIFO.</a:t>
            </a:r>
          </a:p>
          <a:p>
            <a:r>
              <a:t>Ketiga, Departemen Keuangan dan Staf Posko, yang bertugas memvalidasi status kelayakan pelunasan biaya serta melayani serah terima barang di loket.</a:t>
            </a:r>
          </a:p>
          <a:p>
            <a:r>
              <a:t>Dan keempat, di sisi Hilir (Customer), adalah Mahasiswa yang memiliki kuota hak barang sesuai prodinya.</a:t>
            </a:r>
          </a:p>
          <a:p/>
          <a:p>
            <a:r>
              <a:t>Prinsip dasar yang kami tanamkan adalah: 'Data Mengunci Fisik'. Artinya, seragam fisik di meja loket pantang keluar sebelum sistem memindai QR Code mahasiswa dan memastikan hak kuota serta status pembayarannya sah."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PRESENTASI SLIDE 3 (Target: 01:30 Menit):</a:t>
            </a:r>
          </a:p>
          <a:p>
            <a:r>
              <a:t>"Pada Slide 3, kami membedah empat akar masalah utama melalui tabel hubungan Masalah, Penyebab, dan Dampak sistemik:</a:t>
            </a:r>
          </a:p>
          <a:p/>
          <a:p>
            <a:r>
              <a:t>Masalah Pertama: Ketidakcocokan ukuran dan penumpukan dead-stock. Penyebabnya adalah pemesanan ke vendor hanya berbasis estimasi historis tanpa survey ukuran mandiri mahasiswa. Dampaknya, ukuran favorit habis seketika, ukuran ekstrem menumpuk bertahun-tahun, dan dana kampus tertahan.</a:t>
            </a:r>
          </a:p>
          <a:p/>
          <a:p>
            <a:r>
              <a:t>Masalah Kedua: Ketergantungan pada lembar kerja Excel raksasa yang sering crash saat mengolah ribuan data maba, ditambah broadcast jadwal dikirim manual per surel. Dampaknya waktu kerja staf terbuang berminggu-minggu dan informasi jadwal terlambat diterima mahasiswa.</a:t>
            </a:r>
          </a:p>
          <a:p/>
          <a:p>
            <a:r>
              <a:t>Masalah Ketiga: Kemacetan parah di loket posko karena verifikasi lunas dan pencatatan dilakukan manual di atas kertas. Dampaknya antrean meliuk ratusan meter dengan waktu layan hingga 15-20 menit per orang, serta rawan klaim ganda.</a:t>
            </a:r>
          </a:p>
          <a:p/>
          <a:p>
            <a:r>
              <a:t>Masalah Keempat: Penyusutan stok tanpa jejak audit karena pencampuran barang antar-pembelian tanpa kaidah FIFO, sehingga nilai HPP dan laba kotor tidak dapat dihitung akurat."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PRESENTASI SLIDE 4 (Target: 01:15 Menit):</a:t>
            </a:r>
          </a:p>
          <a:p>
            <a:r>
              <a:t>"Selanjutnya pada Slide 4, kami memetakan Analisis Aliran Informasi pada kondisi As-Is dan titik-titik kemacetannya:</a:t>
            </a:r>
          </a:p>
          <a:p/>
          <a:p>
            <a:r>
              <a:t>Pada Aliran 1 dari Mahasiswa ke Kampus, data ukuran diisi via formulir acak tanpa validasi SKU baku, sehingga rekapitulasi data terlambat dan penuh duplikasi.</a:t>
            </a:r>
          </a:p>
          <a:p>
            <a:r>
              <a:t>Pada Aliran 2 dari Keuangan ke Posko, data pelunasan terisolasi di laptop staf finance. Saat mahasiswa baru saja melunasi di bank pada hari-H, staf posko tidak mengetahuinya karena data belum tersinkronisasi.</a:t>
            </a:r>
          </a:p>
          <a:p>
            <a:r>
              <a:t>Pada Aliran 3 di meja posko, pencatatan serah terima memakai kertas checklist yang baru direkap malam hari, memicu celah barang hilang dan manipulasi.</a:t>
            </a:r>
          </a:p>
          <a:p>
            <a:r>
              <a:t>Dan pada Aliran 4 ke pabrik vendor, order produksi dibuat berdasar tebakan kasar sehingga waktu tunggu revisi ukuran memakan waktu berbulan-bulan.</a:t>
            </a:r>
          </a:p>
          <a:p/>
          <a:p>
            <a:r>
              <a:t>Kesimpulannya, terjadi silo data dan keterlambatan informasi akut yang melumpuhkan efisiensi."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PRESENTASI SLIDE 5 (Target: 01:30 Menit):</a:t>
            </a:r>
          </a:p>
          <a:p>
            <a:r>
              <a:t>"Untuk mengatasi persoalan tersebut, pada Slide 5 kami merekomendasikan empat subsistem terpadu di dalam arsitektur HorizonU Uniform (UniStock):</a:t>
            </a:r>
          </a:p>
          <a:p/>
          <a:p>
            <a:r>
              <a:t>1. ERP Master &amp; Entitlement Engine: Berfungsi menggantikan Excel dengan basis data relasional MySQL InnoDB terstruktur, mengelola kuota hak per program studi, dan mengunci integritas transaksi. Manfaatnya: 100% bebas kendala Excel rusak.</a:t>
            </a:r>
          </a:p>
          <a:p/>
          <a:p>
            <a:r>
              <a:t>2. SCM Demand Planning Portal: Membuka portal mandiri bagi mahasiswa untuk mengisi ukuran baju dan sepatu sebelum produksi, serta menghitung kalkulasi demand vs shortage secara otomatis. Manfaatnya: Zero dead-stock dan pengadaan pabrik tepat sasaran.</a:t>
            </a:r>
          </a:p>
          <a:p/>
          <a:p>
            <a:r>
              <a:t>3. POS QR Verification Engine: Menghasilkan QR Code instan berbasis NIM dan mengeksekusi 6-Lapis Validasi otomatis melalui kamera webcam posko. Manfaatnya: Memangkas waktu layan menjadi di bawah 30 detik dan nol risiko klaim ganda.</a:t>
            </a:r>
          </a:p>
          <a:p/>
          <a:p>
            <a:r>
              <a:t>4. WMS &amp; FIFO Inventory Costing Engine: Mengatur pemotongan mutasi dari batch pembelian tertua secara FIFO, rekonsiliasi stock opname fisik, serta perhitungan valuasi HPP dan margin laba secara presisi."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PRESENTASI SLIDE 6 (Target: 01:25 Menit):</a:t>
            </a:r>
          </a:p>
          <a:p>
            <a:r>
              <a:t>"Pada Slide 6, kami tampilkan Desain Arsitektur Solusi yang bekerja dalam 4 Fase Tertutup (Closed-Loop Engine):</a:t>
            </a:r>
          </a:p>
          <a:p/>
          <a:p>
            <a:r>
              <a:t>Fase 1 (Inbound): Saat barang dari pabrik tiba, staf gudang mencatatnya pada modul StockReceive, menetapkan batch FIFO, dan mencatat unit HPP pembelian.</a:t>
            </a:r>
          </a:p>
          <a:p/>
          <a:p>
            <a:r>
              <a:t>Fase 2 (Planning): Departemen Keuangan mengaktifkan status lunas di Eligibility Record, mahasiswa mengisi profil ukuran di portal, dan sistem mengalokasikan paket hak barang.</a:t>
            </a:r>
          </a:p>
          <a:p/>
          <a:p>
            <a:r>
              <a:t>Fase 3 (Outbound): Di posko hari-H, staf memindai QR Code mahasiswa. Sistem mengeksekusi 6-lapis validasi menggunakan teknik pessimistic locking, memotong stok batch tertua, dan menyerahkan seragam.</a:t>
            </a:r>
          </a:p>
          <a:p/>
          <a:p>
            <a:r>
              <a:t>Fase 4 (Audit &amp; Control): Stock opname fisik berkala menghitung selisih varians, dan sistem menerbitkan laporan Gross Profit Margin.</a:t>
            </a:r>
          </a:p>
          <a:p/>
          <a:p>
            <a:r>
              <a:t>Data sisa stok dan tren ukuran dari Fase 4 ini secara otomatis menjadi acuan belanja pengadaan Fase 1 pada semester berikutnya, menutup siklus rantai pasok secara sempurna."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PRESENTASI SLIDE 7 (Target: 01:15 Menit):</a:t>
            </a:r>
          </a:p>
          <a:p>
            <a:r>
              <a:t>"Masuk ke Slide 7 mengenai Prioritas Implementasi dan Mitigasi Risiko Lapangan.</a:t>
            </a:r>
          </a:p>
          <a:p/>
          <a:p>
            <a:r>
              <a:t>Kami membagi tahapan implementasi menjadi 3 prioritas: Prioritas 1 adalah standarisasi master data dan SKU; Prioritas 2 adalah sinkronisasi status keuangan dan pembukaan portal ukuran; dan Prioritas 3 adalah pelatihan staf loket serta simulasi antrean posko.</a:t>
            </a:r>
          </a:p>
          <a:p/>
          <a:p>
            <a:r>
              <a:t>Kami juga telah merancang solusi atas 3 risiko darurat nyata di lapangan:</a:t>
            </a:r>
          </a:p>
          <a:p>
            <a:r>
              <a:t>Pertama, jika baterai HP mahasiswa mati atau tidak membawa QR, staf posko dapat menggunakan fitur fallback search manual via NIM.</a:t>
            </a:r>
          </a:p>
          <a:p>
            <a:r>
              <a:t>Kedua, jika stok ukuran di rak habis saat fitting, sistem mendukung fitur Partial Pickup di mana barang yang ada diserahkan tanpa menghanguskan sisa hak mahasiswa.</a:t>
            </a:r>
          </a:p>
          <a:p>
            <a:r>
              <a:t>Ketiga, jika koneksi internet kampus fluktuatif, database diproteksi oleh pessimistic row locking agar tidak terjadi pengurangan stok ganda."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PRESENTASI SLIDE 8 (Target: 00:55 Menit):</a:t>
            </a:r>
          </a:p>
          <a:p>
            <a:r>
              <a:t>"Sebagai penutup pada Slide 8, implementasi HorizonU Uniform menghadirkan 3 manfaat nyata dan terukur:</a:t>
            </a:r>
          </a:p>
          <a:p/>
          <a:p>
            <a:r>
              <a:t>1. Efisiensi Waktu: Waktu pelayanan posko berhasil dipangkas dari 15–20 menit menjadi di bawah 30 detik per mahasiswa.</a:t>
            </a:r>
          </a:p>
          <a:p>
            <a:r>
              <a:t>2. Akurasi Persediaan: Mewujudkan target Zero Dead-Stock karena pengadaan pabrik 100% selaras dengan ukuran tubuh riil mahasiswa.</a:t>
            </a:r>
          </a:p>
          <a:p>
            <a:r>
              <a:t>3. Akuntabilitas Biaya: Menghilangkan kerentanan crash Excel dengan sistem penilaian inventaris berbasis FIFO dan analitik Gross Profit Margin real-time.</a:t>
            </a:r>
          </a:p>
          <a:p/>
          <a:p>
            <a:r>
              <a:t>Statement akhir kami: Sistem Informasi bukan sekadar alat pencatat administrasi, melainkan saraf penggerak utama rantai pasok yang mengunci fisik barang dengan kepatuhan finansial, serta mengubah tebakan manual menjadi keputusan bisnis berakurasi tinggi.</a:t>
            </a:r>
          </a:p>
          <a:p/>
          <a:p>
            <a:r>
              <a:t>Sekian presentasi dari Tim Nirwana. Kami siap menerima pertanyaan dari Dewan Juri. Terima kasih."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580B13"/>
        </a:solidFill>
        <a:effectLst/>
      </p:bgPr>
    </p:bg>
    <p:spTree>
      <p:nvGrpSpPr>
        <p:cNvPr id="1" name=""/>
        <p:cNvGrpSpPr/>
        <p:nvPr/>
      </p:nvGrpSpPr>
      <p:grpSpPr/>
      <p:sp>
        <p:nvSpPr>
          <p:cNvPr id="2" name="Rounded Rectangle 1"/>
          <p:cNvSpPr/>
          <p:nvPr/>
        </p:nvSpPr>
        <p:spPr>
          <a:xfrm>
            <a:off x="548640" y="320040"/>
            <a:ext cx="3291840" cy="320040"/>
          </a:xfrm>
          <a:prstGeom prst="roundRect">
            <a:avLst/>
          </a:prstGeom>
          <a:solidFill>
            <a:srgbClr val="FFD166"/>
          </a:solidFill>
          <a:ln>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580B13"/>
                </a:solidFill>
              </a:defRPr>
            </a:pPr>
            <a:r>
              <a:t>SLIDE 1 • CASE INTRODUCTION</a:t>
            </a:r>
          </a:p>
        </p:txBody>
      </p:sp>
      <p:sp>
        <p:nvSpPr>
          <p:cNvPr id="3" name="TextBox 2"/>
          <p:cNvSpPr txBox="1"/>
          <p:nvPr/>
        </p:nvSpPr>
        <p:spPr>
          <a:xfrm>
            <a:off x="548640" y="685800"/>
            <a:ext cx="11064240" cy="438912"/>
          </a:xfrm>
          <a:prstGeom prst="rect">
            <a:avLst/>
          </a:prstGeom>
          <a:noFill/>
        </p:spPr>
        <p:txBody>
          <a:bodyPr wrap="square">
            <a:spAutoFit/>
          </a:bodyPr>
          <a:lstStyle/>
          <a:p>
            <a:pPr>
              <a:defRPr sz="1900" b="1">
                <a:solidFill>
                  <a:srgbClr val="FFFFFF"/>
                </a:solidFill>
              </a:defRPr>
            </a:pPr>
            <a:r>
              <a:t>HORIZONU UNIFORM (UNISTOCK SCM) — TRANSFORMASI LOGISTIK KAMPUS</a:t>
            </a:r>
          </a:p>
        </p:txBody>
      </p:sp>
      <p:sp>
        <p:nvSpPr>
          <p:cNvPr id="4" name="TextBox 3"/>
          <p:cNvSpPr txBox="1"/>
          <p:nvPr/>
        </p:nvSpPr>
        <p:spPr>
          <a:xfrm>
            <a:off x="548640" y="1115568"/>
            <a:ext cx="11064240" cy="347472"/>
          </a:xfrm>
          <a:prstGeom prst="rect">
            <a:avLst/>
          </a:prstGeom>
          <a:noFill/>
        </p:spPr>
        <p:txBody>
          <a:bodyPr wrap="square">
            <a:spAutoFit/>
          </a:bodyPr>
          <a:lstStyle/>
          <a:p>
            <a:pPr>
              <a:defRPr sz="1150">
                <a:solidFill>
                  <a:srgbClr val="FFD166"/>
                </a:solidFill>
              </a:defRPr>
            </a:pPr>
            <a:r>
              <a:t>Sistem Persediaan dan Distribusi Seragam Terpusat Berbasis Closed-Loop SCM pada Departemen Keuangan Universitas Horizon Indonesia</a:t>
            </a:r>
          </a:p>
        </p:txBody>
      </p:sp>
      <p:sp>
        <p:nvSpPr>
          <p:cNvPr id="5" name="Rectangle 4"/>
          <p:cNvSpPr/>
          <p:nvPr/>
        </p:nvSpPr>
        <p:spPr>
          <a:xfrm>
            <a:off x="548640" y="1554480"/>
            <a:ext cx="3474720" cy="4023360"/>
          </a:xfrm>
          <a:prstGeom prst="rect">
            <a:avLst/>
          </a:prstGeom>
          <a:solidFill>
            <a:srgbClr val="FFFFFF"/>
          </a:solidFill>
          <a:ln w="19050">
            <a:solidFill>
              <a:srgbClr val="6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3474720" cy="347472"/>
          </a:xfrm>
          <a:prstGeom prst="rect">
            <a:avLst/>
          </a:prstGeom>
          <a:solidFill>
            <a:srgbClr val="580B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D166"/>
                </a:solidFill>
              </a:defRPr>
            </a:pPr>
            <a:r>
              <a:t>01 • PROFIL BISNIS &amp; INDUSTRI</a:t>
            </a:r>
          </a:p>
        </p:txBody>
      </p:sp>
      <p:sp>
        <p:nvSpPr>
          <p:cNvPr id="7" name="TextBox 6"/>
          <p:cNvSpPr txBox="1"/>
          <p:nvPr/>
        </p:nvSpPr>
        <p:spPr>
          <a:xfrm>
            <a:off x="658368" y="1938528"/>
            <a:ext cx="3255263" cy="3566160"/>
          </a:xfrm>
          <a:prstGeom prst="rect">
            <a:avLst/>
          </a:prstGeom>
          <a:noFill/>
        </p:spPr>
        <p:txBody>
          <a:bodyPr wrap="square">
            <a:spAutoFit/>
          </a:bodyPr>
          <a:lstStyle/>
          <a:p>
            <a:pPr>
              <a:defRPr sz="1250" b="1">
                <a:solidFill>
                  <a:srgbClr val="580B13"/>
                </a:solidFill>
              </a:defRPr>
            </a:pPr>
            <a:r>
              <a:t>Logistik Pendidikan Kampus</a:t>
            </a:r>
          </a:p>
          <a:p>
            <a:pPr>
              <a:defRPr sz="1050">
                <a:solidFill>
                  <a:srgbClr val="1E293B"/>
                </a:solidFill>
              </a:defRPr>
            </a:pPr>
            <a:r>
              <a:t>Departemen Keuangan Universitas Horizon Indonesia mengelola pengadaan dan distribusi seragam, sepatu lab, dan medical kits mahasiswa baru.</a:t>
            </a:r>
            <a:br/>
            <a:br/>
            <a:r>
              <a:t>Model bisnis: Direct Closed-Loop Campus Supply Chain.</a:t>
            </a:r>
          </a:p>
        </p:txBody>
      </p:sp>
      <p:sp>
        <p:nvSpPr>
          <p:cNvPr id="8" name="Rectangle 7"/>
          <p:cNvSpPr/>
          <p:nvPr/>
        </p:nvSpPr>
        <p:spPr>
          <a:xfrm>
            <a:off x="4343400" y="1554480"/>
            <a:ext cx="3474720" cy="4023360"/>
          </a:xfrm>
          <a:prstGeom prst="rect">
            <a:avLst/>
          </a:prstGeom>
          <a:solidFill>
            <a:srgbClr val="FFFFFF"/>
          </a:solidFill>
          <a:ln w="19050">
            <a:solidFill>
              <a:srgbClr val="6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43400" y="1554480"/>
            <a:ext cx="3474720" cy="347472"/>
          </a:xfrm>
          <a:prstGeom prst="rect">
            <a:avLst/>
          </a:prstGeom>
          <a:solidFill>
            <a:srgbClr val="580B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D166"/>
                </a:solidFill>
              </a:defRPr>
            </a:pPr>
            <a:r>
              <a:t>02 • MASALAH UTAMA AS-IS</a:t>
            </a:r>
          </a:p>
        </p:txBody>
      </p:sp>
      <p:sp>
        <p:nvSpPr>
          <p:cNvPr id="10" name="TextBox 9"/>
          <p:cNvSpPr txBox="1"/>
          <p:nvPr/>
        </p:nvSpPr>
        <p:spPr>
          <a:xfrm>
            <a:off x="4453128" y="1938528"/>
            <a:ext cx="3255263" cy="3566160"/>
          </a:xfrm>
          <a:prstGeom prst="rect">
            <a:avLst/>
          </a:prstGeom>
          <a:noFill/>
        </p:spPr>
        <p:txBody>
          <a:bodyPr wrap="square">
            <a:spAutoFit/>
          </a:bodyPr>
          <a:lstStyle/>
          <a:p>
            <a:pPr>
              <a:defRPr sz="1250" b="1">
                <a:solidFill>
                  <a:srgbClr val="580B13"/>
                </a:solidFill>
              </a:defRPr>
            </a:pPr>
            <a:r>
              <a:t>Spreadsheet Crash &amp; Antrean</a:t>
            </a:r>
          </a:p>
          <a:p>
            <a:pPr>
              <a:defRPr sz="1050">
                <a:solidFill>
                  <a:srgbClr val="1E293B"/>
                </a:solidFill>
              </a:defRPr>
            </a:pPr>
            <a:r>
              <a:t>File Excel induk 4.5 MB sering lag/crash saat ribuan mahasiswa mendaftar.</a:t>
            </a:r>
            <a:br/>
            <a:br/>
            <a:r>
              <a:t>Terjadi antrean 15-20 menit/orang, size mismatch memicu dead-stock, dan rawan klaim ganda di loket.</a:t>
            </a:r>
          </a:p>
        </p:txBody>
      </p:sp>
      <p:sp>
        <p:nvSpPr>
          <p:cNvPr id="11" name="Rectangle 10"/>
          <p:cNvSpPr/>
          <p:nvPr/>
        </p:nvSpPr>
        <p:spPr>
          <a:xfrm>
            <a:off x="8138160" y="1554480"/>
            <a:ext cx="3474720" cy="4023360"/>
          </a:xfrm>
          <a:prstGeom prst="rect">
            <a:avLst/>
          </a:prstGeom>
          <a:solidFill>
            <a:srgbClr val="FFFFFF"/>
          </a:solidFill>
          <a:ln w="19050">
            <a:solidFill>
              <a:srgbClr val="6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38160" y="1554480"/>
            <a:ext cx="3474720" cy="347472"/>
          </a:xfrm>
          <a:prstGeom prst="rect">
            <a:avLst/>
          </a:prstGeom>
          <a:solidFill>
            <a:srgbClr val="580B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D166"/>
                </a:solidFill>
              </a:defRPr>
            </a:pPr>
            <a:r>
              <a:t>03 • NAMA PRESENTER (NIRWANA)</a:t>
            </a:r>
          </a:p>
        </p:txBody>
      </p:sp>
      <p:sp>
        <p:nvSpPr>
          <p:cNvPr id="13" name="TextBox 12"/>
          <p:cNvSpPr txBox="1"/>
          <p:nvPr/>
        </p:nvSpPr>
        <p:spPr>
          <a:xfrm>
            <a:off x="8247888" y="1938528"/>
            <a:ext cx="3255263" cy="3566160"/>
          </a:xfrm>
          <a:prstGeom prst="rect">
            <a:avLst/>
          </a:prstGeom>
          <a:noFill/>
        </p:spPr>
        <p:txBody>
          <a:bodyPr wrap="square">
            <a:spAutoFit/>
          </a:bodyPr>
          <a:lstStyle/>
          <a:p>
            <a:pPr>
              <a:defRPr sz="1250" b="1">
                <a:solidFill>
                  <a:srgbClr val="580B13"/>
                </a:solidFill>
              </a:defRPr>
            </a:pPr>
            <a:r>
              <a:t>Tim Analis &amp; Pengembang</a:t>
            </a:r>
          </a:p>
          <a:p>
            <a:pPr>
              <a:defRPr sz="1050">
                <a:solidFill>
                  <a:srgbClr val="1E293B"/>
                </a:solidFill>
              </a:defRPr>
            </a:pPr>
            <a:r>
              <a:t>• Fhazar Raffiful Aqyla (Project Manager)</a:t>
            </a:r>
            <a:br/>
            <a:r>
              <a:t>• Ferry Noer Hendriawan (Frontend)</a:t>
            </a:r>
            <a:br/>
            <a:r>
              <a:t>• Hildan Anugrah Tamadi Putra (Backend)</a:t>
            </a:r>
            <a:br/>
            <a:r>
              <a:t>• Fadel Rahmadhan (QA)</a:t>
            </a:r>
            <a:br/>
            <a:r>
              <a:t>• Daffa Nazriel Zaidan (UI/UX)</a:t>
            </a:r>
            <a:br/>
            <a:r>
              <a:t>• Acep Ugan Saputra (System Analyst)</a:t>
            </a:r>
            <a:br/>
            <a:br/>
            <a:r>
              <a:t>Live URL: unistok.nirwana.biz.id</a:t>
            </a:r>
          </a:p>
        </p:txBody>
      </p:sp>
      <p:sp>
        <p:nvSpPr>
          <p:cNvPr id="14" name="Rectangle 13"/>
          <p:cNvSpPr/>
          <p:nvPr/>
        </p:nvSpPr>
        <p:spPr>
          <a:xfrm>
            <a:off x="548640" y="5806440"/>
            <a:ext cx="11064240" cy="685800"/>
          </a:xfrm>
          <a:prstGeom prst="rect">
            <a:avLst/>
          </a:prstGeom>
          <a:solidFill>
            <a:srgbClr val="580B13"/>
          </a:solidFill>
          <a:ln w="1905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Misi Solusi UniStock: Menyatukan Hulu (Pabrik Vendor), Gudang Kampus, Keuangan, hingga Hilir (Mahasiswa) dalam satu arsitektur terintegrasi.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48640" y="320040"/>
            <a:ext cx="3291840" cy="320040"/>
          </a:xfrm>
          <a:prstGeom prst="roundRect">
            <a:avLst/>
          </a:prstGeom>
          <a:solidFill>
            <a:srgbClr val="580B13"/>
          </a:solidFill>
          <a:ln>
            <a:solidFill>
              <a:srgbClr val="580B1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D166"/>
                </a:solidFill>
              </a:defRPr>
            </a:pPr>
            <a:r>
              <a:t>SLIDE 2 • SUPPLY CHAIN STRUCTURE</a:t>
            </a:r>
          </a:p>
        </p:txBody>
      </p:sp>
      <p:sp>
        <p:nvSpPr>
          <p:cNvPr id="3" name="TextBox 2"/>
          <p:cNvSpPr txBox="1"/>
          <p:nvPr/>
        </p:nvSpPr>
        <p:spPr>
          <a:xfrm>
            <a:off x="548640" y="685800"/>
            <a:ext cx="11064240" cy="438912"/>
          </a:xfrm>
          <a:prstGeom prst="rect">
            <a:avLst/>
          </a:prstGeom>
          <a:noFill/>
        </p:spPr>
        <p:txBody>
          <a:bodyPr wrap="square">
            <a:spAutoFit/>
          </a:bodyPr>
          <a:lstStyle/>
          <a:p>
            <a:pPr>
              <a:defRPr sz="1900" b="1">
                <a:solidFill>
                  <a:srgbClr val="580B13"/>
                </a:solidFill>
              </a:defRPr>
            </a:pPr>
            <a:r>
              <a:t>STRUKTUR RANTAI PASOK: STAKEHOLDER, ALIRAN FISIK &amp; INFORMASI</a:t>
            </a:r>
          </a:p>
        </p:txBody>
      </p:sp>
      <p:sp>
        <p:nvSpPr>
          <p:cNvPr id="4" name="TextBox 3"/>
          <p:cNvSpPr txBox="1"/>
          <p:nvPr/>
        </p:nvSpPr>
        <p:spPr>
          <a:xfrm>
            <a:off x="548640" y="1115568"/>
            <a:ext cx="11064240" cy="347472"/>
          </a:xfrm>
          <a:prstGeom prst="rect">
            <a:avLst/>
          </a:prstGeom>
          <a:noFill/>
        </p:spPr>
        <p:txBody>
          <a:bodyPr wrap="square">
            <a:spAutoFit/>
          </a:bodyPr>
          <a:lstStyle/>
          <a:p>
            <a:pPr>
              <a:defRPr sz="1150">
                <a:solidFill>
                  <a:srgbClr val="475569"/>
                </a:solidFill>
              </a:defRPr>
            </a:pPr>
            <a:r>
              <a:t>Pemetaan peran stakeholder end-to-end dari hulu ke hilir serta titik kritis perpindahan barang dan otorisasi data.</a:t>
            </a:r>
          </a:p>
        </p:txBody>
      </p:sp>
      <p:sp>
        <p:nvSpPr>
          <p:cNvPr id="5" name="Rectangle 4"/>
          <p:cNvSpPr/>
          <p:nvPr/>
        </p:nvSpPr>
        <p:spPr>
          <a:xfrm>
            <a:off x="548640" y="1554480"/>
            <a:ext cx="2606040" cy="4023360"/>
          </a:xfrm>
          <a:prstGeom prst="rect">
            <a:avLst/>
          </a:prstGeom>
          <a:solidFill>
            <a:srgbClr val="FFFFFF"/>
          </a:solidFill>
          <a:ln w="19050">
            <a:solidFill>
              <a:srgbClr val="6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2606040" cy="347472"/>
          </a:xfrm>
          <a:prstGeom prst="rect">
            <a:avLst/>
          </a:prstGeom>
          <a:solidFill>
            <a:srgbClr val="580B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D166"/>
                </a:solidFill>
              </a:defRPr>
            </a:pPr>
            <a:r>
              <a:t>01 • SUPPLIER (HULU)</a:t>
            </a:r>
          </a:p>
        </p:txBody>
      </p:sp>
      <p:sp>
        <p:nvSpPr>
          <p:cNvPr id="7" name="TextBox 6"/>
          <p:cNvSpPr txBox="1"/>
          <p:nvPr/>
        </p:nvSpPr>
        <p:spPr>
          <a:xfrm>
            <a:off x="658368" y="1938528"/>
            <a:ext cx="2386584" cy="3566160"/>
          </a:xfrm>
          <a:prstGeom prst="rect">
            <a:avLst/>
          </a:prstGeom>
          <a:noFill/>
        </p:spPr>
        <p:txBody>
          <a:bodyPr wrap="square">
            <a:spAutoFit/>
          </a:bodyPr>
          <a:lstStyle/>
          <a:p>
            <a:pPr>
              <a:defRPr sz="1250" b="1">
                <a:solidFill>
                  <a:srgbClr val="580B13"/>
                </a:solidFill>
              </a:defRPr>
            </a:pPr>
            <a:r>
              <a:t>Vendor Pabrik</a:t>
            </a:r>
          </a:p>
          <a:p>
            <a:pPr>
              <a:defRPr sz="1050">
                <a:solidFill>
                  <a:srgbClr val="1E293B"/>
                </a:solidFill>
              </a:defRPr>
            </a:pPr>
            <a:r>
              <a:t>Memproduksi paket seragam dan sepatu sesuai PO agregat kampus dengan kode SKU terstandarisasi.</a:t>
            </a:r>
            <a:br/>
            <a:br/>
            <a:r>
              <a:t>Titik Barang: Pengiriman kontainer ke gudang kampus.</a:t>
            </a:r>
          </a:p>
        </p:txBody>
      </p:sp>
      <p:sp>
        <p:nvSpPr>
          <p:cNvPr id="8" name="Rectangle 7"/>
          <p:cNvSpPr/>
          <p:nvPr/>
        </p:nvSpPr>
        <p:spPr>
          <a:xfrm>
            <a:off x="3364992" y="1554480"/>
            <a:ext cx="2606040" cy="4023360"/>
          </a:xfrm>
          <a:prstGeom prst="rect">
            <a:avLst/>
          </a:prstGeom>
          <a:solidFill>
            <a:srgbClr val="FFFFFF"/>
          </a:solidFill>
          <a:ln w="19050">
            <a:solidFill>
              <a:srgbClr val="6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364992" y="1554480"/>
            <a:ext cx="2606040" cy="347472"/>
          </a:xfrm>
          <a:prstGeom prst="rect">
            <a:avLst/>
          </a:prstGeom>
          <a:solidFill>
            <a:srgbClr val="580B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D166"/>
                </a:solidFill>
              </a:defRPr>
            </a:pPr>
            <a:r>
              <a:t>02 • GUDANG (INBOUND)</a:t>
            </a:r>
          </a:p>
        </p:txBody>
      </p:sp>
      <p:sp>
        <p:nvSpPr>
          <p:cNvPr id="10" name="TextBox 9"/>
          <p:cNvSpPr txBox="1"/>
          <p:nvPr/>
        </p:nvSpPr>
        <p:spPr>
          <a:xfrm>
            <a:off x="3474720" y="1938528"/>
            <a:ext cx="2386584" cy="3566160"/>
          </a:xfrm>
          <a:prstGeom prst="rect">
            <a:avLst/>
          </a:prstGeom>
          <a:noFill/>
        </p:spPr>
        <p:txBody>
          <a:bodyPr wrap="square">
            <a:spAutoFit/>
          </a:bodyPr>
          <a:lstStyle/>
          <a:p>
            <a:pPr>
              <a:defRPr sz="1250" b="1">
                <a:solidFill>
                  <a:srgbClr val="580B13"/>
                </a:solidFill>
              </a:defRPr>
            </a:pPr>
            <a:r>
              <a:t>Gudang Kampus</a:t>
            </a:r>
          </a:p>
          <a:p>
            <a:pPr>
              <a:defRPr sz="1050">
                <a:solidFill>
                  <a:srgbClr val="1E293B"/>
                </a:solidFill>
              </a:defRPr>
            </a:pPr>
            <a:r>
              <a:t>Penerimaan stok (StockReceive), penomoran batch FIFO, dan transfer barang ke posko loket.</a:t>
            </a:r>
            <a:br/>
            <a:br/>
            <a:r>
              <a:t>Titik Barang &amp; Info: Generate StockMovement dan batch tertua.</a:t>
            </a:r>
          </a:p>
        </p:txBody>
      </p:sp>
      <p:sp>
        <p:nvSpPr>
          <p:cNvPr id="11" name="Rectangle 10"/>
          <p:cNvSpPr/>
          <p:nvPr/>
        </p:nvSpPr>
        <p:spPr>
          <a:xfrm>
            <a:off x="6181344" y="1554480"/>
            <a:ext cx="2606040" cy="4023360"/>
          </a:xfrm>
          <a:prstGeom prst="rect">
            <a:avLst/>
          </a:prstGeom>
          <a:solidFill>
            <a:srgbClr val="FFFFFF"/>
          </a:solidFill>
          <a:ln w="19050">
            <a:solidFill>
              <a:srgbClr val="6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81344" y="1554480"/>
            <a:ext cx="2606040" cy="347472"/>
          </a:xfrm>
          <a:prstGeom prst="rect">
            <a:avLst/>
          </a:prstGeom>
          <a:solidFill>
            <a:srgbClr val="580B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D166"/>
                </a:solidFill>
              </a:defRPr>
            </a:pPr>
            <a:r>
              <a:t>03 • KEUANGAN &amp; POSKO</a:t>
            </a:r>
          </a:p>
        </p:txBody>
      </p:sp>
      <p:sp>
        <p:nvSpPr>
          <p:cNvPr id="13" name="TextBox 12"/>
          <p:cNvSpPr txBox="1"/>
          <p:nvPr/>
        </p:nvSpPr>
        <p:spPr>
          <a:xfrm>
            <a:off x="6291072" y="1938528"/>
            <a:ext cx="2386584" cy="3566160"/>
          </a:xfrm>
          <a:prstGeom prst="rect">
            <a:avLst/>
          </a:prstGeom>
          <a:noFill/>
        </p:spPr>
        <p:txBody>
          <a:bodyPr wrap="square">
            <a:spAutoFit/>
          </a:bodyPr>
          <a:lstStyle/>
          <a:p>
            <a:pPr>
              <a:defRPr sz="1250" b="1">
                <a:solidFill>
                  <a:srgbClr val="580B13"/>
                </a:solidFill>
              </a:defRPr>
            </a:pPr>
            <a:r>
              <a:t>Keuangan &amp; Staf Posko</a:t>
            </a:r>
          </a:p>
          <a:p>
            <a:pPr>
              <a:defRPr sz="1050">
                <a:solidFill>
                  <a:srgbClr val="1E293B"/>
                </a:solidFill>
              </a:defRPr>
            </a:pPr>
            <a:r>
              <a:t>Keuangan otorisasi status pelunasan (Eligibility). Posko memindai QR Code dan serah terima seragam fisik.</a:t>
            </a:r>
            <a:br/>
            <a:br/>
            <a:r>
              <a:t>Titik Kritis: Validasi hak dan fitting.</a:t>
            </a:r>
          </a:p>
        </p:txBody>
      </p:sp>
      <p:sp>
        <p:nvSpPr>
          <p:cNvPr id="14" name="Rectangle 13"/>
          <p:cNvSpPr/>
          <p:nvPr/>
        </p:nvSpPr>
        <p:spPr>
          <a:xfrm>
            <a:off x="9006840" y="1554480"/>
            <a:ext cx="2606040" cy="4023360"/>
          </a:xfrm>
          <a:prstGeom prst="rect">
            <a:avLst/>
          </a:prstGeom>
          <a:solidFill>
            <a:srgbClr val="FFFFFF"/>
          </a:solidFill>
          <a:ln w="19050">
            <a:solidFill>
              <a:srgbClr val="6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006840" y="1554480"/>
            <a:ext cx="2606040" cy="347472"/>
          </a:xfrm>
          <a:prstGeom prst="rect">
            <a:avLst/>
          </a:prstGeom>
          <a:solidFill>
            <a:srgbClr val="580B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D166"/>
                </a:solidFill>
              </a:defRPr>
            </a:pPr>
            <a:r>
              <a:t>04 • CUSTOMER (HILIR)</a:t>
            </a:r>
          </a:p>
        </p:txBody>
      </p:sp>
      <p:sp>
        <p:nvSpPr>
          <p:cNvPr id="16" name="TextBox 15"/>
          <p:cNvSpPr txBox="1"/>
          <p:nvPr/>
        </p:nvSpPr>
        <p:spPr>
          <a:xfrm>
            <a:off x="9116567" y="1938528"/>
            <a:ext cx="2386584" cy="3566160"/>
          </a:xfrm>
          <a:prstGeom prst="rect">
            <a:avLst/>
          </a:prstGeom>
          <a:noFill/>
        </p:spPr>
        <p:txBody>
          <a:bodyPr wrap="square">
            <a:spAutoFit/>
          </a:bodyPr>
          <a:lstStyle/>
          <a:p>
            <a:pPr>
              <a:defRPr sz="1250" b="1">
                <a:solidFill>
                  <a:srgbClr val="580B13"/>
                </a:solidFill>
              </a:defRPr>
            </a:pPr>
            <a:r>
              <a:t>Mahasiswa</a:t>
            </a:r>
          </a:p>
          <a:p>
            <a:pPr>
              <a:defRPr sz="1050">
                <a:solidFill>
                  <a:srgbClr val="1E293B"/>
                </a:solidFill>
              </a:defRPr>
            </a:pPr>
            <a:r>
              <a:t>Mengisi profil ukuran mandiri di web, menerima jadwal pembagian, dan klaim fisik via identitas QR Code.</a:t>
            </a:r>
            <a:br/>
            <a:br/>
            <a:r>
              <a:t>Titik Info: Tiket QR Code beresolusi tinggi.</a:t>
            </a:r>
          </a:p>
        </p:txBody>
      </p:sp>
      <p:sp>
        <p:nvSpPr>
          <p:cNvPr id="17" name="Rectangle 16"/>
          <p:cNvSpPr/>
          <p:nvPr/>
        </p:nvSpPr>
        <p:spPr>
          <a:xfrm>
            <a:off x="548640" y="5806440"/>
            <a:ext cx="11064240" cy="685800"/>
          </a:xfrm>
          <a:prstGeom prst="rect">
            <a:avLst/>
          </a:prstGeom>
          <a:solidFill>
            <a:srgbClr val="580B13"/>
          </a:solidFill>
          <a:ln w="1905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Prinsip Inti "Data Mengunci Fisik": Barang fisik pantang diserahkan tanpa otorisasi digital. Scan QR Code memvalidasi kelayakan bayar dan memotong stok FIFO terlama.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48640" y="320040"/>
            <a:ext cx="3291840" cy="320040"/>
          </a:xfrm>
          <a:prstGeom prst="roundRect">
            <a:avLst/>
          </a:prstGeom>
          <a:solidFill>
            <a:srgbClr val="580B13"/>
          </a:solidFill>
          <a:ln>
            <a:solidFill>
              <a:srgbClr val="580B1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D166"/>
                </a:solidFill>
              </a:defRPr>
            </a:pPr>
            <a:r>
              <a:t>SLIDE 3 • PROBLEM ANALYSIS</a:t>
            </a:r>
          </a:p>
        </p:txBody>
      </p:sp>
      <p:sp>
        <p:nvSpPr>
          <p:cNvPr id="3" name="TextBox 2"/>
          <p:cNvSpPr txBox="1"/>
          <p:nvPr/>
        </p:nvSpPr>
        <p:spPr>
          <a:xfrm>
            <a:off x="548640" y="685800"/>
            <a:ext cx="11064240" cy="438912"/>
          </a:xfrm>
          <a:prstGeom prst="rect">
            <a:avLst/>
          </a:prstGeom>
          <a:noFill/>
        </p:spPr>
        <p:txBody>
          <a:bodyPr wrap="square">
            <a:spAutoFit/>
          </a:bodyPr>
          <a:lstStyle/>
          <a:p>
            <a:pPr>
              <a:defRPr sz="1900" b="1">
                <a:solidFill>
                  <a:srgbClr val="580B13"/>
                </a:solidFill>
              </a:defRPr>
            </a:pPr>
            <a:r>
              <a:t>ANALISIS AKAR MASALAH: MENGAPA SISTEM MANUAL GAGAL?</a:t>
            </a:r>
          </a:p>
        </p:txBody>
      </p:sp>
      <p:sp>
        <p:nvSpPr>
          <p:cNvPr id="4" name="TextBox 3"/>
          <p:cNvSpPr txBox="1"/>
          <p:nvPr/>
        </p:nvSpPr>
        <p:spPr>
          <a:xfrm>
            <a:off x="548640" y="1115568"/>
            <a:ext cx="11064240" cy="347472"/>
          </a:xfrm>
          <a:prstGeom prst="rect">
            <a:avLst/>
          </a:prstGeom>
          <a:noFill/>
        </p:spPr>
        <p:txBody>
          <a:bodyPr wrap="square">
            <a:spAutoFit/>
          </a:bodyPr>
          <a:lstStyle/>
          <a:p>
            <a:pPr>
              <a:defRPr sz="1150">
                <a:solidFill>
                  <a:srgbClr val="475569"/>
                </a:solidFill>
              </a:defRPr>
            </a:pPr>
            <a:r>
              <a:t>Tabel terstruktur menganalisis empat akar masalah utama serta dampaknya terhadap biaya, waktu, stok, dan mutu pelayanan.</a:t>
            </a:r>
          </a:p>
        </p:txBody>
      </p:sp>
      <p:graphicFrame>
        <p:nvGraphicFramePr>
          <p:cNvPr id="5" name="Table 4"/>
          <p:cNvGraphicFramePr>
            <a:graphicFrameLocks noGrp="1"/>
          </p:cNvGraphicFramePr>
          <p:nvPr/>
        </p:nvGraphicFramePr>
        <p:xfrm>
          <a:off x="548640" y="1554480"/>
          <a:ext cx="11064240" cy="4023360"/>
        </p:xfrm>
        <a:graphic>
          <a:graphicData uri="http://schemas.openxmlformats.org/drawingml/2006/table">
            <a:tbl>
              <a:tblPr firstRow="1" bandRow="1">
                <a:tableStyleId>{5C22544A-7EE6-4342-B048-85BDC9FD1C3A}</a:tableStyleId>
              </a:tblPr>
              <a:tblGrid>
                <a:gridCol w="2926080"/>
                <a:gridCol w="4023360"/>
                <a:gridCol w="4114800"/>
              </a:tblGrid>
              <a:tr h="804672">
                <a:tc>
                  <a:txBody>
                    <a:bodyPr/>
                    <a:lstStyle/>
                    <a:p>
                      <a:pPr>
                        <a:defRPr b="1" sz="1100">
                          <a:solidFill>
                            <a:srgbClr val="FFD166"/>
                          </a:solidFill>
                        </a:defRPr>
                      </a:pPr>
                      <a:r>
                        <a:t>Masalah Utama (Gejala)</a:t>
                      </a:r>
                    </a:p>
                  </a:txBody>
                  <a:tcPr>
                    <a:solidFill>
                      <a:srgbClr val="580B13"/>
                    </a:solidFill>
                  </a:tcPr>
                </a:tc>
                <a:tc>
                  <a:txBody>
                    <a:bodyPr/>
                    <a:lstStyle/>
                    <a:p>
                      <a:pPr>
                        <a:defRPr b="1" sz="1100">
                          <a:solidFill>
                            <a:srgbClr val="FFD166"/>
                          </a:solidFill>
                        </a:defRPr>
                      </a:pPr>
                      <a:r>
                        <a:t>Analisis Akar Penyebab (Root Cause)</a:t>
                      </a:r>
                    </a:p>
                  </a:txBody>
                  <a:tcPr>
                    <a:solidFill>
                      <a:srgbClr val="580B13"/>
                    </a:solidFill>
                  </a:tcPr>
                </a:tc>
                <a:tc>
                  <a:txBody>
                    <a:bodyPr/>
                    <a:lstStyle/>
                    <a:p>
                      <a:pPr>
                        <a:defRPr b="1" sz="1100">
                          <a:solidFill>
                            <a:srgbClr val="FFD166"/>
                          </a:solidFill>
                        </a:defRPr>
                      </a:pPr>
                      <a:r>
                        <a:t>Dampak terhadap Biaya, Waktu, Stok &amp; Pelayanan</a:t>
                      </a:r>
                    </a:p>
                  </a:txBody>
                  <a:tcPr>
                    <a:solidFill>
                      <a:srgbClr val="580B13"/>
                    </a:solidFill>
                  </a:tcPr>
                </a:tc>
              </a:tr>
              <a:tr h="804672">
                <a:tc>
                  <a:txBody>
                    <a:bodyPr/>
                    <a:lstStyle/>
                    <a:p>
                      <a:pPr>
                        <a:defRPr sz="950" b="1">
                          <a:solidFill>
                            <a:srgbClr val="580B13"/>
                          </a:solidFill>
                        </a:defRPr>
                      </a:pPr>
                      <a:r>
                        <a:t>1. Ketidakcocokan Ukuran &amp; Dead-Stock</a:t>
                      </a:r>
                    </a:p>
                  </a:txBody>
                  <a:tcPr>
                    <a:solidFill>
                      <a:srgbClr val="FFFFFF"/>
                    </a:solidFill>
                  </a:tcPr>
                </a:tc>
                <a:tc>
                  <a:txBody>
                    <a:bodyPr/>
                    <a:lstStyle/>
                    <a:p>
                      <a:pPr>
                        <a:defRPr sz="950">
                          <a:solidFill>
                            <a:srgbClr val="1E293B"/>
                          </a:solidFill>
                        </a:defRPr>
                      </a:pPr>
                      <a:r>
                        <a:t>Pemesanan ke pabrik hanya estimasi historis tanpa survey ukuran mandiri mahasiswa sebelum tender.</a:t>
                      </a:r>
                    </a:p>
                  </a:txBody>
                  <a:tcPr>
                    <a:solidFill>
                      <a:srgbClr val="FFFFFF"/>
                    </a:solidFill>
                  </a:tcPr>
                </a:tc>
                <a:tc>
                  <a:txBody>
                    <a:bodyPr/>
                    <a:lstStyle/>
                    <a:p>
                      <a:pPr>
                        <a:defRPr sz="950">
                          <a:solidFill>
                            <a:srgbClr val="1E293B"/>
                          </a:solidFill>
                        </a:defRPr>
                      </a:pPr>
                      <a:r>
                        <a:t>Ukuran populer (M/L) ludes hari pertama, ukuran ekstrem menumpuk bertahun-tahun. Modal kampus mengendap jadi dead-stock.</a:t>
                      </a:r>
                    </a:p>
                  </a:txBody>
                  <a:tcPr>
                    <a:solidFill>
                      <a:srgbClr val="FFFFFF"/>
                    </a:solidFill>
                  </a:tcPr>
                </a:tc>
              </a:tr>
              <a:tr h="804672">
                <a:tc>
                  <a:txBody>
                    <a:bodyPr/>
                    <a:lstStyle/>
                    <a:p>
                      <a:pPr>
                        <a:defRPr sz="950" b="1">
                          <a:solidFill>
                            <a:srgbClr val="580B13"/>
                          </a:solidFill>
                        </a:defRPr>
                      </a:pPr>
                      <a:r>
                        <a:t>2. Excel Crash &amp; Broadcast Lambat</a:t>
                      </a:r>
                    </a:p>
                  </a:txBody>
                  <a:tcPr>
                    <a:solidFill>
                      <a:srgbClr val="FDF4F5"/>
                    </a:solidFill>
                  </a:tcPr>
                </a:tc>
                <a:tc>
                  <a:txBody>
                    <a:bodyPr/>
                    <a:lstStyle/>
                    <a:p>
                      <a:pPr>
                        <a:defRPr sz="950">
                          <a:solidFill>
                            <a:srgbClr val="1E293B"/>
                          </a:solidFill>
                        </a:defRPr>
                      </a:pPr>
                      <a:r>
                        <a:t>Menggunakan spreadsheet Excel induk (~4.5 MB) dan broadcast jadwal dikirim manual per email.</a:t>
                      </a:r>
                    </a:p>
                  </a:txBody>
                  <a:tcPr>
                    <a:solidFill>
                      <a:srgbClr val="FDF4F5"/>
                    </a:solidFill>
                  </a:tcPr>
                </a:tc>
                <a:tc>
                  <a:txBody>
                    <a:bodyPr/>
                    <a:lstStyle/>
                    <a:p>
                      <a:pPr>
                        <a:defRPr sz="950">
                          <a:solidFill>
                            <a:srgbClr val="1E293B"/>
                          </a:solidFill>
                        </a:defRPr>
                      </a:pPr>
                      <a:r>
                        <a:t>Aplikasi sering not responding, rekap data berminggu-minggu, mahasiswa terlambat mengetahui sesi pengambilan.</a:t>
                      </a:r>
                    </a:p>
                  </a:txBody>
                  <a:tcPr>
                    <a:solidFill>
                      <a:srgbClr val="FDF4F5"/>
                    </a:solidFill>
                  </a:tcPr>
                </a:tc>
              </a:tr>
              <a:tr h="804672">
                <a:tc>
                  <a:txBody>
                    <a:bodyPr/>
                    <a:lstStyle/>
                    <a:p>
                      <a:pPr>
                        <a:defRPr sz="950" b="1">
                          <a:solidFill>
                            <a:srgbClr val="580B13"/>
                          </a:solidFill>
                        </a:defRPr>
                      </a:pPr>
                      <a:r>
                        <a:t>3. Bottleneck Loket &amp; Double-Claim</a:t>
                      </a:r>
                    </a:p>
                  </a:txBody>
                  <a:tcPr>
                    <a:solidFill>
                      <a:srgbClr val="FFFFFF"/>
                    </a:solidFill>
                  </a:tcPr>
                </a:tc>
                <a:tc>
                  <a:txBody>
                    <a:bodyPr/>
                    <a:lstStyle/>
                    <a:p>
                      <a:pPr>
                        <a:defRPr sz="950">
                          <a:solidFill>
                            <a:srgbClr val="1E293B"/>
                          </a:solidFill>
                        </a:defRPr>
                      </a:pPr>
                      <a:r>
                        <a:t>Validasi lunas dan checklist serah terima masih menggunakan formulir kertas manual.</a:t>
                      </a:r>
                    </a:p>
                  </a:txBody>
                  <a:tcPr>
                    <a:solidFill>
                      <a:srgbClr val="FFFFFF"/>
                    </a:solidFill>
                  </a:tcPr>
                </a:tc>
                <a:tc>
                  <a:txBody>
                    <a:bodyPr/>
                    <a:lstStyle/>
                    <a:p>
                      <a:pPr>
                        <a:defRPr sz="950">
                          <a:solidFill>
                            <a:srgbClr val="1E293B"/>
                          </a:solidFill>
                        </a:defRPr>
                      </a:pPr>
                      <a:r>
                        <a:t>Waktu layan sangat lambat (15-20 menit/orang), antrean berjam-jam, serta rawan klaim ganda di loket/hari berbeda.</a:t>
                      </a:r>
                    </a:p>
                  </a:txBody>
                  <a:tcPr>
                    <a:solidFill>
                      <a:srgbClr val="FFFFFF"/>
                    </a:solidFill>
                  </a:tcPr>
                </a:tc>
              </a:tr>
              <a:tr h="804672">
                <a:tc>
                  <a:txBody>
                    <a:bodyPr/>
                    <a:lstStyle/>
                    <a:p>
                      <a:pPr>
                        <a:defRPr sz="950" b="1">
                          <a:solidFill>
                            <a:srgbClr val="580B13"/>
                          </a:solidFill>
                        </a:defRPr>
                      </a:pPr>
                      <a:r>
                        <a:t>4. Susut Stok Liar &amp; HPP Buram</a:t>
                      </a:r>
                    </a:p>
                  </a:txBody>
                  <a:tcPr>
                    <a:solidFill>
                      <a:srgbClr val="FDF4F5"/>
                    </a:solidFill>
                  </a:tcPr>
                </a:tc>
                <a:tc>
                  <a:txBody>
                    <a:bodyPr/>
                    <a:lstStyle/>
                    <a:p>
                      <a:pPr>
                        <a:defRPr sz="950">
                          <a:solidFill>
                            <a:srgbClr val="1E293B"/>
                          </a:solidFill>
                        </a:defRPr>
                      </a:pPr>
                      <a:r>
                        <a:t>Penerimaan barang berbeda harga tidak dicatat per batch FIFO dan tanpa kartu stok otomatis.</a:t>
                      </a:r>
                    </a:p>
                  </a:txBody>
                  <a:tcPr>
                    <a:solidFill>
                      <a:srgbClr val="FDF4F5"/>
                    </a:solidFill>
                  </a:tcPr>
                </a:tc>
                <a:tc>
                  <a:txBody>
                    <a:bodyPr/>
                    <a:lstStyle/>
                    <a:p>
                      <a:pPr>
                        <a:defRPr sz="950">
                          <a:solidFill>
                            <a:srgbClr val="1E293B"/>
                          </a:solidFill>
                        </a:defRPr>
                      </a:pPr>
                      <a:r>
                        <a:t>Selisih barang hilang tidak terlacak penanggungjawabnya, valuasi HPP dan laba kotor (GPM) terdistorsi.</a:t>
                      </a:r>
                    </a:p>
                  </a:txBody>
                  <a:tcPr>
                    <a:solidFill>
                      <a:srgbClr val="FDF4F5"/>
                    </a:solidFill>
                  </a:tcPr>
                </a:tc>
              </a:tr>
            </a:tbl>
          </a:graphicData>
        </a:graphic>
      </p:graphicFrame>
      <p:sp>
        <p:nvSpPr>
          <p:cNvPr id="6" name="Rectangle 5"/>
          <p:cNvSpPr/>
          <p:nvPr/>
        </p:nvSpPr>
        <p:spPr>
          <a:xfrm>
            <a:off x="548640" y="5806440"/>
            <a:ext cx="11064240" cy="685800"/>
          </a:xfrm>
          <a:prstGeom prst="rect">
            <a:avLst/>
          </a:prstGeom>
          <a:solidFill>
            <a:srgbClr val="580B13"/>
          </a:solidFill>
          <a:ln w="1905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Akar Kegagalan Sistemik: Ketiadaan Single Source of Truth menyebabkan data silo, inefisiensi hulu-hilir, dan membahayakan akuntabilitas keuangan.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48640" y="320040"/>
            <a:ext cx="3291840" cy="320040"/>
          </a:xfrm>
          <a:prstGeom prst="roundRect">
            <a:avLst/>
          </a:prstGeom>
          <a:solidFill>
            <a:srgbClr val="580B13"/>
          </a:solidFill>
          <a:ln>
            <a:solidFill>
              <a:srgbClr val="580B1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D166"/>
                </a:solidFill>
              </a:defRPr>
            </a:pPr>
            <a:r>
              <a:t>SLIDE 4 • INFORMATION FLOW ANALYSIS</a:t>
            </a:r>
          </a:p>
        </p:txBody>
      </p:sp>
      <p:sp>
        <p:nvSpPr>
          <p:cNvPr id="3" name="TextBox 2"/>
          <p:cNvSpPr txBox="1"/>
          <p:nvPr/>
        </p:nvSpPr>
        <p:spPr>
          <a:xfrm>
            <a:off x="548640" y="685800"/>
            <a:ext cx="11064240" cy="438912"/>
          </a:xfrm>
          <a:prstGeom prst="rect">
            <a:avLst/>
          </a:prstGeom>
          <a:noFill/>
        </p:spPr>
        <p:txBody>
          <a:bodyPr wrap="square">
            <a:spAutoFit/>
          </a:bodyPr>
          <a:lstStyle/>
          <a:p>
            <a:pPr>
              <a:defRPr sz="1900" b="1">
                <a:solidFill>
                  <a:srgbClr val="580B13"/>
                </a:solidFill>
              </a:defRPr>
            </a:pPr>
            <a:r>
              <a:t>DIAGRAM ALIRAN INFORMASI &amp; TITIK KEMACETAN (AS-IS STATE)</a:t>
            </a:r>
          </a:p>
        </p:txBody>
      </p:sp>
      <p:sp>
        <p:nvSpPr>
          <p:cNvPr id="4" name="TextBox 3"/>
          <p:cNvSpPr txBox="1"/>
          <p:nvPr/>
        </p:nvSpPr>
        <p:spPr>
          <a:xfrm>
            <a:off x="548640" y="1115568"/>
            <a:ext cx="11064240" cy="347472"/>
          </a:xfrm>
          <a:prstGeom prst="rect">
            <a:avLst/>
          </a:prstGeom>
          <a:noFill/>
        </p:spPr>
        <p:txBody>
          <a:bodyPr wrap="square">
            <a:spAutoFit/>
          </a:bodyPr>
          <a:lstStyle/>
          <a:p>
            <a:pPr>
              <a:defRPr sz="1150">
                <a:solidFill>
                  <a:srgbClr val="475569"/>
                </a:solidFill>
              </a:defRPr>
            </a:pPr>
            <a:r>
              <a:t>Identifikasi informasi kebutuhan stakeholder, asal-tujuan data, dan titik kritis informasi terlambat/terputus.</a:t>
            </a:r>
          </a:p>
        </p:txBody>
      </p:sp>
      <p:sp>
        <p:nvSpPr>
          <p:cNvPr id="5" name="Rectangle 4"/>
          <p:cNvSpPr/>
          <p:nvPr/>
        </p:nvSpPr>
        <p:spPr>
          <a:xfrm>
            <a:off x="548640" y="1554480"/>
            <a:ext cx="5349240" cy="1920240"/>
          </a:xfrm>
          <a:prstGeom prst="rect">
            <a:avLst/>
          </a:prstGeom>
          <a:solidFill>
            <a:srgbClr val="FFFFFF"/>
          </a:solidFill>
          <a:ln w="19050">
            <a:solidFill>
              <a:srgbClr val="6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5349240" cy="347472"/>
          </a:xfrm>
          <a:prstGeom prst="rect">
            <a:avLst/>
          </a:prstGeom>
          <a:solidFill>
            <a:srgbClr val="580B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D166"/>
                </a:solidFill>
              </a:defRPr>
            </a:pPr>
            <a:r>
              <a:t>ALIRAN 01 • MAHASISWA ➔ KEUANGAN</a:t>
            </a:r>
          </a:p>
        </p:txBody>
      </p:sp>
      <p:sp>
        <p:nvSpPr>
          <p:cNvPr id="7" name="TextBox 6"/>
          <p:cNvSpPr txBox="1"/>
          <p:nvPr/>
        </p:nvSpPr>
        <p:spPr>
          <a:xfrm>
            <a:off x="658368" y="1938528"/>
            <a:ext cx="5129783" cy="1463040"/>
          </a:xfrm>
          <a:prstGeom prst="rect">
            <a:avLst/>
          </a:prstGeom>
          <a:noFill/>
        </p:spPr>
        <p:txBody>
          <a:bodyPr wrap="square">
            <a:spAutoFit/>
          </a:bodyPr>
          <a:lstStyle/>
          <a:p>
            <a:pPr>
              <a:defRPr sz="1250" b="1">
                <a:solidFill>
                  <a:srgbClr val="580B13"/>
                </a:solidFill>
              </a:defRPr>
            </a:pPr>
            <a:r>
              <a:t>Kebutuhan: Profil Ukuran &amp; Jadwal</a:t>
            </a:r>
          </a:p>
          <a:p>
            <a:pPr>
              <a:defRPr sz="1050">
                <a:solidFill>
                  <a:srgbClr val="1E293B"/>
                </a:solidFill>
              </a:defRPr>
            </a:pPr>
            <a:r>
              <a:t>Asal &amp; Tujuan: Mahasiswa mengisi form ke kampus dan menerima jadwal via email.</a:t>
            </a:r>
            <a:br/>
            <a:r>
              <a:t>Titik Masalah: Form tidak terstandarisasi, input ganda, dan jadwal terlambat.</a:t>
            </a:r>
          </a:p>
        </p:txBody>
      </p:sp>
      <p:sp>
        <p:nvSpPr>
          <p:cNvPr id="8" name="Rectangle 7"/>
          <p:cNvSpPr/>
          <p:nvPr/>
        </p:nvSpPr>
        <p:spPr>
          <a:xfrm>
            <a:off x="6263640" y="1554480"/>
            <a:ext cx="5349240" cy="1920240"/>
          </a:xfrm>
          <a:prstGeom prst="rect">
            <a:avLst/>
          </a:prstGeom>
          <a:solidFill>
            <a:srgbClr val="FFFFFF"/>
          </a:solidFill>
          <a:ln w="19050">
            <a:solidFill>
              <a:srgbClr val="6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63640" y="1554480"/>
            <a:ext cx="5349240" cy="347472"/>
          </a:xfrm>
          <a:prstGeom prst="rect">
            <a:avLst/>
          </a:prstGeom>
          <a:solidFill>
            <a:srgbClr val="580B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D166"/>
                </a:solidFill>
              </a:defRPr>
            </a:pPr>
            <a:r>
              <a:t>ALIRAN 02 • KEUANGAN ➔ POSKO HARI-H</a:t>
            </a:r>
          </a:p>
        </p:txBody>
      </p:sp>
      <p:sp>
        <p:nvSpPr>
          <p:cNvPr id="10" name="TextBox 9"/>
          <p:cNvSpPr txBox="1"/>
          <p:nvPr/>
        </p:nvSpPr>
        <p:spPr>
          <a:xfrm>
            <a:off x="6373368" y="1938528"/>
            <a:ext cx="5129783" cy="1463040"/>
          </a:xfrm>
          <a:prstGeom prst="rect">
            <a:avLst/>
          </a:prstGeom>
          <a:noFill/>
        </p:spPr>
        <p:txBody>
          <a:bodyPr wrap="square">
            <a:spAutoFit/>
          </a:bodyPr>
          <a:lstStyle/>
          <a:p>
            <a:pPr>
              <a:defRPr sz="1250" b="1">
                <a:solidFill>
                  <a:srgbClr val="580B13"/>
                </a:solidFill>
              </a:defRPr>
            </a:pPr>
            <a:r>
              <a:t>Kebutuhan: Status Lunas (Eligibility)</a:t>
            </a:r>
          </a:p>
          <a:p>
            <a:pPr>
              <a:defRPr sz="1050">
                <a:solidFill>
                  <a:srgbClr val="1E293B"/>
                </a:solidFill>
              </a:defRPr>
            </a:pPr>
            <a:r>
              <a:t>Asal &amp; Tujuan: Keuangan mengekspor status bayar mahasiswa ke posko.</a:t>
            </a:r>
            <a:br/>
            <a:r>
              <a:t>Titik Masalah: Data terisolasi di Excel lokal, posko tidak terupdate jika ada pelunasan baru.</a:t>
            </a:r>
          </a:p>
        </p:txBody>
      </p:sp>
      <p:sp>
        <p:nvSpPr>
          <p:cNvPr id="11" name="Rectangle 10"/>
          <p:cNvSpPr/>
          <p:nvPr/>
        </p:nvSpPr>
        <p:spPr>
          <a:xfrm>
            <a:off x="548640" y="3657600"/>
            <a:ext cx="5349240" cy="1920240"/>
          </a:xfrm>
          <a:prstGeom prst="rect">
            <a:avLst/>
          </a:prstGeom>
          <a:solidFill>
            <a:srgbClr val="FFFFFF"/>
          </a:solidFill>
          <a:ln w="19050">
            <a:solidFill>
              <a:srgbClr val="6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657600"/>
            <a:ext cx="5349240" cy="347472"/>
          </a:xfrm>
          <a:prstGeom prst="rect">
            <a:avLst/>
          </a:prstGeom>
          <a:solidFill>
            <a:srgbClr val="580B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D166"/>
                </a:solidFill>
              </a:defRPr>
            </a:pPr>
            <a:r>
              <a:t>ALIRAN 03 • POSKO ➔ GUDANG &amp; SISWA</a:t>
            </a:r>
          </a:p>
        </p:txBody>
      </p:sp>
      <p:sp>
        <p:nvSpPr>
          <p:cNvPr id="13" name="TextBox 12"/>
          <p:cNvSpPr txBox="1"/>
          <p:nvPr/>
        </p:nvSpPr>
        <p:spPr>
          <a:xfrm>
            <a:off x="658368" y="4041648"/>
            <a:ext cx="5129783" cy="1463040"/>
          </a:xfrm>
          <a:prstGeom prst="rect">
            <a:avLst/>
          </a:prstGeom>
          <a:noFill/>
        </p:spPr>
        <p:txBody>
          <a:bodyPr wrap="square">
            <a:spAutoFit/>
          </a:bodyPr>
          <a:lstStyle/>
          <a:p>
            <a:pPr>
              <a:defRPr sz="1250" b="1">
                <a:solidFill>
                  <a:srgbClr val="580B13"/>
                </a:solidFill>
              </a:defRPr>
            </a:pPr>
            <a:r>
              <a:t>Kebutuhan: Kuota Hak &amp; Kartu Stok</a:t>
            </a:r>
          </a:p>
          <a:p>
            <a:pPr>
              <a:defRPr sz="1050">
                <a:solidFill>
                  <a:srgbClr val="1E293B"/>
                </a:solidFill>
              </a:defRPr>
            </a:pPr>
            <a:r>
              <a:t>Asal &amp; Tujuan: Posko verifikasi hak paket prodi dan mencatat mutasi stok.</a:t>
            </a:r>
            <a:br/>
            <a:r>
              <a:t>Titik Masalah: Serah terima dicatat di kertas, mutasi stok terlambat direkap, picu stock shrinkage.</a:t>
            </a:r>
          </a:p>
        </p:txBody>
      </p:sp>
      <p:sp>
        <p:nvSpPr>
          <p:cNvPr id="14" name="Rectangle 13"/>
          <p:cNvSpPr/>
          <p:nvPr/>
        </p:nvSpPr>
        <p:spPr>
          <a:xfrm>
            <a:off x="6263640" y="3657600"/>
            <a:ext cx="5349240" cy="1920240"/>
          </a:xfrm>
          <a:prstGeom prst="rect">
            <a:avLst/>
          </a:prstGeom>
          <a:solidFill>
            <a:srgbClr val="FFFFFF"/>
          </a:solidFill>
          <a:ln w="19050">
            <a:solidFill>
              <a:srgbClr val="6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3657600"/>
            <a:ext cx="5349240" cy="347472"/>
          </a:xfrm>
          <a:prstGeom prst="rect">
            <a:avLst/>
          </a:prstGeom>
          <a:solidFill>
            <a:srgbClr val="580B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D166"/>
                </a:solidFill>
              </a:defRPr>
            </a:pPr>
            <a:r>
              <a:t>ALIRAN 04 • GUDANG ➔ VENDOR PABRIK</a:t>
            </a:r>
          </a:p>
        </p:txBody>
      </p:sp>
      <p:sp>
        <p:nvSpPr>
          <p:cNvPr id="16" name="TextBox 15"/>
          <p:cNvSpPr txBox="1"/>
          <p:nvPr/>
        </p:nvSpPr>
        <p:spPr>
          <a:xfrm>
            <a:off x="6373368" y="4041648"/>
            <a:ext cx="5129783" cy="1463040"/>
          </a:xfrm>
          <a:prstGeom prst="rect">
            <a:avLst/>
          </a:prstGeom>
          <a:noFill/>
        </p:spPr>
        <p:txBody>
          <a:bodyPr wrap="square">
            <a:spAutoFit/>
          </a:bodyPr>
          <a:lstStyle/>
          <a:p>
            <a:pPr>
              <a:defRPr sz="1250" b="1">
                <a:solidFill>
                  <a:srgbClr val="580B13"/>
                </a:solidFill>
              </a:defRPr>
            </a:pPr>
            <a:r>
              <a:t>Kebutuhan: Purchase Order Agregat</a:t>
            </a:r>
          </a:p>
          <a:p>
            <a:pPr>
              <a:defRPr sz="1050">
                <a:solidFill>
                  <a:srgbClr val="1E293B"/>
                </a:solidFill>
              </a:defRPr>
            </a:pPr>
            <a:r>
              <a:t>Asal &amp; Tujuan: Pengadaan mengirim jumlah seragam/sepatu ke vendor pabrik.</a:t>
            </a:r>
            <a:br/>
            <a:r>
              <a:t>Titik Masalah: PO hanya estimasi kasar tanpa dasar profil data riil maba.</a:t>
            </a:r>
          </a:p>
        </p:txBody>
      </p:sp>
      <p:sp>
        <p:nvSpPr>
          <p:cNvPr id="17" name="Rectangle 16"/>
          <p:cNvSpPr/>
          <p:nvPr/>
        </p:nvSpPr>
        <p:spPr>
          <a:xfrm>
            <a:off x="548640" y="5806440"/>
            <a:ext cx="11064240" cy="685800"/>
          </a:xfrm>
          <a:prstGeom prst="rect">
            <a:avLst/>
          </a:prstGeom>
          <a:solidFill>
            <a:srgbClr val="580B13"/>
          </a:solidFill>
          <a:ln w="1905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Diagnosa Kunci: Terjadi Information Latency dan Data Asymmetry akut yang menuntut platform web tunggal real-time.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48640" y="320040"/>
            <a:ext cx="3291840" cy="320040"/>
          </a:xfrm>
          <a:prstGeom prst="roundRect">
            <a:avLst/>
          </a:prstGeom>
          <a:solidFill>
            <a:srgbClr val="580B13"/>
          </a:solidFill>
          <a:ln>
            <a:solidFill>
              <a:srgbClr val="580B1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D166"/>
                </a:solidFill>
              </a:defRPr>
            </a:pPr>
            <a:r>
              <a:t>SLIDE 5 • RECOMMENDED INFORMATION SYSTEMS</a:t>
            </a:r>
          </a:p>
        </p:txBody>
      </p:sp>
      <p:sp>
        <p:nvSpPr>
          <p:cNvPr id="3" name="TextBox 2"/>
          <p:cNvSpPr txBox="1"/>
          <p:nvPr/>
        </p:nvSpPr>
        <p:spPr>
          <a:xfrm>
            <a:off x="548640" y="685800"/>
            <a:ext cx="11064240" cy="438912"/>
          </a:xfrm>
          <a:prstGeom prst="rect">
            <a:avLst/>
          </a:prstGeom>
          <a:noFill/>
        </p:spPr>
        <p:txBody>
          <a:bodyPr wrap="square">
            <a:spAutoFit/>
          </a:bodyPr>
          <a:lstStyle/>
          <a:p>
            <a:pPr>
              <a:defRPr sz="1900" b="1">
                <a:solidFill>
                  <a:srgbClr val="580B13"/>
                </a:solidFill>
              </a:defRPr>
            </a:pPr>
            <a:r>
              <a:t>REKOMENDASI SISTEM INFORMASI: ARSITEKTUR HORIZONU UNIFORM</a:t>
            </a:r>
          </a:p>
        </p:txBody>
      </p:sp>
      <p:sp>
        <p:nvSpPr>
          <p:cNvPr id="4" name="TextBox 3"/>
          <p:cNvSpPr txBox="1"/>
          <p:nvPr/>
        </p:nvSpPr>
        <p:spPr>
          <a:xfrm>
            <a:off x="548640" y="1115568"/>
            <a:ext cx="11064240" cy="347472"/>
          </a:xfrm>
          <a:prstGeom prst="rect">
            <a:avLst/>
          </a:prstGeom>
          <a:noFill/>
        </p:spPr>
        <p:txBody>
          <a:bodyPr wrap="square">
            <a:spAutoFit/>
          </a:bodyPr>
          <a:lstStyle/>
          <a:p>
            <a:pPr>
              <a:defRPr sz="1150">
                <a:solidFill>
                  <a:srgbClr val="475569"/>
                </a:solidFill>
              </a:defRPr>
            </a:pPr>
            <a:r>
              <a:t>Pemilihan sistem spesifik (ERP, SCM, POS, WMS), justifikasi pemilihan, fungsi, dan manfaatnya.</a:t>
            </a:r>
          </a:p>
        </p:txBody>
      </p:sp>
      <p:graphicFrame>
        <p:nvGraphicFramePr>
          <p:cNvPr id="5" name="Table 4"/>
          <p:cNvGraphicFramePr>
            <a:graphicFrameLocks noGrp="1"/>
          </p:cNvGraphicFramePr>
          <p:nvPr/>
        </p:nvGraphicFramePr>
        <p:xfrm>
          <a:off x="548640" y="1554480"/>
          <a:ext cx="11064240" cy="4023360"/>
        </p:xfrm>
        <a:graphic>
          <a:graphicData uri="http://schemas.openxmlformats.org/drawingml/2006/table">
            <a:tbl>
              <a:tblPr firstRow="1" bandRow="1">
                <a:tableStyleId>{5C22544A-7EE6-4342-B048-85BDC9FD1C3A}</a:tableStyleId>
              </a:tblPr>
              <a:tblGrid>
                <a:gridCol w="2286000"/>
                <a:gridCol w="2743200"/>
                <a:gridCol w="3840480"/>
                <a:gridCol w="2194560"/>
              </a:tblGrid>
              <a:tr h="804672">
                <a:tc>
                  <a:txBody>
                    <a:bodyPr/>
                    <a:lstStyle/>
                    <a:p>
                      <a:pPr>
                        <a:defRPr b="1" sz="1100">
                          <a:solidFill>
                            <a:srgbClr val="FFD166"/>
                          </a:solidFill>
                        </a:defRPr>
                      </a:pPr>
                      <a:r>
                        <a:t>Masalah Diselesaikan</a:t>
                      </a:r>
                    </a:p>
                  </a:txBody>
                  <a:tcPr>
                    <a:solidFill>
                      <a:srgbClr val="580B13"/>
                    </a:solidFill>
                  </a:tcPr>
                </a:tc>
                <a:tc>
                  <a:txBody>
                    <a:bodyPr/>
                    <a:lstStyle/>
                    <a:p>
                      <a:pPr>
                        <a:defRPr b="1" sz="1100">
                          <a:solidFill>
                            <a:srgbClr val="FFD166"/>
                          </a:solidFill>
                        </a:defRPr>
                      </a:pPr>
                      <a:r>
                        <a:t>Sistem &amp; Modul Terpilih</a:t>
                      </a:r>
                    </a:p>
                  </a:txBody>
                  <a:tcPr>
                    <a:solidFill>
                      <a:srgbClr val="580B13"/>
                    </a:solidFill>
                  </a:tcPr>
                </a:tc>
                <a:tc>
                  <a:txBody>
                    <a:bodyPr/>
                    <a:lstStyle/>
                    <a:p>
                      <a:pPr>
                        <a:defRPr b="1" sz="1100">
                          <a:solidFill>
                            <a:srgbClr val="FFD166"/>
                          </a:solidFill>
                        </a:defRPr>
                      </a:pPr>
                      <a:r>
                        <a:t>Fungsi Sistem dalam Kasus</a:t>
                      </a:r>
                    </a:p>
                  </a:txBody>
                  <a:tcPr>
                    <a:solidFill>
                      <a:srgbClr val="580B13"/>
                    </a:solidFill>
                  </a:tcPr>
                </a:tc>
                <a:tc>
                  <a:txBody>
                    <a:bodyPr/>
                    <a:lstStyle/>
                    <a:p>
                      <a:pPr>
                        <a:defRPr b="1" sz="1100">
                          <a:solidFill>
                            <a:srgbClr val="FFD166"/>
                          </a:solidFill>
                        </a:defRPr>
                      </a:pPr>
                      <a:r>
                        <a:t>Manfaat Terukur</a:t>
                      </a:r>
                    </a:p>
                  </a:txBody>
                  <a:tcPr>
                    <a:solidFill>
                      <a:srgbClr val="580B13"/>
                    </a:solidFill>
                  </a:tcPr>
                </a:tc>
              </a:tr>
              <a:tr h="804672">
                <a:tc>
                  <a:txBody>
                    <a:bodyPr/>
                    <a:lstStyle/>
                    <a:p>
                      <a:pPr>
                        <a:defRPr sz="950" b="1">
                          <a:solidFill>
                            <a:srgbClr val="580B13"/>
                          </a:solidFill>
                        </a:defRPr>
                      </a:pPr>
                      <a:r>
                        <a:t>Excel Crash &amp; Data Terpecah</a:t>
                      </a:r>
                    </a:p>
                  </a:txBody>
                  <a:tcPr>
                    <a:solidFill>
                      <a:srgbClr val="FFFFFF"/>
                    </a:solidFill>
                  </a:tcPr>
                </a:tc>
                <a:tc>
                  <a:txBody>
                    <a:bodyPr/>
                    <a:lstStyle/>
                    <a:p>
                      <a:pPr>
                        <a:defRPr sz="950">
                          <a:solidFill>
                            <a:srgbClr val="1E293B"/>
                          </a:solidFill>
                        </a:defRPr>
                      </a:pPr>
                      <a:r>
                        <a:t>ERP Master &amp; Entitlement Engine</a:t>
                      </a:r>
                    </a:p>
                  </a:txBody>
                  <a:tcPr>
                    <a:solidFill>
                      <a:srgbClr val="FFFFFF"/>
                    </a:solidFill>
                  </a:tcPr>
                </a:tc>
                <a:tc>
                  <a:txBody>
                    <a:bodyPr/>
                    <a:lstStyle/>
                    <a:p>
                      <a:pPr>
                        <a:defRPr sz="950">
                          <a:solidFill>
                            <a:srgbClr val="1E293B"/>
                          </a:solidFill>
                        </a:defRPr>
                      </a:pPr>
                      <a:r>
                        <a:t>Kelola master data mahasiswa, base code SKU, import massal, dan kuota jatah paket seragam prodi.</a:t>
                      </a:r>
                    </a:p>
                  </a:txBody>
                  <a:tcPr>
                    <a:solidFill>
                      <a:srgbClr val="FFFFFF"/>
                    </a:solidFill>
                  </a:tcPr>
                </a:tc>
                <a:tc>
                  <a:txBody>
                    <a:bodyPr/>
                    <a:lstStyle/>
                    <a:p>
                      <a:pPr>
                        <a:defRPr sz="950">
                          <a:solidFill>
                            <a:srgbClr val="1E293B"/>
                          </a:solidFill>
                        </a:defRPr>
                      </a:pPr>
                      <a:r>
                        <a:t>100% bebas crash Excel, data terisolasi ACID.</a:t>
                      </a:r>
                    </a:p>
                  </a:txBody>
                  <a:tcPr>
                    <a:solidFill>
                      <a:srgbClr val="FFFFFF"/>
                    </a:solidFill>
                  </a:tcPr>
                </a:tc>
              </a:tr>
              <a:tr h="804672">
                <a:tc>
                  <a:txBody>
                    <a:bodyPr/>
                    <a:lstStyle/>
                    <a:p>
                      <a:pPr>
                        <a:defRPr sz="950" b="1">
                          <a:solidFill>
                            <a:srgbClr val="580B13"/>
                          </a:solidFill>
                        </a:defRPr>
                      </a:pPr>
                      <a:r>
                        <a:t>Dead-Stock &amp; Info Lambat</a:t>
                      </a:r>
                    </a:p>
                  </a:txBody>
                  <a:tcPr>
                    <a:solidFill>
                      <a:srgbClr val="FDF4F5"/>
                    </a:solidFill>
                  </a:tcPr>
                </a:tc>
                <a:tc>
                  <a:txBody>
                    <a:bodyPr/>
                    <a:lstStyle/>
                    <a:p>
                      <a:pPr>
                        <a:defRPr sz="950">
                          <a:solidFill>
                            <a:srgbClr val="1E293B"/>
                          </a:solidFill>
                        </a:defRPr>
                      </a:pPr>
                      <a:r>
                        <a:t>SCM Demand Planning Portal</a:t>
                      </a:r>
                    </a:p>
                  </a:txBody>
                  <a:tcPr>
                    <a:solidFill>
                      <a:srgbClr val="FDF4F5"/>
                    </a:solidFill>
                  </a:tcPr>
                </a:tc>
                <a:tc>
                  <a:txBody>
                    <a:bodyPr/>
                    <a:lstStyle/>
                    <a:p>
                      <a:pPr>
                        <a:defRPr sz="950">
                          <a:solidFill>
                            <a:srgbClr val="1E293B"/>
                          </a:solidFill>
                        </a:defRPr>
                      </a:pPr>
                      <a:r>
                        <a:t>Portal input ukuran mandiri mahasiswa, siaran jadwal web, serta kalkulasi demand vs shortage otomatis.</a:t>
                      </a:r>
                    </a:p>
                  </a:txBody>
                  <a:tcPr>
                    <a:solidFill>
                      <a:srgbClr val="FDF4F5"/>
                    </a:solidFill>
                  </a:tcPr>
                </a:tc>
                <a:tc>
                  <a:txBody>
                    <a:bodyPr/>
                    <a:lstStyle/>
                    <a:p>
                      <a:pPr>
                        <a:defRPr sz="950">
                          <a:solidFill>
                            <a:srgbClr val="1E293B"/>
                          </a:solidFill>
                        </a:defRPr>
                      </a:pPr>
                      <a:r>
                        <a:t>Zero dead-stock pengadaan pabrik presisi 100%.</a:t>
                      </a:r>
                    </a:p>
                  </a:txBody>
                  <a:tcPr>
                    <a:solidFill>
                      <a:srgbClr val="FDF4F5"/>
                    </a:solidFill>
                  </a:tcPr>
                </a:tc>
              </a:tr>
              <a:tr h="804672">
                <a:tc>
                  <a:txBody>
                    <a:bodyPr/>
                    <a:lstStyle/>
                    <a:p>
                      <a:pPr>
                        <a:defRPr sz="950" b="1">
                          <a:solidFill>
                            <a:srgbClr val="580B13"/>
                          </a:solidFill>
                        </a:defRPr>
                      </a:pPr>
                      <a:r>
                        <a:t>Bottleneck Loket &amp; Double-Claim</a:t>
                      </a:r>
                    </a:p>
                  </a:txBody>
                  <a:tcPr>
                    <a:solidFill>
                      <a:srgbClr val="FFFFFF"/>
                    </a:solidFill>
                  </a:tcPr>
                </a:tc>
                <a:tc>
                  <a:txBody>
                    <a:bodyPr/>
                    <a:lstStyle/>
                    <a:p>
                      <a:pPr>
                        <a:defRPr sz="950">
                          <a:solidFill>
                            <a:srgbClr val="1E293B"/>
                          </a:solidFill>
                        </a:defRPr>
                      </a:pPr>
                      <a:r>
                        <a:t>POS QR Verification Engine</a:t>
                      </a:r>
                    </a:p>
                  </a:txBody>
                  <a:tcPr>
                    <a:solidFill>
                      <a:srgbClr val="FFFFFF"/>
                    </a:solidFill>
                  </a:tcPr>
                </a:tc>
                <a:tc>
                  <a:txBody>
                    <a:bodyPr/>
                    <a:lstStyle/>
                    <a:p>
                      <a:pPr>
                        <a:defRPr sz="950">
                          <a:solidFill>
                            <a:srgbClr val="1E293B"/>
                          </a:solidFill>
                        </a:defRPr>
                      </a:pPr>
                      <a:r>
                        <a:t>QR Code NIM instan (Level H) dan eksekusi 6-lapis validasi atomik via webcam scanner loket.</a:t>
                      </a:r>
                    </a:p>
                  </a:txBody>
                  <a:tcPr>
                    <a:solidFill>
                      <a:srgbClr val="FFFFFF"/>
                    </a:solidFill>
                  </a:tcPr>
                </a:tc>
                <a:tc>
                  <a:txBody>
                    <a:bodyPr/>
                    <a:lstStyle/>
                    <a:p>
                      <a:pPr>
                        <a:defRPr sz="950">
                          <a:solidFill>
                            <a:srgbClr val="1E293B"/>
                          </a:solidFill>
                        </a:defRPr>
                      </a:pPr>
                      <a:r>
                        <a:t>Waktu layan &lt; 30 detik/mhs, nol potensi klaim ganda.</a:t>
                      </a:r>
                    </a:p>
                  </a:txBody>
                  <a:tcPr>
                    <a:solidFill>
                      <a:srgbClr val="FFFFFF"/>
                    </a:solidFill>
                  </a:tcPr>
                </a:tc>
              </a:tr>
              <a:tr h="804672">
                <a:tc>
                  <a:txBody>
                    <a:bodyPr/>
                    <a:lstStyle/>
                    <a:p>
                      <a:pPr>
                        <a:defRPr sz="950" b="1">
                          <a:solidFill>
                            <a:srgbClr val="580B13"/>
                          </a:solidFill>
                        </a:defRPr>
                      </a:pPr>
                      <a:r>
                        <a:t>Susut Stok &amp; HPP Buram</a:t>
                      </a:r>
                    </a:p>
                  </a:txBody>
                  <a:tcPr>
                    <a:solidFill>
                      <a:srgbClr val="FDF4F5"/>
                    </a:solidFill>
                  </a:tcPr>
                </a:tc>
                <a:tc>
                  <a:txBody>
                    <a:bodyPr/>
                    <a:lstStyle/>
                    <a:p>
                      <a:pPr>
                        <a:defRPr sz="950">
                          <a:solidFill>
                            <a:srgbClr val="1E293B"/>
                          </a:solidFill>
                        </a:defRPr>
                      </a:pPr>
                      <a:r>
                        <a:t>WMS &amp; FIFO Costing Engine</a:t>
                      </a:r>
                    </a:p>
                  </a:txBody>
                  <a:tcPr>
                    <a:solidFill>
                      <a:srgbClr val="FDF4F5"/>
                    </a:solidFill>
                  </a:tcPr>
                </a:tc>
                <a:tc>
                  <a:txBody>
                    <a:bodyPr/>
                    <a:lstStyle/>
                    <a:p>
                      <a:pPr>
                        <a:defRPr sz="950">
                          <a:solidFill>
                            <a:srgbClr val="1E293B"/>
                          </a:solidFill>
                        </a:defRPr>
                      </a:pPr>
                      <a:r>
                        <a:t>Melacak batch FIFO, pemotongan stok berkartu audit, rekonsiliasi opname, dan laporan margin GPM.</a:t>
                      </a:r>
                    </a:p>
                  </a:txBody>
                  <a:tcPr>
                    <a:solidFill>
                      <a:srgbClr val="FDF4F5"/>
                    </a:solidFill>
                  </a:tcPr>
                </a:tc>
                <a:tc>
                  <a:txBody>
                    <a:bodyPr/>
                    <a:lstStyle/>
                    <a:p>
                      <a:pPr>
                        <a:defRPr sz="950">
                          <a:solidFill>
                            <a:srgbClr val="1E293B"/>
                          </a:solidFill>
                        </a:defRPr>
                      </a:pPr>
                      <a:r>
                        <a:t>Valuasi HPP presisi real-time, audit transparan.</a:t>
                      </a:r>
                    </a:p>
                  </a:txBody>
                  <a:tcPr>
                    <a:solidFill>
                      <a:srgbClr val="FDF4F5"/>
                    </a:solidFill>
                  </a:tcPr>
                </a:tc>
              </a:tr>
            </a:tbl>
          </a:graphicData>
        </a:graphic>
      </p:graphicFrame>
      <p:sp>
        <p:nvSpPr>
          <p:cNvPr id="6" name="Rectangle 5"/>
          <p:cNvSpPr/>
          <p:nvPr/>
        </p:nvSpPr>
        <p:spPr>
          <a:xfrm>
            <a:off x="548640" y="5806440"/>
            <a:ext cx="11064240" cy="685800"/>
          </a:xfrm>
          <a:prstGeom prst="rect">
            <a:avLst/>
          </a:prstGeom>
          <a:solidFill>
            <a:srgbClr val="580B13"/>
          </a:solidFill>
          <a:ln w="1905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Keunggulan UniStock: Menggabungkan keandalan ERP, perencanaan SCM, kecepatan POS, dan ketatnya WMS dalam satu portal Laravel 12 modern.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48640" y="320040"/>
            <a:ext cx="3291840" cy="320040"/>
          </a:xfrm>
          <a:prstGeom prst="roundRect">
            <a:avLst/>
          </a:prstGeom>
          <a:solidFill>
            <a:srgbClr val="580B13"/>
          </a:solidFill>
          <a:ln>
            <a:solidFill>
              <a:srgbClr val="580B1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D166"/>
                </a:solidFill>
              </a:defRPr>
            </a:pPr>
            <a:r>
              <a:t>SLIDE 6 • PROPOSED SOLUTION DESIGN</a:t>
            </a:r>
          </a:p>
        </p:txBody>
      </p:sp>
      <p:sp>
        <p:nvSpPr>
          <p:cNvPr id="3" name="TextBox 2"/>
          <p:cNvSpPr txBox="1"/>
          <p:nvPr/>
        </p:nvSpPr>
        <p:spPr>
          <a:xfrm>
            <a:off x="548640" y="685800"/>
            <a:ext cx="11064240" cy="438912"/>
          </a:xfrm>
          <a:prstGeom prst="rect">
            <a:avLst/>
          </a:prstGeom>
          <a:noFill/>
        </p:spPr>
        <p:txBody>
          <a:bodyPr wrap="square">
            <a:spAutoFit/>
          </a:bodyPr>
          <a:lstStyle/>
          <a:p>
            <a:pPr>
              <a:defRPr sz="1900" b="1">
                <a:solidFill>
                  <a:srgbClr val="580B13"/>
                </a:solidFill>
              </a:defRPr>
            </a:pPr>
            <a:r>
              <a:t>DIAGRAM ARSITEKTUR SOLUSI: 4 FASE CLOSED-LOOP SCM ENGINE</a:t>
            </a:r>
          </a:p>
        </p:txBody>
      </p:sp>
      <p:sp>
        <p:nvSpPr>
          <p:cNvPr id="4" name="TextBox 3"/>
          <p:cNvSpPr txBox="1"/>
          <p:nvPr/>
        </p:nvSpPr>
        <p:spPr>
          <a:xfrm>
            <a:off x="548640" y="1115568"/>
            <a:ext cx="11064240" cy="347472"/>
          </a:xfrm>
          <a:prstGeom prst="rect">
            <a:avLst/>
          </a:prstGeom>
          <a:noFill/>
        </p:spPr>
        <p:txBody>
          <a:bodyPr wrap="square">
            <a:spAutoFit/>
          </a:bodyPr>
          <a:lstStyle/>
          <a:p>
            <a:pPr>
              <a:defRPr sz="1150">
                <a:solidFill>
                  <a:srgbClr val="475569"/>
                </a:solidFill>
              </a:defRPr>
            </a:pPr>
            <a:r>
              <a:t>Bagaimana subsistem terhubung erat, aliran data perbaikan, dan pemanfaatan data untuk keputusan.</a:t>
            </a:r>
          </a:p>
        </p:txBody>
      </p:sp>
      <p:sp>
        <p:nvSpPr>
          <p:cNvPr id="5" name="Rectangle 4"/>
          <p:cNvSpPr/>
          <p:nvPr/>
        </p:nvSpPr>
        <p:spPr>
          <a:xfrm>
            <a:off x="548640" y="1554480"/>
            <a:ext cx="2606040" cy="4023360"/>
          </a:xfrm>
          <a:prstGeom prst="rect">
            <a:avLst/>
          </a:prstGeom>
          <a:solidFill>
            <a:srgbClr val="FFFFFF"/>
          </a:solidFill>
          <a:ln w="19050">
            <a:solidFill>
              <a:srgbClr val="6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2606040" cy="347472"/>
          </a:xfrm>
          <a:prstGeom prst="rect">
            <a:avLst/>
          </a:prstGeom>
          <a:solidFill>
            <a:srgbClr val="580B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D166"/>
                </a:solidFill>
              </a:defRPr>
            </a:pPr>
            <a:r>
              <a:t>FASE 1 • HULU (INBOUND)</a:t>
            </a:r>
          </a:p>
        </p:txBody>
      </p:sp>
      <p:sp>
        <p:nvSpPr>
          <p:cNvPr id="7" name="TextBox 6"/>
          <p:cNvSpPr txBox="1"/>
          <p:nvPr/>
        </p:nvSpPr>
        <p:spPr>
          <a:xfrm>
            <a:off x="658368" y="1938528"/>
            <a:ext cx="2386584" cy="3566160"/>
          </a:xfrm>
          <a:prstGeom prst="rect">
            <a:avLst/>
          </a:prstGeom>
          <a:noFill/>
        </p:spPr>
        <p:txBody>
          <a:bodyPr wrap="square">
            <a:spAutoFit/>
          </a:bodyPr>
          <a:lstStyle/>
          <a:p>
            <a:pPr>
              <a:defRPr sz="1250" b="1">
                <a:solidFill>
                  <a:srgbClr val="580B13"/>
                </a:solidFill>
              </a:defRPr>
            </a:pPr>
            <a:r>
              <a:t>Inbound &amp; Batch FIFO</a:t>
            </a:r>
          </a:p>
          <a:p>
            <a:pPr>
              <a:defRPr sz="1050">
                <a:solidFill>
                  <a:srgbClr val="1E293B"/>
                </a:solidFill>
              </a:defRPr>
            </a:pPr>
            <a:r>
              <a:t>• Catat barang vendor di StockReceive.</a:t>
            </a:r>
            <a:br/>
            <a:r>
              <a:t>• Terbitkan ID urutan Batch FIFO.</a:t>
            </a:r>
            <a:br/>
            <a:r>
              <a:t>• Catat jurnal mutasi StockMovement IN dan unit HPP batch pembelian.</a:t>
            </a:r>
          </a:p>
        </p:txBody>
      </p:sp>
      <p:sp>
        <p:nvSpPr>
          <p:cNvPr id="8" name="Rectangle 7"/>
          <p:cNvSpPr/>
          <p:nvPr/>
        </p:nvSpPr>
        <p:spPr>
          <a:xfrm>
            <a:off x="3364992" y="1554480"/>
            <a:ext cx="2606040" cy="4023360"/>
          </a:xfrm>
          <a:prstGeom prst="rect">
            <a:avLst/>
          </a:prstGeom>
          <a:solidFill>
            <a:srgbClr val="FFFFFF"/>
          </a:solidFill>
          <a:ln w="19050">
            <a:solidFill>
              <a:srgbClr val="6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364992" y="1554480"/>
            <a:ext cx="2606040" cy="347472"/>
          </a:xfrm>
          <a:prstGeom prst="rect">
            <a:avLst/>
          </a:prstGeom>
          <a:solidFill>
            <a:srgbClr val="580B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D166"/>
                </a:solidFill>
              </a:defRPr>
            </a:pPr>
            <a:r>
              <a:t>FASE 2 • DEMAND (PLANNING)</a:t>
            </a:r>
          </a:p>
        </p:txBody>
      </p:sp>
      <p:sp>
        <p:nvSpPr>
          <p:cNvPr id="10" name="TextBox 9"/>
          <p:cNvSpPr txBox="1"/>
          <p:nvPr/>
        </p:nvSpPr>
        <p:spPr>
          <a:xfrm>
            <a:off x="3474720" y="1938528"/>
            <a:ext cx="2386584" cy="3566160"/>
          </a:xfrm>
          <a:prstGeom prst="rect">
            <a:avLst/>
          </a:prstGeom>
          <a:noFill/>
        </p:spPr>
        <p:txBody>
          <a:bodyPr wrap="square">
            <a:spAutoFit/>
          </a:bodyPr>
          <a:lstStyle/>
          <a:p>
            <a:pPr>
              <a:defRPr sz="1250" b="1">
                <a:solidFill>
                  <a:srgbClr val="580B13"/>
                </a:solidFill>
              </a:defRPr>
            </a:pPr>
            <a:r>
              <a:t>Eligibility &amp; Profiling</a:t>
            </a:r>
          </a:p>
          <a:p>
            <a:pPr>
              <a:defRPr sz="1050">
                <a:solidFill>
                  <a:srgbClr val="1E293B"/>
                </a:solidFill>
              </a:defRPr>
            </a:pPr>
            <a:r>
              <a:t>• Keuangan aktifkan data lunas di EligibilityRecord.</a:t>
            </a:r>
            <a:br/>
            <a:r>
              <a:t>• Mahasiswa isi ukuran di event portal.</a:t>
            </a:r>
            <a:br/>
            <a:r>
              <a:t>• Kalkulasi Demand vs Shortage untuk belanja vendor.</a:t>
            </a:r>
          </a:p>
        </p:txBody>
      </p:sp>
      <p:sp>
        <p:nvSpPr>
          <p:cNvPr id="11" name="Rectangle 10"/>
          <p:cNvSpPr/>
          <p:nvPr/>
        </p:nvSpPr>
        <p:spPr>
          <a:xfrm>
            <a:off x="6181344" y="1554480"/>
            <a:ext cx="2606040" cy="4023360"/>
          </a:xfrm>
          <a:prstGeom prst="rect">
            <a:avLst/>
          </a:prstGeom>
          <a:solidFill>
            <a:srgbClr val="FFFFFF"/>
          </a:solidFill>
          <a:ln w="19050">
            <a:solidFill>
              <a:srgbClr val="6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81344" y="1554480"/>
            <a:ext cx="2606040" cy="347472"/>
          </a:xfrm>
          <a:prstGeom prst="rect">
            <a:avLst/>
          </a:prstGeom>
          <a:solidFill>
            <a:srgbClr val="580B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D166"/>
                </a:solidFill>
              </a:defRPr>
            </a:pPr>
            <a:r>
              <a:t>FASE 3 • HILIR (OUTBOUND)</a:t>
            </a:r>
          </a:p>
        </p:txBody>
      </p:sp>
      <p:sp>
        <p:nvSpPr>
          <p:cNvPr id="13" name="TextBox 12"/>
          <p:cNvSpPr txBox="1"/>
          <p:nvPr/>
        </p:nvSpPr>
        <p:spPr>
          <a:xfrm>
            <a:off x="6291072" y="1938528"/>
            <a:ext cx="2386584" cy="3566160"/>
          </a:xfrm>
          <a:prstGeom prst="rect">
            <a:avLst/>
          </a:prstGeom>
          <a:noFill/>
        </p:spPr>
        <p:txBody>
          <a:bodyPr wrap="square">
            <a:spAutoFit/>
          </a:bodyPr>
          <a:lstStyle/>
          <a:p>
            <a:pPr>
              <a:defRPr sz="1250" b="1">
                <a:solidFill>
                  <a:srgbClr val="580B13"/>
                </a:solidFill>
              </a:defRPr>
            </a:pPr>
            <a:r>
              <a:t>POS QR &amp; Validasi 6-Lapis</a:t>
            </a:r>
          </a:p>
          <a:p>
            <a:pPr>
              <a:defRPr sz="1050">
                <a:solidFill>
                  <a:srgbClr val="1E293B"/>
                </a:solidFill>
              </a:defRPr>
            </a:pPr>
            <a:r>
              <a:t>• Staf scan QR NIM di loket gudang.</a:t>
            </a:r>
            <a:br/>
            <a:r>
              <a:t>• Eksekusi 6-lapis validasi via lockForUpdate().</a:t>
            </a:r>
            <a:br/>
            <a:r>
              <a:t>• Potong batch tertua otomatis (deductStockFifo).</a:t>
            </a:r>
          </a:p>
        </p:txBody>
      </p:sp>
      <p:sp>
        <p:nvSpPr>
          <p:cNvPr id="14" name="Rectangle 13"/>
          <p:cNvSpPr/>
          <p:nvPr/>
        </p:nvSpPr>
        <p:spPr>
          <a:xfrm>
            <a:off x="9006840" y="1554480"/>
            <a:ext cx="2606040" cy="4023360"/>
          </a:xfrm>
          <a:prstGeom prst="rect">
            <a:avLst/>
          </a:prstGeom>
          <a:solidFill>
            <a:srgbClr val="FFFFFF"/>
          </a:solidFill>
          <a:ln w="19050">
            <a:solidFill>
              <a:srgbClr val="6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006840" y="1554480"/>
            <a:ext cx="2606040" cy="347472"/>
          </a:xfrm>
          <a:prstGeom prst="rect">
            <a:avLst/>
          </a:prstGeom>
          <a:solidFill>
            <a:srgbClr val="580B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D166"/>
                </a:solidFill>
              </a:defRPr>
            </a:pPr>
            <a:r>
              <a:t>FASE 4 • KONTROL (AUDIT)</a:t>
            </a:r>
          </a:p>
        </p:txBody>
      </p:sp>
      <p:sp>
        <p:nvSpPr>
          <p:cNvPr id="16" name="TextBox 15"/>
          <p:cNvSpPr txBox="1"/>
          <p:nvPr/>
        </p:nvSpPr>
        <p:spPr>
          <a:xfrm>
            <a:off x="9116567" y="1938528"/>
            <a:ext cx="2386584" cy="3566160"/>
          </a:xfrm>
          <a:prstGeom prst="rect">
            <a:avLst/>
          </a:prstGeom>
          <a:noFill/>
        </p:spPr>
        <p:txBody>
          <a:bodyPr wrap="square">
            <a:spAutoFit/>
          </a:bodyPr>
          <a:lstStyle/>
          <a:p>
            <a:pPr>
              <a:defRPr sz="1250" b="1">
                <a:solidFill>
                  <a:srgbClr val="580B13"/>
                </a:solidFill>
              </a:defRPr>
            </a:pPr>
            <a:r>
              <a:t>Opname &amp; Closed-Loop</a:t>
            </a:r>
          </a:p>
          <a:p>
            <a:pPr>
              <a:defRPr sz="1050">
                <a:solidFill>
                  <a:srgbClr val="1E293B"/>
                </a:solidFill>
              </a:defRPr>
            </a:pPr>
            <a:r>
              <a:t>• Stock opname berkala menghitung variance.</a:t>
            </a:r>
            <a:br/>
            <a:r>
              <a:t>• Jurnal penyesuaian susut/surplus.</a:t>
            </a:r>
            <a:br/>
            <a:r>
              <a:t>• Dasbor analitik GPM dan feedback pengadaan siklus baru.</a:t>
            </a:r>
          </a:p>
        </p:txBody>
      </p:sp>
      <p:sp>
        <p:nvSpPr>
          <p:cNvPr id="17" name="Rectangle 16"/>
          <p:cNvSpPr/>
          <p:nvPr/>
        </p:nvSpPr>
        <p:spPr>
          <a:xfrm>
            <a:off x="548640" y="5806440"/>
            <a:ext cx="11064240" cy="685800"/>
          </a:xfrm>
          <a:prstGeom prst="rect">
            <a:avLst/>
          </a:prstGeom>
          <a:solidFill>
            <a:srgbClr val="580B13"/>
          </a:solidFill>
          <a:ln w="1905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Pengambilan Keputusan Closed-Loop: Data analitik stok sisa dan tren ukuran dari Fase 4 otomatis menjadi input PO vendor pada Fase 1 semester depan.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48640" y="320040"/>
            <a:ext cx="3291840" cy="320040"/>
          </a:xfrm>
          <a:prstGeom prst="roundRect">
            <a:avLst/>
          </a:prstGeom>
          <a:solidFill>
            <a:srgbClr val="580B13"/>
          </a:solidFill>
          <a:ln>
            <a:solidFill>
              <a:srgbClr val="580B1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D166"/>
                </a:solidFill>
              </a:defRPr>
            </a:pPr>
            <a:r>
              <a:t>SLIDE 7 • IMPLEMENTATION AND RISKS</a:t>
            </a:r>
          </a:p>
        </p:txBody>
      </p:sp>
      <p:sp>
        <p:nvSpPr>
          <p:cNvPr id="3" name="TextBox 2"/>
          <p:cNvSpPr txBox="1"/>
          <p:nvPr/>
        </p:nvSpPr>
        <p:spPr>
          <a:xfrm>
            <a:off x="548640" y="685800"/>
            <a:ext cx="11064240" cy="438912"/>
          </a:xfrm>
          <a:prstGeom prst="rect">
            <a:avLst/>
          </a:prstGeom>
          <a:noFill/>
        </p:spPr>
        <p:txBody>
          <a:bodyPr wrap="square">
            <a:spAutoFit/>
          </a:bodyPr>
          <a:lstStyle/>
          <a:p>
            <a:pPr>
              <a:defRPr sz="1900" b="1">
                <a:solidFill>
                  <a:srgbClr val="580B13"/>
                </a:solidFill>
              </a:defRPr>
            </a:pPr>
            <a:r>
              <a:t>PRIORITAS IMPLEMENTASI &amp; MITIGASI RISIKO LAPANGAN</a:t>
            </a:r>
          </a:p>
        </p:txBody>
      </p:sp>
      <p:sp>
        <p:nvSpPr>
          <p:cNvPr id="4" name="TextBox 3"/>
          <p:cNvSpPr txBox="1"/>
          <p:nvPr/>
        </p:nvSpPr>
        <p:spPr>
          <a:xfrm>
            <a:off x="548640" y="1115568"/>
            <a:ext cx="11064240" cy="347472"/>
          </a:xfrm>
          <a:prstGeom prst="rect">
            <a:avLst/>
          </a:prstGeom>
          <a:noFill/>
        </p:spPr>
        <p:txBody>
          <a:bodyPr wrap="square">
            <a:spAutoFit/>
          </a:bodyPr>
          <a:lstStyle/>
          <a:p>
            <a:pPr>
              <a:defRPr sz="1150">
                <a:solidFill>
                  <a:srgbClr val="475569"/>
                </a:solidFill>
              </a:defRPr>
            </a:pPr>
            <a:r>
              <a:t>Langkah penerapan terencana, kebutuhan SDM, serta mitigasi risiko kontingensi hari-H.</a:t>
            </a:r>
          </a:p>
        </p:txBody>
      </p:sp>
      <p:sp>
        <p:nvSpPr>
          <p:cNvPr id="5" name="Rectangle 4"/>
          <p:cNvSpPr/>
          <p:nvPr/>
        </p:nvSpPr>
        <p:spPr>
          <a:xfrm>
            <a:off x="548640" y="1554480"/>
            <a:ext cx="3474720" cy="1874519"/>
          </a:xfrm>
          <a:prstGeom prst="rect">
            <a:avLst/>
          </a:prstGeom>
          <a:solidFill>
            <a:srgbClr val="FFFFFF"/>
          </a:solidFill>
          <a:ln w="19050">
            <a:solidFill>
              <a:srgbClr val="6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3474720" cy="347472"/>
          </a:xfrm>
          <a:prstGeom prst="rect">
            <a:avLst/>
          </a:prstGeom>
          <a:solidFill>
            <a:srgbClr val="580B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D166"/>
                </a:solidFill>
              </a:defRPr>
            </a:pPr>
            <a:r>
              <a:t>PRIORITAS 1 • DATA FOUNDATION</a:t>
            </a:r>
          </a:p>
        </p:txBody>
      </p:sp>
      <p:sp>
        <p:nvSpPr>
          <p:cNvPr id="7" name="TextBox 6"/>
          <p:cNvSpPr txBox="1"/>
          <p:nvPr/>
        </p:nvSpPr>
        <p:spPr>
          <a:xfrm>
            <a:off x="658368" y="1938528"/>
            <a:ext cx="3255263" cy="1417319"/>
          </a:xfrm>
          <a:prstGeom prst="rect">
            <a:avLst/>
          </a:prstGeom>
          <a:noFill/>
        </p:spPr>
        <p:txBody>
          <a:bodyPr wrap="square">
            <a:spAutoFit/>
          </a:bodyPr>
          <a:lstStyle/>
          <a:p>
            <a:pPr>
              <a:defRPr sz="1250" b="1">
                <a:solidFill>
                  <a:srgbClr val="580B13"/>
                </a:solidFill>
              </a:defRPr>
            </a:pPr>
            <a:r>
              <a:t>Standarisasi Master Data</a:t>
            </a:r>
          </a:p>
          <a:p>
            <a:pPr>
              <a:defRPr sz="1050">
                <a:solidFill>
                  <a:srgbClr val="1E293B"/>
                </a:solidFill>
              </a:defRPr>
            </a:pPr>
            <a:r>
              <a:t>Pembersihan data lama, pembuatan skema SKU 5-segmen, impor data mahasiswa, dan konfigurasi hak seragam per prodi.</a:t>
            </a:r>
          </a:p>
        </p:txBody>
      </p:sp>
      <p:sp>
        <p:nvSpPr>
          <p:cNvPr id="8" name="Rectangle 7"/>
          <p:cNvSpPr/>
          <p:nvPr/>
        </p:nvSpPr>
        <p:spPr>
          <a:xfrm>
            <a:off x="4343400" y="1554480"/>
            <a:ext cx="3474720" cy="1874519"/>
          </a:xfrm>
          <a:prstGeom prst="rect">
            <a:avLst/>
          </a:prstGeom>
          <a:solidFill>
            <a:srgbClr val="FFFFFF"/>
          </a:solidFill>
          <a:ln w="19050">
            <a:solidFill>
              <a:srgbClr val="6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43400" y="1554480"/>
            <a:ext cx="3474720" cy="347472"/>
          </a:xfrm>
          <a:prstGeom prst="rect">
            <a:avLst/>
          </a:prstGeom>
          <a:solidFill>
            <a:srgbClr val="580B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D166"/>
                </a:solidFill>
              </a:defRPr>
            </a:pPr>
            <a:r>
              <a:t>PRIORITAS 2 • INTEGRASI PORTAL</a:t>
            </a:r>
          </a:p>
        </p:txBody>
      </p:sp>
      <p:sp>
        <p:nvSpPr>
          <p:cNvPr id="10" name="TextBox 9"/>
          <p:cNvSpPr txBox="1"/>
          <p:nvPr/>
        </p:nvSpPr>
        <p:spPr>
          <a:xfrm>
            <a:off x="4453128" y="1938528"/>
            <a:ext cx="3255263" cy="1417319"/>
          </a:xfrm>
          <a:prstGeom prst="rect">
            <a:avLst/>
          </a:prstGeom>
          <a:noFill/>
        </p:spPr>
        <p:txBody>
          <a:bodyPr wrap="square">
            <a:spAutoFit/>
          </a:bodyPr>
          <a:lstStyle/>
          <a:p>
            <a:pPr>
              <a:defRPr sz="1250" b="1">
                <a:solidFill>
                  <a:srgbClr val="580B13"/>
                </a:solidFill>
              </a:defRPr>
            </a:pPr>
            <a:r>
              <a:t>Sinkronisasi Keuangan</a:t>
            </a:r>
          </a:p>
          <a:p>
            <a:pPr>
              <a:defRPr sz="1050">
                <a:solidFill>
                  <a:srgbClr val="1E293B"/>
                </a:solidFill>
              </a:defRPr>
            </a:pPr>
            <a:r>
              <a:t>Integrasi status lunas Keuangan, pembukaan portal ukuran mandiri, dan penyiaran jadwal distribusi bertahap.</a:t>
            </a:r>
          </a:p>
        </p:txBody>
      </p:sp>
      <p:sp>
        <p:nvSpPr>
          <p:cNvPr id="11" name="Rectangle 10"/>
          <p:cNvSpPr/>
          <p:nvPr/>
        </p:nvSpPr>
        <p:spPr>
          <a:xfrm>
            <a:off x="8138160" y="1554480"/>
            <a:ext cx="3474720" cy="1874519"/>
          </a:xfrm>
          <a:prstGeom prst="rect">
            <a:avLst/>
          </a:prstGeom>
          <a:solidFill>
            <a:srgbClr val="FFFFFF"/>
          </a:solidFill>
          <a:ln w="19050">
            <a:solidFill>
              <a:srgbClr val="6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38160" y="1554480"/>
            <a:ext cx="3474720" cy="347472"/>
          </a:xfrm>
          <a:prstGeom prst="rect">
            <a:avLst/>
          </a:prstGeom>
          <a:solidFill>
            <a:srgbClr val="580B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D166"/>
                </a:solidFill>
              </a:defRPr>
            </a:pPr>
            <a:r>
              <a:t>PRIORITAS 3 • PELATIHAN SDM</a:t>
            </a:r>
          </a:p>
        </p:txBody>
      </p:sp>
      <p:sp>
        <p:nvSpPr>
          <p:cNvPr id="13" name="TextBox 12"/>
          <p:cNvSpPr txBox="1"/>
          <p:nvPr/>
        </p:nvSpPr>
        <p:spPr>
          <a:xfrm>
            <a:off x="8247888" y="1938528"/>
            <a:ext cx="3255263" cy="1417319"/>
          </a:xfrm>
          <a:prstGeom prst="rect">
            <a:avLst/>
          </a:prstGeom>
          <a:noFill/>
        </p:spPr>
        <p:txBody>
          <a:bodyPr wrap="square">
            <a:spAutoFit/>
          </a:bodyPr>
          <a:lstStyle/>
          <a:p>
            <a:pPr>
              <a:defRPr sz="1250" b="1">
                <a:solidFill>
                  <a:srgbClr val="580B13"/>
                </a:solidFill>
              </a:defRPr>
            </a:pPr>
            <a:r>
              <a:t>Pelatihan Staf Posko &amp; SOP</a:t>
            </a:r>
          </a:p>
          <a:p>
            <a:pPr>
              <a:defRPr sz="1050">
                <a:solidFill>
                  <a:srgbClr val="1E293B"/>
                </a:solidFill>
              </a:defRPr>
            </a:pPr>
            <a:r>
              <a:t>Pelatihan staf loket memakai scanner webcam, prosedur fitting ukuran aktual, simulasi antrean, dan drill darurat.</a:t>
            </a:r>
          </a:p>
        </p:txBody>
      </p:sp>
      <p:sp>
        <p:nvSpPr>
          <p:cNvPr id="14" name="Rectangle 13"/>
          <p:cNvSpPr/>
          <p:nvPr/>
        </p:nvSpPr>
        <p:spPr>
          <a:xfrm>
            <a:off x="548640" y="3611880"/>
            <a:ext cx="3474720" cy="1965960"/>
          </a:xfrm>
          <a:prstGeom prst="rect">
            <a:avLst/>
          </a:prstGeom>
          <a:solidFill>
            <a:srgbClr val="FFFFFF"/>
          </a:solidFill>
          <a:ln w="19050">
            <a:solidFill>
              <a:srgbClr val="6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611880"/>
            <a:ext cx="3474720" cy="347472"/>
          </a:xfrm>
          <a:prstGeom prst="rect">
            <a:avLst/>
          </a:prstGeom>
          <a:solidFill>
            <a:srgbClr val="580B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D166"/>
                </a:solidFill>
              </a:defRPr>
            </a:pPr>
            <a:r>
              <a:t>RISIKO 1: HP MATI / NO QR</a:t>
            </a:r>
          </a:p>
        </p:txBody>
      </p:sp>
      <p:sp>
        <p:nvSpPr>
          <p:cNvPr id="16" name="TextBox 15"/>
          <p:cNvSpPr txBox="1"/>
          <p:nvPr/>
        </p:nvSpPr>
        <p:spPr>
          <a:xfrm>
            <a:off x="658368" y="3995928"/>
            <a:ext cx="3255263" cy="1508760"/>
          </a:xfrm>
          <a:prstGeom prst="rect">
            <a:avLst/>
          </a:prstGeom>
          <a:noFill/>
        </p:spPr>
        <p:txBody>
          <a:bodyPr wrap="square">
            <a:spAutoFit/>
          </a:bodyPr>
          <a:lstStyle/>
          <a:p>
            <a:pPr>
              <a:defRPr sz="1250" b="1">
                <a:solidFill>
                  <a:srgbClr val="580B13"/>
                </a:solidFill>
              </a:defRPr>
            </a:pPr>
            <a:r>
              <a:t>Mitigasi Fallback Search</a:t>
            </a:r>
          </a:p>
          <a:p>
            <a:pPr>
              <a:defRPr sz="1050">
                <a:solidFill>
                  <a:srgbClr val="1E293B"/>
                </a:solidFill>
              </a:defRPr>
            </a:pPr>
            <a:r>
              <a:t>Staf posko dapat mencari data mahasiswa secara manual melalui input NIM atau Nama pada bilah scanner.</a:t>
            </a:r>
          </a:p>
        </p:txBody>
      </p:sp>
      <p:sp>
        <p:nvSpPr>
          <p:cNvPr id="17" name="Rectangle 16"/>
          <p:cNvSpPr/>
          <p:nvPr/>
        </p:nvSpPr>
        <p:spPr>
          <a:xfrm>
            <a:off x="4343400" y="3611880"/>
            <a:ext cx="3474720" cy="1965960"/>
          </a:xfrm>
          <a:prstGeom prst="rect">
            <a:avLst/>
          </a:prstGeom>
          <a:solidFill>
            <a:srgbClr val="FFFFFF"/>
          </a:solidFill>
          <a:ln w="19050">
            <a:solidFill>
              <a:srgbClr val="6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43400" y="3611880"/>
            <a:ext cx="3474720" cy="347472"/>
          </a:xfrm>
          <a:prstGeom prst="rect">
            <a:avLst/>
          </a:prstGeom>
          <a:solidFill>
            <a:srgbClr val="580B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D166"/>
                </a:solidFill>
              </a:defRPr>
            </a:pPr>
            <a:r>
              <a:t>RISIKO 2: UKURAN HABIS / FITTING</a:t>
            </a:r>
          </a:p>
        </p:txBody>
      </p:sp>
      <p:sp>
        <p:nvSpPr>
          <p:cNvPr id="19" name="TextBox 18"/>
          <p:cNvSpPr txBox="1"/>
          <p:nvPr/>
        </p:nvSpPr>
        <p:spPr>
          <a:xfrm>
            <a:off x="4453128" y="3995928"/>
            <a:ext cx="3255263" cy="1508760"/>
          </a:xfrm>
          <a:prstGeom prst="rect">
            <a:avLst/>
          </a:prstGeom>
          <a:noFill/>
        </p:spPr>
        <p:txBody>
          <a:bodyPr wrap="square">
            <a:spAutoFit/>
          </a:bodyPr>
          <a:lstStyle/>
          <a:p>
            <a:pPr>
              <a:defRPr sz="1250" b="1">
                <a:solidFill>
                  <a:srgbClr val="580B13"/>
                </a:solidFill>
              </a:defRPr>
            </a:pPr>
            <a:r>
              <a:t>Mitigasi Partial Pickup</a:t>
            </a:r>
          </a:p>
          <a:p>
            <a:pPr>
              <a:defRPr sz="1050">
                <a:solidFill>
                  <a:srgbClr val="1E293B"/>
                </a:solidFill>
              </a:defRPr>
            </a:pPr>
            <a:r>
              <a:t>Serahkan seragam yang tersedia (Partial Pickup, sisa hak tidak hangus) dan catat tukar ukuran di student_size_histories.</a:t>
            </a:r>
          </a:p>
        </p:txBody>
      </p:sp>
      <p:sp>
        <p:nvSpPr>
          <p:cNvPr id="20" name="Rectangle 19"/>
          <p:cNvSpPr/>
          <p:nvPr/>
        </p:nvSpPr>
        <p:spPr>
          <a:xfrm>
            <a:off x="8138160" y="3611880"/>
            <a:ext cx="3474720" cy="1965960"/>
          </a:xfrm>
          <a:prstGeom prst="rect">
            <a:avLst/>
          </a:prstGeom>
          <a:solidFill>
            <a:srgbClr val="FFFFFF"/>
          </a:solidFill>
          <a:ln w="19050">
            <a:solidFill>
              <a:srgbClr val="6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38160" y="3611880"/>
            <a:ext cx="3474720" cy="347472"/>
          </a:xfrm>
          <a:prstGeom prst="rect">
            <a:avLst/>
          </a:prstGeom>
          <a:solidFill>
            <a:srgbClr val="580B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D166"/>
                </a:solidFill>
              </a:defRPr>
            </a:pPr>
            <a:r>
              <a:t>RISIKO 3: INTERNET DOWN</a:t>
            </a:r>
          </a:p>
        </p:txBody>
      </p:sp>
      <p:sp>
        <p:nvSpPr>
          <p:cNvPr id="22" name="TextBox 21"/>
          <p:cNvSpPr txBox="1"/>
          <p:nvPr/>
        </p:nvSpPr>
        <p:spPr>
          <a:xfrm>
            <a:off x="8247888" y="3995928"/>
            <a:ext cx="3255263" cy="1508760"/>
          </a:xfrm>
          <a:prstGeom prst="rect">
            <a:avLst/>
          </a:prstGeom>
          <a:noFill/>
        </p:spPr>
        <p:txBody>
          <a:bodyPr wrap="square">
            <a:spAutoFit/>
          </a:bodyPr>
          <a:lstStyle/>
          <a:p>
            <a:pPr>
              <a:defRPr sz="1250" b="1">
                <a:solidFill>
                  <a:srgbClr val="580B13"/>
                </a:solidFill>
              </a:defRPr>
            </a:pPr>
            <a:r>
              <a:t>Mitigasi Pessimistic Lock</a:t>
            </a:r>
          </a:p>
          <a:p>
            <a:pPr>
              <a:defRPr sz="1050">
                <a:solidFill>
                  <a:srgbClr val="1E293B"/>
                </a:solidFill>
              </a:defRPr>
            </a:pPr>
            <a:r>
              <a:t>Database InnoDB dilindungi pessimistic lock (lockForUpdate) dan proteksi idempotensi mencegah pemotongan stok dobel.</a:t>
            </a:r>
          </a:p>
        </p:txBody>
      </p:sp>
      <p:sp>
        <p:nvSpPr>
          <p:cNvPr id="23" name="Rectangle 22"/>
          <p:cNvSpPr/>
          <p:nvPr/>
        </p:nvSpPr>
        <p:spPr>
          <a:xfrm>
            <a:off x="548640" y="5806440"/>
            <a:ext cx="11064240" cy="685800"/>
          </a:xfrm>
          <a:prstGeom prst="rect">
            <a:avLst/>
          </a:prstGeom>
          <a:solidFill>
            <a:srgbClr val="580B13"/>
          </a:solidFill>
          <a:ln w="1905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Resiliensi Operasional Tinggi: UniStock dirancang fault-tolerant menjamin posko tetap beroperasi dalam kondisi darurat.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580B13"/>
        </a:solidFill>
        <a:effectLst/>
      </p:bgPr>
    </p:bg>
    <p:spTree>
      <p:nvGrpSpPr>
        <p:cNvPr id="1" name=""/>
        <p:cNvGrpSpPr/>
        <p:nvPr/>
      </p:nvGrpSpPr>
      <p:grpSpPr/>
      <p:sp>
        <p:nvSpPr>
          <p:cNvPr id="2" name="Rounded Rectangle 1"/>
          <p:cNvSpPr/>
          <p:nvPr/>
        </p:nvSpPr>
        <p:spPr>
          <a:xfrm>
            <a:off x="548640" y="320040"/>
            <a:ext cx="3291840" cy="320040"/>
          </a:xfrm>
          <a:prstGeom prst="roundRect">
            <a:avLst/>
          </a:prstGeom>
          <a:solidFill>
            <a:srgbClr val="FFD166"/>
          </a:solidFill>
          <a:ln>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580B13"/>
                </a:solidFill>
              </a:defRPr>
            </a:pPr>
            <a:r>
              <a:t>SLIDE 8 • CONCLUSION &amp; BENEFITS</a:t>
            </a:r>
          </a:p>
        </p:txBody>
      </p:sp>
      <p:sp>
        <p:nvSpPr>
          <p:cNvPr id="3" name="TextBox 2"/>
          <p:cNvSpPr txBox="1"/>
          <p:nvPr/>
        </p:nvSpPr>
        <p:spPr>
          <a:xfrm>
            <a:off x="548640" y="685800"/>
            <a:ext cx="11064240" cy="438912"/>
          </a:xfrm>
          <a:prstGeom prst="rect">
            <a:avLst/>
          </a:prstGeom>
          <a:noFill/>
        </p:spPr>
        <p:txBody>
          <a:bodyPr wrap="square">
            <a:spAutoFit/>
          </a:bodyPr>
          <a:lstStyle/>
          <a:p>
            <a:pPr>
              <a:defRPr sz="1900" b="1">
                <a:solidFill>
                  <a:srgbClr val="FFFFFF"/>
                </a:solidFill>
              </a:defRPr>
            </a:pPr>
            <a:r>
              <a:t>KESIMPULAN &amp; TIGA MANFAAT TERUKUR YANG DIHASILKAN</a:t>
            </a:r>
          </a:p>
        </p:txBody>
      </p:sp>
      <p:sp>
        <p:nvSpPr>
          <p:cNvPr id="4" name="TextBox 3"/>
          <p:cNvSpPr txBox="1"/>
          <p:nvPr/>
        </p:nvSpPr>
        <p:spPr>
          <a:xfrm>
            <a:off x="548640" y="1115568"/>
            <a:ext cx="11064240" cy="347472"/>
          </a:xfrm>
          <a:prstGeom prst="rect">
            <a:avLst/>
          </a:prstGeom>
          <a:noFill/>
        </p:spPr>
        <p:txBody>
          <a:bodyPr wrap="square">
            <a:spAutoFit/>
          </a:bodyPr>
          <a:lstStyle/>
          <a:p>
            <a:pPr>
              <a:defRPr sz="1150">
                <a:solidFill>
                  <a:srgbClr val="FFD166"/>
                </a:solidFill>
              </a:defRPr>
            </a:pPr>
            <a:r>
              <a:t>Rangkuman dampak nyata sistem informasi HorizonU Uniform (UniStock SCM) bagi operasional kampus.</a:t>
            </a:r>
          </a:p>
        </p:txBody>
      </p:sp>
      <p:sp>
        <p:nvSpPr>
          <p:cNvPr id="5" name="Rectangle 4"/>
          <p:cNvSpPr/>
          <p:nvPr/>
        </p:nvSpPr>
        <p:spPr>
          <a:xfrm>
            <a:off x="548640" y="1554480"/>
            <a:ext cx="3474720" cy="4023360"/>
          </a:xfrm>
          <a:prstGeom prst="rect">
            <a:avLst/>
          </a:prstGeom>
          <a:solidFill>
            <a:srgbClr val="FFFFFF"/>
          </a:solidFill>
          <a:ln w="19050">
            <a:solidFill>
              <a:srgbClr val="6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3474720" cy="347472"/>
          </a:xfrm>
          <a:prstGeom prst="rect">
            <a:avLst/>
          </a:prstGeom>
          <a:solidFill>
            <a:srgbClr val="580B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D166"/>
                </a:solidFill>
              </a:defRPr>
            </a:pPr>
            <a:r>
              <a:t>MANFAAT 01 • EFISIENSI WAKTU</a:t>
            </a:r>
          </a:p>
        </p:txBody>
      </p:sp>
      <p:sp>
        <p:nvSpPr>
          <p:cNvPr id="7" name="TextBox 6"/>
          <p:cNvSpPr txBox="1"/>
          <p:nvPr/>
        </p:nvSpPr>
        <p:spPr>
          <a:xfrm>
            <a:off x="658368" y="1938528"/>
            <a:ext cx="3255263" cy="3566160"/>
          </a:xfrm>
          <a:prstGeom prst="rect">
            <a:avLst/>
          </a:prstGeom>
          <a:noFill/>
        </p:spPr>
        <p:txBody>
          <a:bodyPr wrap="square">
            <a:spAutoFit/>
          </a:bodyPr>
          <a:lstStyle/>
          <a:p>
            <a:pPr>
              <a:defRPr sz="1250" b="1">
                <a:solidFill>
                  <a:srgbClr val="580B13"/>
                </a:solidFill>
              </a:defRPr>
            </a:pPr>
            <a:r>
              <a:t>&lt; 30 Detik per Mahasiswa</a:t>
            </a:r>
          </a:p>
          <a:p>
            <a:pPr>
              <a:defRPr sz="1050">
                <a:solidFill>
                  <a:srgbClr val="1E293B"/>
                </a:solidFill>
              </a:defRPr>
            </a:pPr>
            <a:r>
              <a:t>Memangkas waktu layanan posko dari 15-20 menit menjadi di bawah 30 detik melalui pemindaian QR Code dan validasi 6-lapis otomatis.</a:t>
            </a:r>
          </a:p>
        </p:txBody>
      </p:sp>
      <p:sp>
        <p:nvSpPr>
          <p:cNvPr id="8" name="Rectangle 7"/>
          <p:cNvSpPr/>
          <p:nvPr/>
        </p:nvSpPr>
        <p:spPr>
          <a:xfrm>
            <a:off x="4343400" y="1554480"/>
            <a:ext cx="3474720" cy="4023360"/>
          </a:xfrm>
          <a:prstGeom prst="rect">
            <a:avLst/>
          </a:prstGeom>
          <a:solidFill>
            <a:srgbClr val="FFFFFF"/>
          </a:solidFill>
          <a:ln w="19050">
            <a:solidFill>
              <a:srgbClr val="6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43400" y="1554480"/>
            <a:ext cx="3474720" cy="347472"/>
          </a:xfrm>
          <a:prstGeom prst="rect">
            <a:avLst/>
          </a:prstGeom>
          <a:solidFill>
            <a:srgbClr val="580B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D166"/>
                </a:solidFill>
              </a:defRPr>
            </a:pPr>
            <a:r>
              <a:t>MANFAAT 02 • AKURASI INVENTARIS</a:t>
            </a:r>
          </a:p>
        </p:txBody>
      </p:sp>
      <p:sp>
        <p:nvSpPr>
          <p:cNvPr id="10" name="TextBox 9"/>
          <p:cNvSpPr txBox="1"/>
          <p:nvPr/>
        </p:nvSpPr>
        <p:spPr>
          <a:xfrm>
            <a:off x="4453128" y="1938528"/>
            <a:ext cx="3255263" cy="3566160"/>
          </a:xfrm>
          <a:prstGeom prst="rect">
            <a:avLst/>
          </a:prstGeom>
          <a:noFill/>
        </p:spPr>
        <p:txBody>
          <a:bodyPr wrap="square">
            <a:spAutoFit/>
          </a:bodyPr>
          <a:lstStyle/>
          <a:p>
            <a:pPr>
              <a:defRPr sz="1250" b="1">
                <a:solidFill>
                  <a:srgbClr val="580B13"/>
                </a:solidFill>
              </a:defRPr>
            </a:pPr>
            <a:r>
              <a:t>Zero (0) Dead-Stock</a:t>
            </a:r>
          </a:p>
          <a:p>
            <a:pPr>
              <a:defRPr sz="1050">
                <a:solidFill>
                  <a:srgbClr val="1E293B"/>
                </a:solidFill>
              </a:defRPr>
            </a:pPr>
            <a:r>
              <a:t>Profiling ukuran mandiri memastikan pengadaan barang pabrik selaras 100% dengan ukuran tubuh riil mahasiswa aktif.</a:t>
            </a:r>
          </a:p>
        </p:txBody>
      </p:sp>
      <p:sp>
        <p:nvSpPr>
          <p:cNvPr id="11" name="Rectangle 10"/>
          <p:cNvSpPr/>
          <p:nvPr/>
        </p:nvSpPr>
        <p:spPr>
          <a:xfrm>
            <a:off x="8138160" y="1554480"/>
            <a:ext cx="3474720" cy="4023360"/>
          </a:xfrm>
          <a:prstGeom prst="rect">
            <a:avLst/>
          </a:prstGeom>
          <a:solidFill>
            <a:srgbClr val="FFFFFF"/>
          </a:solidFill>
          <a:ln w="19050">
            <a:solidFill>
              <a:srgbClr val="6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38160" y="1554480"/>
            <a:ext cx="3474720" cy="347472"/>
          </a:xfrm>
          <a:prstGeom prst="rect">
            <a:avLst/>
          </a:prstGeom>
          <a:solidFill>
            <a:srgbClr val="580B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D166"/>
                </a:solidFill>
              </a:defRPr>
            </a:pPr>
            <a:r>
              <a:t>MANFAAT 03 • AKUNTABILITAS BIAYA</a:t>
            </a:r>
          </a:p>
        </p:txBody>
      </p:sp>
      <p:sp>
        <p:nvSpPr>
          <p:cNvPr id="13" name="TextBox 12"/>
          <p:cNvSpPr txBox="1"/>
          <p:nvPr/>
        </p:nvSpPr>
        <p:spPr>
          <a:xfrm>
            <a:off x="8247888" y="1938528"/>
            <a:ext cx="3255263" cy="3566160"/>
          </a:xfrm>
          <a:prstGeom prst="rect">
            <a:avLst/>
          </a:prstGeom>
          <a:noFill/>
        </p:spPr>
        <p:txBody>
          <a:bodyPr wrap="square">
            <a:spAutoFit/>
          </a:bodyPr>
          <a:lstStyle/>
          <a:p>
            <a:pPr>
              <a:defRPr sz="1250" b="1">
                <a:solidFill>
                  <a:srgbClr val="580B13"/>
                </a:solidFill>
              </a:defRPr>
            </a:pPr>
            <a:r>
              <a:t>100% Valuasi FIFO Real-Time</a:t>
            </a:r>
          </a:p>
          <a:p>
            <a:pPr>
              <a:defRPr sz="1050">
                <a:solidFill>
                  <a:srgbClr val="1E293B"/>
                </a:solidFill>
              </a:defRPr>
            </a:pPr>
            <a:r>
              <a:t>Mengeliminasi ketergantungan pada Excel yang rentan rusak. Semua mutasi terikat batch FIFO dan perhitungan Gross Profit Margin.</a:t>
            </a:r>
          </a:p>
        </p:txBody>
      </p:sp>
      <p:sp>
        <p:nvSpPr>
          <p:cNvPr id="14" name="Rectangle 13"/>
          <p:cNvSpPr/>
          <p:nvPr/>
        </p:nvSpPr>
        <p:spPr>
          <a:xfrm>
            <a:off x="548640" y="5806440"/>
            <a:ext cx="11064240" cy="685800"/>
          </a:xfrm>
          <a:prstGeom prst="rect">
            <a:avLst/>
          </a:prstGeom>
          <a:solidFill>
            <a:srgbClr val="580B13"/>
          </a:solidFill>
          <a:ln w="1905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Kesimpulan: Sistem Informasi bukan sekadar alat administratif, melainkan saraf pusat rantai pasok yang mengunci fisik barang dengan kepatuhan finansial secara closed-loop.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