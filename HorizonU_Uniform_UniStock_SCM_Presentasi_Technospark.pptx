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00:45 Menit):</a:t>
            </a:r>
          </a:p>
          <a:p>
            <a:r>
              <a:t>"Pada Slide 2, izinkan kami memperkenalkan 6 anggota Tim Nirwana yang memiliki spesialisasi peran masing-masing dalam membangun UniStock:</a:t>
            </a:r>
          </a:p>
          <a:p/>
          <a:p>
            <a:r>
              <a:t>1. Fhazar Raffiful Aqyla sebagai Project Manager, memimpin perumusan roadmap produk dan keselarasan strategi rantai pasok.</a:t>
            </a:r>
          </a:p>
          <a:p>
            <a:r>
              <a:t>2. Ferry Noer Hendriawan sebagai Frontend Developer, merancang tampilan antarmuka interaktif dan modul scanner posko.</a:t>
            </a:r>
          </a:p>
          <a:p>
            <a:r>
              <a:t>3. Hildan Anugrah Tamadi Putra sebagai Backend Developer, membangun logic Laravel 12, algoritma FIFO, dan concurrency lock.</a:t>
            </a:r>
          </a:p>
          <a:p>
            <a:r>
              <a:t>4. Fadel Rahmadhan sebagai Quality Assurance, menguji ketahanan sistem terhadap skenario double-claim dan stress test transaksi.</a:t>
            </a:r>
          </a:p>
          <a:p>
            <a:r>
              <a:t>5. Daffa Nazriel Zaidan sebagai UI/UX Designer, menyusun prototipe sistem desain Neo-Brutalism yang ergonomis bagi mahasiswa.</a:t>
            </a:r>
          </a:p>
          <a:p>
            <a:r>
              <a:t>6. Acep Ugan Saputra sebagai System Analyst, merancang pemodelan proses bisnis BPMN dan normalisasi basis data relasional.</a:t>
            </a:r>
          </a:p>
          <a:p/>
          <a:p>
            <a:r>
              <a:t>Dengan sinergi lintas peran inilah kami mentransformasi sistem rantai pasok seragam kampus secara utuh."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01:15 Menit):</a:t>
            </a:r>
          </a:p>
          <a:p>
            <a:r>
              <a:t>"Masuk ke Slide 3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01:30 Menit):</a:t>
            </a:r>
          </a:p>
          <a:p>
            <a:r>
              <a:t>"Pada Slide 4,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01:15 Menit):</a:t>
            </a:r>
          </a:p>
          <a:p>
            <a:r>
              <a:t>"Selanjutnya pada Slide 5,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01:30 Menit):</a:t>
            </a:r>
          </a:p>
          <a:p>
            <a:r>
              <a:t>"Untuk mengatasi persoalan tersebut, pada Slide 6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01:25 Menit):</a:t>
            </a:r>
          </a:p>
          <a:p>
            <a:r>
              <a:t>"Pada Slide 7,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01:15 Menit):</a:t>
            </a:r>
          </a:p>
          <a:p>
            <a:r>
              <a:t>"Masuk ke Slide 8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9 (Target: 00:55 Menit):</a:t>
            </a:r>
          </a:p>
          <a:p>
            <a:r>
              <a:t>"Sebagai penutup pada Slide 9,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jpg"/><Relationship Id="rId7" Type="http://schemas.openxmlformats.org/officeDocument/2006/relationships/image" Target="../media/image6.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411480"/>
          </a:xfrm>
          <a:prstGeom prst="rect">
            <a:avLst/>
          </a:prstGeom>
          <a:noFill/>
        </p:spPr>
        <p:txBody>
          <a:bodyPr wrap="square" lIns="0" rIns="0" tIns="0" bIns="0">
            <a:spAutoFit/>
          </a:bodyPr>
          <a:lstStyle/>
          <a:p>
            <a:r>
              <a:rPr sz="950" b="1">
                <a:solidFill>
                  <a:srgbClr val="64748B"/>
                </a:solidFill>
                <a:latin typeface="Calibri"/>
              </a:rPr>
              <a:t>DEPARTEMEN KEUANGAN • UNIVERSITAS HORIZON INDONESIA</a:t>
            </a:r>
            <a:r>
              <a:rPr sz="950" b="1">
                <a:solidFill>
                  <a:srgbClr val="980517"/>
                </a:solidFill>
                <a:latin typeface="Calibri"/>
              </a:rPr>
              <a:t>                                                                                   TECHNOSPARK 2026 PITCH DECK</a:t>
            </a:r>
          </a:p>
        </p:txBody>
      </p:sp>
      <p:sp>
        <p:nvSpPr>
          <p:cNvPr id="3" name="Rectangle 2"/>
          <p:cNvSpPr/>
          <p:nvPr/>
        </p:nvSpPr>
        <p:spPr>
          <a:xfrm>
            <a:off x="731520" y="804672"/>
            <a:ext cx="10728655"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51560"/>
            <a:ext cx="10728655" cy="2286000"/>
          </a:xfrm>
          <a:prstGeom prst="rect">
            <a:avLst/>
          </a:prstGeom>
          <a:noFill/>
        </p:spPr>
        <p:txBody>
          <a:bodyPr wrap="square" lIns="0" rIns="0" tIns="0" bIns="0">
            <a:spAutoFit/>
          </a:bodyPr>
          <a:lstStyle/>
          <a:p>
            <a:pPr>
              <a:spcAft>
                <a:spcPts val="400"/>
              </a:spcAft>
              <a:defRPr sz="1100" b="1">
                <a:solidFill>
                  <a:srgbClr val="980517"/>
                </a:solidFill>
                <a:latin typeface="Arial"/>
              </a:defRPr>
            </a:pPr>
            <a:r>
              <a:t>SOLUSI RANTAI PASOK LOGISTIK KAMPUS TERINTEGRASI</a:t>
            </a:r>
          </a:p>
          <a:p>
            <a:pPr>
              <a:spcAft>
                <a:spcPts val="800"/>
              </a:spcAft>
            </a:pPr>
            <a:r>
              <a:rPr sz="3600" b="1">
                <a:solidFill>
                  <a:srgbClr val="0F172A"/>
                </a:solidFill>
                <a:latin typeface="Arial"/>
              </a:rPr>
              <a:t>HORIZONU </a:t>
            </a:r>
            <a:r>
              <a:rPr sz="3600" b="1" u="sng">
                <a:solidFill>
                  <a:srgbClr val="980517"/>
                </a:solidFill>
                <a:latin typeface="Arial"/>
              </a:rPr>
              <a:t>UNIFORM</a:t>
            </a:r>
          </a:p>
          <a:p>
            <a:pPr>
              <a:lnSpc>
                <a:spcPct val="125000"/>
              </a:lnSpc>
              <a:defRPr sz="1200">
                <a:solidFill>
                  <a:srgbClr val="4B5563"/>
                </a:solidFill>
                <a:latin typeface="Calibri"/>
              </a:defRPr>
            </a:pPr>
            <a:r>
              <a:t>Transformasi digital operasional seragam mahasiswa: Menghubungkan Hulu (Vendor Pabrik), Gudang Kampus, dan Bagian Keuangan hingga Hilir (Mahasiswa) berbasis data presisi dan aturan inventaris FIFO.</a:t>
            </a:r>
          </a:p>
        </p:txBody>
      </p:sp>
      <p:sp>
        <p:nvSpPr>
          <p:cNvPr id="5" name="Rounded Rectangle 4"/>
          <p:cNvSpPr/>
          <p:nvPr/>
        </p:nvSpPr>
        <p:spPr>
          <a:xfrm>
            <a:off x="731520" y="3520440"/>
            <a:ext cx="3429000" cy="26974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OBJEK &amp; KOMODITAS</a:t>
            </a:r>
          </a:p>
          <a:p>
            <a:pPr>
              <a:spcAft>
                <a:spcPts val="500"/>
              </a:spcAft>
              <a:defRPr sz="1250" b="1">
                <a:solidFill>
                  <a:srgbClr val="0F172A"/>
                </a:solidFill>
                <a:latin typeface="Arial"/>
              </a:defRPr>
            </a:pPr>
            <a:r>
              <a:t>Pengadaan Perlengkapan Kampus</a:t>
            </a:r>
          </a:p>
          <a:p>
            <a:pPr>
              <a:spcAft>
                <a:spcPts val="300"/>
              </a:spcAft>
              <a:defRPr sz="1050">
                <a:solidFill>
                  <a:srgbClr val="0F172A"/>
                </a:solidFill>
                <a:latin typeface="Calibri"/>
              </a:defRPr>
            </a:pPr>
            <a:r>
              <a:t>•  Pengadaan dan pembagian tahunan: Jas Almamater, Kemeja Putih, Celana/Rok, Sepatu Lab &amp; Dinas, serta Medical Kit.</a:t>
            </a:r>
          </a:p>
          <a:p>
            <a:pPr>
              <a:spcAft>
                <a:spcPts val="300"/>
              </a:spcAft>
              <a:defRPr sz="1050">
                <a:solidFill>
                  <a:srgbClr val="0F172A"/>
                </a:solidFill>
                <a:latin typeface="Calibri"/>
              </a:defRPr>
            </a:pPr>
            <a:r>
              <a:t>•  Penyaluran langsung ke ribuan mahasiswa baru tanpa perantara ritel komersial.</a:t>
            </a:r>
          </a:p>
          <a:p>
            <a:pPr>
              <a:spcBef>
                <a:spcPts val="400"/>
              </a:spcBef>
              <a:defRPr sz="1000" b="1">
                <a:solidFill>
                  <a:srgbClr val="980517"/>
                </a:solidFill>
                <a:latin typeface="Calibri"/>
              </a:defRPr>
            </a:pPr>
            <a:r>
              <a:t>➔  Model: Closed-Loop Campus SCM</a:t>
            </a:r>
          </a:p>
        </p:txBody>
      </p:sp>
      <p:sp>
        <p:nvSpPr>
          <p:cNvPr id="6" name="Rounded Rectangle 5"/>
          <p:cNvSpPr/>
          <p:nvPr/>
        </p:nvSpPr>
        <p:spPr>
          <a:xfrm>
            <a:off x="4370832" y="3520440"/>
            <a:ext cx="3429000" cy="26974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TANTANGAN UTAMA</a:t>
            </a:r>
          </a:p>
          <a:p>
            <a:pPr>
              <a:spcAft>
                <a:spcPts val="500"/>
              </a:spcAft>
              <a:defRPr sz="1250" b="1">
                <a:solidFill>
                  <a:srgbClr val="0F172A"/>
                </a:solidFill>
                <a:latin typeface="Arial"/>
              </a:defRPr>
            </a:pPr>
            <a:r>
              <a:t>Hambatan Spreadsheet &amp; Posko</a:t>
            </a:r>
          </a:p>
          <a:p>
            <a:pPr>
              <a:spcAft>
                <a:spcPts val="300"/>
              </a:spcAft>
              <a:defRPr sz="1050">
                <a:solidFill>
                  <a:srgbClr val="0F172A"/>
                </a:solidFill>
                <a:latin typeface="Calibri"/>
              </a:defRPr>
            </a:pPr>
            <a:r>
              <a:t>•  Spreadsheet Excel 4.5 MB crash saat ribuan maba mendaftar serentak.</a:t>
            </a:r>
          </a:p>
          <a:p>
            <a:pPr>
              <a:spcAft>
                <a:spcPts val="300"/>
              </a:spcAft>
              <a:defRPr sz="1050">
                <a:solidFill>
                  <a:srgbClr val="0F172A"/>
                </a:solidFill>
                <a:latin typeface="Calibri"/>
              </a:defRPr>
            </a:pPr>
            <a:r>
              <a:t>•  Antrean fisik posko 15–20 menit/orang akibat verifikasi berkas manual.</a:t>
            </a:r>
          </a:p>
          <a:p>
            <a:pPr>
              <a:spcAft>
                <a:spcPts val="300"/>
              </a:spcAft>
              <a:defRPr sz="1050">
                <a:solidFill>
                  <a:srgbClr val="0F172A"/>
                </a:solidFill>
                <a:latin typeface="Calibri"/>
              </a:defRPr>
            </a:pPr>
            <a:r>
              <a:t>•  Tebakan order pabrik memicu penumpukan dead-stock ukuran ekstrem.</a:t>
            </a:r>
          </a:p>
          <a:p>
            <a:pPr>
              <a:spcBef>
                <a:spcPts val="400"/>
              </a:spcBef>
              <a:defRPr sz="1000" b="1">
                <a:solidFill>
                  <a:srgbClr val="980517"/>
                </a:solidFill>
                <a:latin typeface="Calibri"/>
              </a:defRPr>
            </a:pPr>
            <a:r>
              <a:t>➔  Dampak: Modal Mengendap</a:t>
            </a:r>
          </a:p>
        </p:txBody>
      </p:sp>
      <p:sp>
        <p:nvSpPr>
          <p:cNvPr id="7" name="Rounded Rectangle 6"/>
          <p:cNvSpPr/>
          <p:nvPr/>
        </p:nvSpPr>
        <p:spPr>
          <a:xfrm>
            <a:off x="8010144" y="3520440"/>
            <a:ext cx="3429000" cy="26974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NIRWANA TEAM</a:t>
            </a:r>
          </a:p>
          <a:p>
            <a:pPr>
              <a:spcAft>
                <a:spcPts val="500"/>
              </a:spcAft>
              <a:defRPr sz="1250" b="1">
                <a:solidFill>
                  <a:srgbClr val="0F172A"/>
                </a:solidFill>
                <a:latin typeface="Arial"/>
              </a:defRPr>
            </a:pPr>
            <a:r>
              <a:t>Tim Pengembang Sistem</a:t>
            </a:r>
          </a:p>
          <a:p>
            <a:pPr>
              <a:spcAft>
                <a:spcPts val="300"/>
              </a:spcAft>
              <a:defRPr sz="1050">
                <a:solidFill>
                  <a:srgbClr val="0F172A"/>
                </a:solidFill>
                <a:latin typeface="Calibri"/>
              </a:defRPr>
            </a:pPr>
            <a:r>
              <a:t>•  Fhazar Raffiful Aqyla (Project Manager)</a:t>
            </a:r>
          </a:p>
          <a:p>
            <a:pPr>
              <a:spcAft>
                <a:spcPts val="300"/>
              </a:spcAft>
              <a:defRPr sz="1050">
                <a:solidFill>
                  <a:srgbClr val="0F172A"/>
                </a:solidFill>
                <a:latin typeface="Calibri"/>
              </a:defRPr>
            </a:pPr>
            <a:r>
              <a:t>•  Ferry Noer Hendriawan (Frontend) • Hildan (Backend)</a:t>
            </a:r>
          </a:p>
          <a:p>
            <a:pPr>
              <a:spcAft>
                <a:spcPts val="300"/>
              </a:spcAft>
              <a:defRPr sz="1050">
                <a:solidFill>
                  <a:srgbClr val="0F172A"/>
                </a:solidFill>
                <a:latin typeface="Calibri"/>
              </a:defRPr>
            </a:pPr>
            <a:r>
              <a:t>•  Fadel Rahmadhan (QA) • Daffa (UI/UX) • Acep (Analyst)</a:t>
            </a:r>
          </a:p>
          <a:p>
            <a:pPr>
              <a:spcBef>
                <a:spcPts val="400"/>
              </a:spcBef>
              <a:defRPr sz="1000" b="1">
                <a:solidFill>
                  <a:srgbClr val="980517"/>
                </a:solidFill>
                <a:latin typeface="Calibri"/>
              </a:defRPr>
            </a:pPr>
            <a:r>
              <a:t>➔  Horizon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PROFIL TIM PENGEMBANG</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Our Team • Nirwana Development Team</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Kolaborasi lintas disiplin dalam perancangan arsitektur, rekayasa kode, dan tata kelola platform UniStock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2286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erry.jpg"/>
          <p:cNvPicPr>
            <a:picLocks noChangeAspect="1"/>
          </p:cNvPicPr>
          <p:nvPr/>
        </p:nvPicPr>
        <p:blipFill>
          <a:blip r:embed="rId2"/>
          <a:stretch>
            <a:fillRect/>
          </a:stretch>
        </p:blipFill>
        <p:spPr>
          <a:xfrm>
            <a:off x="1965960" y="1554480"/>
            <a:ext cx="960120" cy="960120"/>
          </a:xfrm>
          <a:prstGeom prst="rect">
            <a:avLst/>
          </a:prstGeom>
        </p:spPr>
      </p:pic>
      <p:sp>
        <p:nvSpPr>
          <p:cNvPr id="9" name="Rounded Rectangle 8"/>
          <p:cNvSpPr/>
          <p:nvPr/>
        </p:nvSpPr>
        <p:spPr>
          <a:xfrm>
            <a:off x="982980" y="258775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FERRY NOER HENDRIAWAN</a:t>
            </a:r>
          </a:p>
        </p:txBody>
      </p:sp>
      <p:sp>
        <p:nvSpPr>
          <p:cNvPr id="10" name="TextBox 9"/>
          <p:cNvSpPr txBox="1"/>
          <p:nvPr/>
        </p:nvSpPr>
        <p:spPr>
          <a:xfrm>
            <a:off x="822960" y="2907791"/>
            <a:ext cx="3246120" cy="685800"/>
          </a:xfrm>
          <a:prstGeom prst="rect">
            <a:avLst/>
          </a:prstGeom>
          <a:noFill/>
        </p:spPr>
        <p:txBody>
          <a:bodyPr wrap="square" lIns="0" rIns="0" tIns="0" bIns="0">
            <a:spAutoFit/>
          </a:bodyPr>
          <a:lstStyle/>
          <a:p>
            <a:pPr algn="ctr">
              <a:spcAft>
                <a:spcPts val="200"/>
              </a:spcAft>
              <a:defRPr sz="1000" b="1">
                <a:solidFill>
                  <a:srgbClr val="0F172A"/>
                </a:solidFill>
                <a:latin typeface="Arial"/>
              </a:defRPr>
            </a:pPr>
            <a:r>
              <a:t>Frontend Developer</a:t>
            </a:r>
          </a:p>
          <a:p>
            <a:pPr algn="ctr">
              <a:defRPr sz="850">
                <a:solidFill>
                  <a:srgbClr val="64748B"/>
                </a:solidFill>
                <a:latin typeface="Calibri"/>
              </a:defRPr>
            </a:pPr>
            <a:r>
              <a:t>Blade + Tailwind • Responsive UI • Scanner Client</a:t>
            </a:r>
          </a:p>
        </p:txBody>
      </p:sp>
      <p:sp>
        <p:nvSpPr>
          <p:cNvPr id="11" name="Rounded Rectangle 10"/>
          <p:cNvSpPr/>
          <p:nvPr/>
        </p:nvSpPr>
        <p:spPr>
          <a:xfrm>
            <a:off x="4370832" y="1417320"/>
            <a:ext cx="3429000" cy="22860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hazar.jpg"/>
          <p:cNvPicPr>
            <a:picLocks noChangeAspect="1"/>
          </p:cNvPicPr>
          <p:nvPr/>
        </p:nvPicPr>
        <p:blipFill>
          <a:blip r:embed="rId3"/>
          <a:stretch>
            <a:fillRect/>
          </a:stretch>
        </p:blipFill>
        <p:spPr>
          <a:xfrm>
            <a:off x="5605272" y="1554480"/>
            <a:ext cx="960120" cy="960120"/>
          </a:xfrm>
          <a:prstGeom prst="rect">
            <a:avLst/>
          </a:prstGeom>
        </p:spPr>
      </p:pic>
      <p:sp>
        <p:nvSpPr>
          <p:cNvPr id="13" name="Rounded Rectangle 12"/>
          <p:cNvSpPr/>
          <p:nvPr/>
        </p:nvSpPr>
        <p:spPr>
          <a:xfrm>
            <a:off x="4622292" y="258775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FHAZAR RAFFIFUL AQYLA</a:t>
            </a:r>
          </a:p>
        </p:txBody>
      </p:sp>
      <p:sp>
        <p:nvSpPr>
          <p:cNvPr id="14" name="TextBox 13"/>
          <p:cNvSpPr txBox="1"/>
          <p:nvPr/>
        </p:nvSpPr>
        <p:spPr>
          <a:xfrm>
            <a:off x="4462272" y="2907791"/>
            <a:ext cx="3246120" cy="685800"/>
          </a:xfrm>
          <a:prstGeom prst="rect">
            <a:avLst/>
          </a:prstGeom>
          <a:noFill/>
        </p:spPr>
        <p:txBody>
          <a:bodyPr wrap="square" lIns="0" rIns="0" tIns="0" bIns="0">
            <a:spAutoFit/>
          </a:bodyPr>
          <a:lstStyle/>
          <a:p>
            <a:pPr algn="ctr">
              <a:spcAft>
                <a:spcPts val="200"/>
              </a:spcAft>
              <a:defRPr sz="1000" b="1">
                <a:solidFill>
                  <a:srgbClr val="980517"/>
                </a:solidFill>
                <a:latin typeface="Arial"/>
              </a:defRPr>
            </a:pPr>
            <a:r>
              <a:t>Project Manager</a:t>
            </a:r>
          </a:p>
          <a:p>
            <a:pPr algn="ctr">
              <a:defRPr sz="850">
                <a:solidFill>
                  <a:srgbClr val="64748B"/>
                </a:solidFill>
                <a:latin typeface="Calibri"/>
              </a:defRPr>
            </a:pPr>
            <a:r>
              <a:t>Scrum Master • Product Roadmap • SCM Strategy</a:t>
            </a:r>
          </a:p>
        </p:txBody>
      </p:sp>
      <p:sp>
        <p:nvSpPr>
          <p:cNvPr id="15" name="Rounded Rectangle 14"/>
          <p:cNvSpPr/>
          <p:nvPr/>
        </p:nvSpPr>
        <p:spPr>
          <a:xfrm>
            <a:off x="8010144" y="1417320"/>
            <a:ext cx="3429000" cy="2286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ildan.png"/>
          <p:cNvPicPr>
            <a:picLocks noChangeAspect="1"/>
          </p:cNvPicPr>
          <p:nvPr/>
        </p:nvPicPr>
        <p:blipFill>
          <a:blip r:embed="rId4"/>
          <a:stretch>
            <a:fillRect/>
          </a:stretch>
        </p:blipFill>
        <p:spPr>
          <a:xfrm>
            <a:off x="9244584" y="1554480"/>
            <a:ext cx="960120" cy="960120"/>
          </a:xfrm>
          <a:prstGeom prst="rect">
            <a:avLst/>
          </a:prstGeom>
        </p:spPr>
      </p:pic>
      <p:sp>
        <p:nvSpPr>
          <p:cNvPr id="17" name="Rounded Rectangle 16"/>
          <p:cNvSpPr/>
          <p:nvPr/>
        </p:nvSpPr>
        <p:spPr>
          <a:xfrm>
            <a:off x="8261604" y="258775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HILDAN ANUGRAH TAMADI PUTRA</a:t>
            </a:r>
          </a:p>
        </p:txBody>
      </p:sp>
      <p:sp>
        <p:nvSpPr>
          <p:cNvPr id="18" name="TextBox 17"/>
          <p:cNvSpPr txBox="1"/>
          <p:nvPr/>
        </p:nvSpPr>
        <p:spPr>
          <a:xfrm>
            <a:off x="8101583" y="2907791"/>
            <a:ext cx="3246120" cy="685800"/>
          </a:xfrm>
          <a:prstGeom prst="rect">
            <a:avLst/>
          </a:prstGeom>
          <a:noFill/>
        </p:spPr>
        <p:txBody>
          <a:bodyPr wrap="square" lIns="0" rIns="0" tIns="0" bIns="0">
            <a:spAutoFit/>
          </a:bodyPr>
          <a:lstStyle/>
          <a:p>
            <a:pPr algn="ctr">
              <a:spcAft>
                <a:spcPts val="200"/>
              </a:spcAft>
              <a:defRPr sz="1000" b="1">
                <a:solidFill>
                  <a:srgbClr val="0F172A"/>
                </a:solidFill>
                <a:latin typeface="Arial"/>
              </a:defRPr>
            </a:pPr>
            <a:r>
              <a:t>Backend Developer</a:t>
            </a:r>
          </a:p>
          <a:p>
            <a:pPr algn="ctr">
              <a:defRPr sz="850">
                <a:solidFill>
                  <a:srgbClr val="64748B"/>
                </a:solidFill>
                <a:latin typeface="Calibri"/>
              </a:defRPr>
            </a:pPr>
            <a:r>
              <a:t>Laravel 12 • FIFO Engine • Pessimistic Lock</a:t>
            </a:r>
          </a:p>
        </p:txBody>
      </p:sp>
      <p:sp>
        <p:nvSpPr>
          <p:cNvPr id="19" name="Rounded Rectangle 18"/>
          <p:cNvSpPr/>
          <p:nvPr/>
        </p:nvSpPr>
        <p:spPr>
          <a:xfrm>
            <a:off x="731520" y="3886200"/>
            <a:ext cx="3429000" cy="2286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fadel.png"/>
          <p:cNvPicPr>
            <a:picLocks noChangeAspect="1"/>
          </p:cNvPicPr>
          <p:nvPr/>
        </p:nvPicPr>
        <p:blipFill>
          <a:blip r:embed="rId5"/>
          <a:stretch>
            <a:fillRect/>
          </a:stretch>
        </p:blipFill>
        <p:spPr>
          <a:xfrm>
            <a:off x="1965960" y="4023360"/>
            <a:ext cx="960120" cy="960120"/>
          </a:xfrm>
          <a:prstGeom prst="rect">
            <a:avLst/>
          </a:prstGeom>
        </p:spPr>
      </p:pic>
      <p:sp>
        <p:nvSpPr>
          <p:cNvPr id="21" name="Rounded Rectangle 20"/>
          <p:cNvSpPr/>
          <p:nvPr/>
        </p:nvSpPr>
        <p:spPr>
          <a:xfrm>
            <a:off x="982980" y="505663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FADEL RAHMADHAN</a:t>
            </a:r>
          </a:p>
        </p:txBody>
      </p:sp>
      <p:sp>
        <p:nvSpPr>
          <p:cNvPr id="22" name="TextBox 21"/>
          <p:cNvSpPr txBox="1"/>
          <p:nvPr/>
        </p:nvSpPr>
        <p:spPr>
          <a:xfrm>
            <a:off x="822960" y="5376672"/>
            <a:ext cx="3246120" cy="685800"/>
          </a:xfrm>
          <a:prstGeom prst="rect">
            <a:avLst/>
          </a:prstGeom>
          <a:noFill/>
        </p:spPr>
        <p:txBody>
          <a:bodyPr wrap="square" lIns="0" rIns="0" tIns="0" bIns="0">
            <a:spAutoFit/>
          </a:bodyPr>
          <a:lstStyle/>
          <a:p>
            <a:pPr algn="ctr">
              <a:spcAft>
                <a:spcPts val="200"/>
              </a:spcAft>
              <a:defRPr sz="1000" b="1">
                <a:solidFill>
                  <a:srgbClr val="0F172A"/>
                </a:solidFill>
                <a:latin typeface="Arial"/>
              </a:defRPr>
            </a:pPr>
            <a:r>
              <a:t>Quality Assurance</a:t>
            </a:r>
          </a:p>
          <a:p>
            <a:pPr algn="ctr">
              <a:defRPr sz="850">
                <a:solidFill>
                  <a:srgbClr val="64748B"/>
                </a:solidFill>
                <a:latin typeface="Calibri"/>
              </a:defRPr>
            </a:pPr>
            <a:r>
              <a:t>Blackbox Testing • Stress Load • Anti-Double Claim</a:t>
            </a:r>
          </a:p>
        </p:txBody>
      </p:sp>
      <p:sp>
        <p:nvSpPr>
          <p:cNvPr id="23" name="Rounded Rectangle 22"/>
          <p:cNvSpPr/>
          <p:nvPr/>
        </p:nvSpPr>
        <p:spPr>
          <a:xfrm>
            <a:off x="4370832" y="3886200"/>
            <a:ext cx="3429000" cy="2286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daffa.jpg"/>
          <p:cNvPicPr>
            <a:picLocks noChangeAspect="1"/>
          </p:cNvPicPr>
          <p:nvPr/>
        </p:nvPicPr>
        <p:blipFill>
          <a:blip r:embed="rId6"/>
          <a:stretch>
            <a:fillRect/>
          </a:stretch>
        </p:blipFill>
        <p:spPr>
          <a:xfrm>
            <a:off x="5605272" y="4023360"/>
            <a:ext cx="960120" cy="960120"/>
          </a:xfrm>
          <a:prstGeom prst="rect">
            <a:avLst/>
          </a:prstGeom>
        </p:spPr>
      </p:pic>
      <p:sp>
        <p:nvSpPr>
          <p:cNvPr id="25" name="Rounded Rectangle 24"/>
          <p:cNvSpPr/>
          <p:nvPr/>
        </p:nvSpPr>
        <p:spPr>
          <a:xfrm>
            <a:off x="4622292" y="505663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DAFFA NAZRIEL ZAIDAN</a:t>
            </a:r>
          </a:p>
        </p:txBody>
      </p:sp>
      <p:sp>
        <p:nvSpPr>
          <p:cNvPr id="26" name="TextBox 25"/>
          <p:cNvSpPr txBox="1"/>
          <p:nvPr/>
        </p:nvSpPr>
        <p:spPr>
          <a:xfrm>
            <a:off x="4462272" y="5376672"/>
            <a:ext cx="3246120" cy="685800"/>
          </a:xfrm>
          <a:prstGeom prst="rect">
            <a:avLst/>
          </a:prstGeom>
          <a:noFill/>
        </p:spPr>
        <p:txBody>
          <a:bodyPr wrap="square" lIns="0" rIns="0" tIns="0" bIns="0">
            <a:spAutoFit/>
          </a:bodyPr>
          <a:lstStyle/>
          <a:p>
            <a:pPr algn="ctr">
              <a:spcAft>
                <a:spcPts val="200"/>
              </a:spcAft>
              <a:defRPr sz="1000" b="1">
                <a:solidFill>
                  <a:srgbClr val="0F172A"/>
                </a:solidFill>
                <a:latin typeface="Arial"/>
              </a:defRPr>
            </a:pPr>
            <a:r>
              <a:t>UI/UX Designer</a:t>
            </a:r>
          </a:p>
          <a:p>
            <a:pPr algn="ctr">
              <a:defRPr sz="850">
                <a:solidFill>
                  <a:srgbClr val="64748B"/>
                </a:solidFill>
                <a:latin typeface="Calibri"/>
              </a:defRPr>
            </a:pPr>
            <a:r>
              <a:t>Neo-Brutalist Design • Student Flow • Usability Test</a:t>
            </a:r>
          </a:p>
        </p:txBody>
      </p:sp>
      <p:sp>
        <p:nvSpPr>
          <p:cNvPr id="27" name="Rounded Rectangle 26"/>
          <p:cNvSpPr/>
          <p:nvPr/>
        </p:nvSpPr>
        <p:spPr>
          <a:xfrm>
            <a:off x="8010144" y="3886200"/>
            <a:ext cx="3429000" cy="22860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acep.png"/>
          <p:cNvPicPr>
            <a:picLocks noChangeAspect="1"/>
          </p:cNvPicPr>
          <p:nvPr/>
        </p:nvPicPr>
        <p:blipFill>
          <a:blip r:embed="rId7"/>
          <a:stretch>
            <a:fillRect/>
          </a:stretch>
        </p:blipFill>
        <p:spPr>
          <a:xfrm>
            <a:off x="9244584" y="4023360"/>
            <a:ext cx="960120" cy="960120"/>
          </a:xfrm>
          <a:prstGeom prst="rect">
            <a:avLst/>
          </a:prstGeom>
        </p:spPr>
      </p:pic>
      <p:sp>
        <p:nvSpPr>
          <p:cNvPr id="29" name="Rounded Rectangle 28"/>
          <p:cNvSpPr/>
          <p:nvPr/>
        </p:nvSpPr>
        <p:spPr>
          <a:xfrm>
            <a:off x="8261604" y="5056632"/>
            <a:ext cx="2926080" cy="292608"/>
          </a:xfrm>
          <a:prstGeom prst="roundRect">
            <a:avLst/>
          </a:prstGeom>
          <a:solidFill>
            <a:srgbClr val="98051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defRPr sz="850" b="1">
                <a:solidFill>
                  <a:srgbClr val="FFFFFF"/>
                </a:solidFill>
                <a:latin typeface="Arial"/>
              </a:defRPr>
            </a:pPr>
            <a:r>
              <a:t>ACEP UGAN SAPUTRA</a:t>
            </a:r>
          </a:p>
        </p:txBody>
      </p:sp>
      <p:sp>
        <p:nvSpPr>
          <p:cNvPr id="30" name="TextBox 29"/>
          <p:cNvSpPr txBox="1"/>
          <p:nvPr/>
        </p:nvSpPr>
        <p:spPr>
          <a:xfrm>
            <a:off x="8101583" y="5376672"/>
            <a:ext cx="3246120" cy="685800"/>
          </a:xfrm>
          <a:prstGeom prst="rect">
            <a:avLst/>
          </a:prstGeom>
          <a:noFill/>
        </p:spPr>
        <p:txBody>
          <a:bodyPr wrap="square" lIns="0" rIns="0" tIns="0" bIns="0">
            <a:spAutoFit/>
          </a:bodyPr>
          <a:lstStyle/>
          <a:p>
            <a:pPr algn="ctr">
              <a:spcAft>
                <a:spcPts val="200"/>
              </a:spcAft>
              <a:defRPr sz="1000" b="1">
                <a:solidFill>
                  <a:srgbClr val="0F172A"/>
                </a:solidFill>
                <a:latin typeface="Arial"/>
              </a:defRPr>
            </a:pPr>
            <a:r>
              <a:t>System Analyst</a:t>
            </a:r>
          </a:p>
          <a:p>
            <a:pPr algn="ctr">
              <a:defRPr sz="850">
                <a:solidFill>
                  <a:srgbClr val="64748B"/>
                </a:solidFill>
                <a:latin typeface="Calibri"/>
              </a:defRPr>
            </a:pPr>
            <a:r>
              <a:t>BPMN Process • Relational Database • SCM Audit Trail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STRUKTUR RANTAI PASOK</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Pemetaan Stakeholder &amp; Aliran Fisik Barang</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Aliran terpadu dari pabrik vendor hingga serah terima mahasiswa dengan prinsip 'Data Mengunci Fisik'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500"/>
              </a:spcAft>
              <a:defRPr sz="1250" b="1">
                <a:solidFill>
                  <a:srgbClr val="0F172A"/>
                </a:solidFill>
                <a:latin typeface="Arial"/>
              </a:defRPr>
            </a:pPr>
            <a:r>
              <a:t>Pabrik Garmen &amp; Sepatu</a:t>
            </a:r>
          </a:p>
          <a:p>
            <a:pPr>
              <a:spcAft>
                <a:spcPts val="300"/>
              </a:spcAft>
              <a:defRPr sz="1050">
                <a:solidFill>
                  <a:srgbClr val="0F172A"/>
                </a:solidFill>
                <a:latin typeface="Calibri"/>
              </a:defRPr>
            </a:pPr>
            <a:r>
              <a:t>•  Memproduksi paket seragam dan sepatu sesuai pesanan pengadaan kampus (PO).</a:t>
            </a:r>
          </a:p>
          <a:p>
            <a:pPr>
              <a:spcAft>
                <a:spcPts val="300"/>
              </a:spcAft>
              <a:defRPr sz="1050">
                <a:solidFill>
                  <a:srgbClr val="0F172A"/>
                </a:solidFill>
                <a:latin typeface="Calibri"/>
              </a:defRPr>
            </a:pPr>
            <a:r>
              <a:t>•  Menerapkan standarisasi kode SKU per kategori dan ukuran.</a:t>
            </a:r>
          </a:p>
          <a:p>
            <a:pPr>
              <a:spcAft>
                <a:spcPts val="300"/>
              </a:spcAft>
              <a:defRPr sz="1050">
                <a:solidFill>
                  <a:srgbClr val="0F172A"/>
                </a:solidFill>
                <a:latin typeface="Calibri"/>
              </a:defRPr>
            </a:pPr>
            <a:r>
              <a:t>•  Titik Barang: Pengiriman kontainer stok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500"/>
              </a:spcAft>
              <a:defRPr sz="1250" b="1">
                <a:solidFill>
                  <a:srgbClr val="0F172A"/>
                </a:solidFill>
                <a:latin typeface="Arial"/>
              </a:defRPr>
            </a:pPr>
            <a:r>
              <a:t>Gudang Logistik Kampus</a:t>
            </a:r>
          </a:p>
          <a:p>
            <a:pPr>
              <a:spcAft>
                <a:spcPts val="300"/>
              </a:spcAft>
              <a:defRPr sz="1050">
                <a:solidFill>
                  <a:srgbClr val="0F172A"/>
                </a:solidFill>
                <a:latin typeface="Calibri"/>
              </a:defRPr>
            </a:pPr>
            <a:r>
              <a:t>•  Penerimaan fisik barang (StockReceive) dan pemeriksaan mutu (QC).</a:t>
            </a:r>
          </a:p>
          <a:p>
            <a:pPr>
              <a:spcAft>
                <a:spcPts val="300"/>
              </a:spcAft>
              <a:defRPr sz="1050">
                <a:solidFill>
                  <a:srgbClr val="0F172A"/>
                </a:solidFill>
                <a:latin typeface="Calibri"/>
              </a:defRPr>
            </a:pPr>
            <a:r>
              <a:t>•  Pencatatan batch urutan FIFO (First-In, First-Out) dan penetapan harga beli unit.</a:t>
            </a:r>
          </a:p>
          <a:p>
            <a:pPr>
              <a:spcAft>
                <a:spcPts val="300"/>
              </a:spcAft>
              <a:defRPr sz="1050">
                <a:solidFill>
                  <a:srgbClr val="0F172A"/>
                </a:solidFill>
                <a:latin typeface="Calibri"/>
              </a:defRPr>
            </a:pPr>
            <a:r>
              <a:t>•  Titik Barang: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VERIFIKATOR &amp; LOKET</a:t>
            </a:r>
          </a:p>
          <a:p>
            <a:pPr>
              <a:spcAft>
                <a:spcPts val="500"/>
              </a:spcAft>
              <a:defRPr sz="1250" b="1">
                <a:solidFill>
                  <a:srgbClr val="0F172A"/>
                </a:solidFill>
                <a:latin typeface="Arial"/>
              </a:defRPr>
            </a:pPr>
            <a:r>
              <a:t>Staf Keuangan &amp; Posko</a:t>
            </a:r>
          </a:p>
          <a:p>
            <a:pPr>
              <a:spcAft>
                <a:spcPts val="300"/>
              </a:spcAft>
              <a:defRPr sz="1050">
                <a:solidFill>
                  <a:srgbClr val="0F172A"/>
                </a:solidFill>
                <a:latin typeface="Calibri"/>
              </a:defRPr>
            </a:pPr>
            <a:r>
              <a:t>•  Keuangan: Otorisasi status pelunasan biaya kuliah mahasiswa (Eligibility).</a:t>
            </a:r>
          </a:p>
          <a:p>
            <a:pPr>
              <a:spcAft>
                <a:spcPts val="300"/>
              </a:spcAft>
              <a:defRPr sz="1050">
                <a:solidFill>
                  <a:srgbClr val="0F172A"/>
                </a:solidFill>
                <a:latin typeface="Calibri"/>
              </a:defRPr>
            </a:pPr>
            <a:r>
              <a:t>•  Staf Posko: Melayani meja pembagian fisik seragam di posko kampus.</a:t>
            </a:r>
          </a:p>
          <a:p>
            <a:pPr>
              <a:spcAft>
                <a:spcPts val="300"/>
              </a:spcAft>
              <a:defRPr sz="1050">
                <a:solidFill>
                  <a:srgbClr val="0F172A"/>
                </a:solidFill>
                <a:latin typeface="Calibri"/>
              </a:defRPr>
            </a:pPr>
            <a:r>
              <a:t>•  Titik Kritis: Validasi identitas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500"/>
              </a:spcAft>
              <a:defRPr sz="1250" b="1">
                <a:solidFill>
                  <a:srgbClr val="0F172A"/>
                </a:solidFill>
                <a:latin typeface="Arial"/>
              </a:defRPr>
            </a:pPr>
            <a:r>
              <a:t>Mahasiswa (Customer)</a:t>
            </a:r>
          </a:p>
          <a:p>
            <a:pPr>
              <a:spcAft>
                <a:spcPts val="300"/>
              </a:spcAft>
              <a:defRPr sz="1050">
                <a:solidFill>
                  <a:srgbClr val="0F172A"/>
                </a:solidFill>
                <a:latin typeface="Calibri"/>
              </a:defRPr>
            </a:pPr>
            <a:r>
              <a:t>•  Konsumen akhir yang memiliki hak jatah barang (Entitlement) sesuai prodi.</a:t>
            </a:r>
          </a:p>
          <a:p>
            <a:pPr>
              <a:spcAft>
                <a:spcPts val="300"/>
              </a:spcAft>
              <a:defRPr sz="1050">
                <a:solidFill>
                  <a:srgbClr val="0F172A"/>
                </a:solidFill>
                <a:latin typeface="Calibri"/>
              </a:defRPr>
            </a:pPr>
            <a:r>
              <a:t>•  Mengisi profil ukuran mandiri di web dan menerima tiket jadwal pembagian.</a:t>
            </a:r>
          </a:p>
          <a:p>
            <a:pPr>
              <a:spcAft>
                <a:spcPts val="300"/>
              </a:spcAft>
              <a:defRPr sz="1050">
                <a:solidFill>
                  <a:srgbClr val="0F172A"/>
                </a:solidFill>
                <a:latin typeface="Calibri"/>
              </a:defRPr>
            </a:pPr>
            <a:r>
              <a:t>•  Titik Info: Menunjukkan tiket QR Code beresolusi tinggi (NIM murni) di loket.</a:t>
            </a:r>
          </a:p>
          <a:p>
            <a:pPr>
              <a:spcBef>
                <a:spcPts val="400"/>
              </a:spcBef>
              <a:defRPr sz="1000" b="1">
                <a:solidFill>
                  <a:srgbClr val="980517"/>
                </a:solidFill>
                <a:latin typeface="Calibri"/>
              </a:defRPr>
            </a:pPr>
            <a:r>
              <a:t>➔  Aliran: Profil ➔ Seragam Pas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MASALAH SISTEM LAMA</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Evaluasi Kendala Operasional &amp; Dampak Sistemik</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Analisis akar masalah pengelolaan manual terhadap pembengkakan biaya, waktu kerja, dan penurunan mutu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800600"/>
        </p:xfrm>
        <a:graphic>
          <a:graphicData uri="http://schemas.openxmlformats.org/drawingml/2006/table">
            <a:tbl>
              <a:tblPr firstRow="1" bandRow="1">
                <a:tableStyleId>{5C22544A-7EE6-4342-B048-85BDC9FD1C3A}</a:tableStyleId>
              </a:tblPr>
              <a:tblGrid>
                <a:gridCol w="2926080"/>
                <a:gridCol w="3840480"/>
                <a:gridCol w="3962095"/>
              </a:tblGrid>
              <a:tr h="960120">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960120">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960120">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960120">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960120">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ALIRAN INFORMASI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Titik Kemacetan &amp; Isolasi Data (As-Is State)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Hambatan komunikasi antarbagian yang memicu keterlambatan, inkonsistensi data, dan pembatalan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500"/>
              </a:spcAft>
              <a:defRPr sz="1250" b="1">
                <a:solidFill>
                  <a:srgbClr val="0F172A"/>
                </a:solidFill>
                <a:latin typeface="Arial"/>
              </a:defRPr>
            </a:pPr>
            <a:r>
              <a:t>Kebutuhan: Profil Ukuran &amp; Jadwal</a:t>
            </a:r>
          </a:p>
          <a:p>
            <a:pPr>
              <a:spcAft>
                <a:spcPts val="300"/>
              </a:spcAft>
              <a:defRPr sz="1050">
                <a:solidFill>
                  <a:srgbClr val="0F172A"/>
                </a:solidFill>
                <a:latin typeface="Calibri"/>
              </a:defRPr>
            </a:pPr>
            <a:r>
              <a:t>•  Asal &amp; Tujuan: Mahasiswa mengisi form ke kampus dan menerima jadwal pembagian via email.</a:t>
            </a:r>
          </a:p>
          <a:p>
            <a:pPr>
              <a:spcAft>
                <a:spcPts val="300"/>
              </a:spcAft>
              <a:defRPr sz="1050">
                <a:solidFill>
                  <a:srgbClr val="0F172A"/>
                </a:solidFill>
                <a:latin typeface="Calibri"/>
              </a:defRPr>
            </a:pPr>
            <a:r>
              <a:t>•  Titik Masalah: Google Form terpisah tanpa validasi SKU baku, memicu input ganda dan rekapitulasi data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33172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500"/>
              </a:spcAft>
              <a:defRPr sz="1250" b="1">
                <a:solidFill>
                  <a:srgbClr val="0F172A"/>
                </a:solidFill>
                <a:latin typeface="Arial"/>
              </a:defRPr>
            </a:pPr>
            <a:r>
              <a:t>Kebutuhan: Status Lunas (Eligibility)</a:t>
            </a:r>
          </a:p>
          <a:p>
            <a:pPr>
              <a:spcAft>
                <a:spcPts val="300"/>
              </a:spcAft>
              <a:defRPr sz="1050">
                <a:solidFill>
                  <a:srgbClr val="0F172A"/>
                </a:solidFill>
                <a:latin typeface="Calibri"/>
              </a:defRPr>
            </a:pPr>
            <a:r>
              <a:t>•  Asal &amp; Tujuan: Staf Keuangan mengekspor data lunas ke staf meja posko pembagian seragam.</a:t>
            </a:r>
          </a:p>
          <a:p>
            <a:pPr>
              <a:spcAft>
                <a:spcPts val="3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500"/>
              </a:spcAft>
              <a:defRPr sz="1250" b="1">
                <a:solidFill>
                  <a:srgbClr val="0F172A"/>
                </a:solidFill>
                <a:latin typeface="Arial"/>
              </a:defRPr>
            </a:pPr>
            <a:r>
              <a:t>Kebutuhan: Kuota Hak &amp; Kartu Mutasi</a:t>
            </a:r>
          </a:p>
          <a:p>
            <a:pPr>
              <a:spcAft>
                <a:spcPts val="300"/>
              </a:spcAft>
              <a:defRPr sz="1050">
                <a:solidFill>
                  <a:srgbClr val="0F172A"/>
                </a:solidFill>
                <a:latin typeface="Calibri"/>
              </a:defRPr>
            </a:pPr>
            <a:r>
              <a:t>•  Asal &amp; Tujuan: Staf posko memverifikasi paket hak prodi dan mencatat mutasi seragam yang keluar.</a:t>
            </a:r>
          </a:p>
          <a:p>
            <a:pPr>
              <a:spcAft>
                <a:spcPts val="3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500"/>
              </a:spcAft>
              <a:defRPr sz="1250" b="1">
                <a:solidFill>
                  <a:srgbClr val="0F172A"/>
                </a:solidFill>
                <a:latin typeface="Arial"/>
              </a:defRPr>
            </a:pPr>
            <a:r>
              <a:t>Kebutuhan: Purchase Order Agregat</a:t>
            </a:r>
          </a:p>
          <a:p>
            <a:pPr>
              <a:spcAft>
                <a:spcPts val="300"/>
              </a:spcAft>
              <a:defRPr sz="1050">
                <a:solidFill>
                  <a:srgbClr val="0F172A"/>
                </a:solidFill>
                <a:latin typeface="Calibri"/>
              </a:defRPr>
            </a:pPr>
            <a:r>
              <a:t>•  Asal &amp; Tujuan: Pengadaan kampus mengirim rincian jumlah potong seragam dan sepatu ke pabrik.</a:t>
            </a:r>
          </a:p>
          <a:p>
            <a:pPr>
              <a:spcAft>
                <a:spcPts val="3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REKOMENDASI SISTEM TERPADU</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Pemilihan Arsitektur Sistem Informasi (UniStock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Integrasi empat pilar sistem: ERP, SCM, POS, dan WMS dalam satu platform web modern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800600"/>
        </p:xfrm>
        <a:graphic>
          <a:graphicData uri="http://schemas.openxmlformats.org/drawingml/2006/table">
            <a:tbl>
              <a:tblPr firstRow="1" bandRow="1">
                <a:tableStyleId>{5C22544A-7EE6-4342-B048-85BDC9FD1C3A}</a:tableStyleId>
              </a:tblPr>
              <a:tblGrid>
                <a:gridCol w="2286000"/>
                <a:gridCol w="2651760"/>
                <a:gridCol w="3749039"/>
                <a:gridCol w="2041855"/>
              </a:tblGrid>
              <a:tr h="960120">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960120">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960120">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960120">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960120">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DESAIN ARSITEKTUR SOLUSI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Aliran 4-Fase Closed-Loop Supply Chain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Konektivitas sistem end-to-end, pemrosesan transaksi atomik, dan closed-loop data feedback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500"/>
              </a:spcAft>
              <a:defRPr sz="1250" b="1">
                <a:solidFill>
                  <a:srgbClr val="0F172A"/>
                </a:solidFill>
                <a:latin typeface="Arial"/>
              </a:defRPr>
            </a:pPr>
            <a:r>
              <a:t>Inbound &amp; Batch FIFO</a:t>
            </a:r>
          </a:p>
          <a:p>
            <a:pPr>
              <a:spcAft>
                <a:spcPts val="300"/>
              </a:spcAft>
              <a:defRPr sz="1050">
                <a:solidFill>
                  <a:srgbClr val="0F172A"/>
                </a:solidFill>
                <a:latin typeface="Calibri"/>
              </a:defRPr>
            </a:pPr>
            <a:r>
              <a:t>•  Pencatatan barang dari vendor garmen pada modul StockReceive.</a:t>
            </a:r>
          </a:p>
          <a:p>
            <a:pPr>
              <a:spcAft>
                <a:spcPts val="300"/>
              </a:spcAft>
              <a:defRPr sz="1050">
                <a:solidFill>
                  <a:srgbClr val="0F172A"/>
                </a:solidFill>
                <a:latin typeface="Calibri"/>
              </a:defRPr>
            </a:pPr>
            <a:r>
              <a:t>•  Sistem menerbitkan ID batch terurut (FIFO Queue Sequence).</a:t>
            </a:r>
          </a:p>
          <a:p>
            <a:pPr>
              <a:spcAft>
                <a:spcPts val="3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500"/>
              </a:spcAft>
              <a:defRPr sz="1250" b="1">
                <a:solidFill>
                  <a:srgbClr val="0F172A"/>
                </a:solidFill>
                <a:latin typeface="Arial"/>
              </a:defRPr>
            </a:pPr>
            <a:r>
              <a:t>Eligibility &amp; Profiling</a:t>
            </a:r>
          </a:p>
          <a:p>
            <a:pPr>
              <a:spcAft>
                <a:spcPts val="300"/>
              </a:spcAft>
              <a:defRPr sz="1050">
                <a:solidFill>
                  <a:srgbClr val="0F172A"/>
                </a:solidFill>
                <a:latin typeface="Calibri"/>
              </a:defRPr>
            </a:pPr>
            <a:r>
              <a:t>•  Keuangan mengaktifkan data mahasiswa lunas di EligibilityRecord.</a:t>
            </a:r>
          </a:p>
          <a:p>
            <a:pPr>
              <a:spcAft>
                <a:spcPts val="300"/>
              </a:spcAft>
              <a:defRPr sz="1050">
                <a:solidFill>
                  <a:srgbClr val="0F172A"/>
                </a:solidFill>
                <a:latin typeface="Calibri"/>
              </a:defRPr>
            </a:pPr>
            <a:r>
              <a:t>•  Mahasiswa input profil ukuran badan mandiri di event portal.</a:t>
            </a:r>
          </a:p>
          <a:p>
            <a:pPr>
              <a:spcAft>
                <a:spcPts val="3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500"/>
              </a:spcAft>
              <a:defRPr sz="1250" b="1">
                <a:solidFill>
                  <a:srgbClr val="0F172A"/>
                </a:solidFill>
                <a:latin typeface="Arial"/>
              </a:defRPr>
            </a:pPr>
            <a:r>
              <a:t>POS QR &amp; 6-Lapis Validasi</a:t>
            </a:r>
          </a:p>
          <a:p>
            <a:pPr>
              <a:spcAft>
                <a:spcPts val="300"/>
              </a:spcAft>
              <a:defRPr sz="1050">
                <a:solidFill>
                  <a:srgbClr val="0F172A"/>
                </a:solidFill>
                <a:latin typeface="Calibri"/>
              </a:defRPr>
            </a:pPr>
            <a:r>
              <a:t>•  Staf memindai QR NIM mahasiswa di loket posko kampus.</a:t>
            </a:r>
          </a:p>
          <a:p>
            <a:pPr>
              <a:spcAft>
                <a:spcPts val="300"/>
              </a:spcAft>
              <a:defRPr sz="1050">
                <a:solidFill>
                  <a:srgbClr val="0F172A"/>
                </a:solidFill>
                <a:latin typeface="Calibri"/>
              </a:defRPr>
            </a:pPr>
            <a:r>
              <a:t>•  Eksekusi 6-Lapis Validasi Atomik via pessimistic lock (lockForUpdate).</a:t>
            </a:r>
          </a:p>
          <a:p>
            <a:pPr>
              <a:spcAft>
                <a:spcPts val="3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500"/>
              </a:spcAft>
              <a:defRPr sz="1250" b="1">
                <a:solidFill>
                  <a:srgbClr val="0F172A"/>
                </a:solidFill>
                <a:latin typeface="Arial"/>
              </a:defRPr>
            </a:pPr>
            <a:r>
              <a:t>Opname &amp; Closed-Loop</a:t>
            </a:r>
          </a:p>
          <a:p>
            <a:pPr>
              <a:spcAft>
                <a:spcPts val="300"/>
              </a:spcAft>
              <a:defRPr sz="1050">
                <a:solidFill>
                  <a:srgbClr val="0F172A"/>
                </a:solidFill>
                <a:latin typeface="Calibri"/>
              </a:defRPr>
            </a:pPr>
            <a:r>
              <a:t>•  Stock Opname fisik berkala menghitung selisih variance otomatis.</a:t>
            </a:r>
          </a:p>
          <a:p>
            <a:pPr>
              <a:spcAft>
                <a:spcPts val="300"/>
              </a:spcAft>
              <a:defRPr sz="1050">
                <a:solidFill>
                  <a:srgbClr val="0F172A"/>
                </a:solidFill>
                <a:latin typeface="Calibri"/>
              </a:defRPr>
            </a:pPr>
            <a:r>
              <a:t>•  Penerbitan jurnal penyesuaian susut/surplus stok gudang.</a:t>
            </a:r>
          </a:p>
          <a:p>
            <a:pPr>
              <a:spcAft>
                <a:spcPts val="3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RENCANA PENERAPAN &amp; MITIGASI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Prioritas Implementasi &amp; Manajemen Risiko Lapangan</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Tahapan kesiapan operasional serta prosedur kontingensi darurat saat hari-H distribusi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500"/>
              </a:spcAft>
              <a:defRPr sz="1250" b="1">
                <a:solidFill>
                  <a:srgbClr val="0F172A"/>
                </a:solidFill>
                <a:latin typeface="Arial"/>
              </a:defRPr>
            </a:pPr>
            <a:r>
              <a:t>Tahapan Kesiapan Sistem</a:t>
            </a:r>
          </a:p>
          <a:p>
            <a:pPr>
              <a:spcAft>
                <a:spcPts val="300"/>
              </a:spcAft>
              <a:defRPr sz="1050">
                <a:solidFill>
                  <a:srgbClr val="0F172A"/>
                </a:solidFill>
                <a:latin typeface="Calibri"/>
              </a:defRPr>
            </a:pPr>
            <a:r>
              <a:t>•  Prioritas 1 (Master Data): Pembersihan data lama, pembuatan skema SKU 5-segmen, impor data mahasiswa, dan konfigurasi hak seragam prodi.</a:t>
            </a:r>
          </a:p>
          <a:p>
            <a:pPr>
              <a:spcAft>
                <a:spcPts val="3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3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LAPANGAN &amp; CARA MITIGASI</a:t>
            </a:r>
          </a:p>
          <a:p>
            <a:pPr>
              <a:spcAft>
                <a:spcPts val="500"/>
              </a:spcAft>
              <a:defRPr sz="1250" b="1">
                <a:solidFill>
                  <a:srgbClr val="0F172A"/>
                </a:solidFill>
                <a:latin typeface="Arial"/>
              </a:defRPr>
            </a:pPr>
            <a:r>
              <a:t>SOP Kontingensi Hari-H Posko</a:t>
            </a:r>
          </a:p>
          <a:p>
            <a:pPr>
              <a:spcAft>
                <a:spcPts val="300"/>
              </a:spcAft>
              <a:defRPr sz="1050">
                <a:solidFill>
                  <a:srgbClr val="0F172A"/>
                </a:solidFill>
                <a:latin typeface="Calibri"/>
              </a:defRPr>
            </a:pPr>
            <a:r>
              <a:t>•  RISIKO 1 (Baterai HP Mati / QR Rusak): Fallback Search manual via NIM atau Nama langsung memanggil profil hak seketika.</a:t>
            </a:r>
          </a:p>
          <a:p>
            <a:pPr>
              <a:spcAft>
                <a:spcPts val="300"/>
              </a:spcAft>
              <a:defRPr sz="1050">
                <a:solidFill>
                  <a:srgbClr val="0F172A"/>
                </a:solidFill>
                <a:latin typeface="Calibri"/>
              </a:defRPr>
            </a:pPr>
            <a:r>
              <a:t>•  RISIKO 2 (Ukuran Rak Habis / Fitting Beda): Fitur Partial Pickup serahkan barang yang tersedia tanpa menghanguskan sisa hak.</a:t>
            </a:r>
          </a:p>
          <a:p>
            <a:pPr>
              <a:spcAft>
                <a:spcPts val="300"/>
              </a:spcAft>
              <a:defRPr sz="1050">
                <a:solidFill>
                  <a:srgbClr val="0F172A"/>
                </a:solidFill>
                <a:latin typeface="Calibri"/>
              </a:defRPr>
            </a:pPr>
            <a:r>
              <a:t>•  RISIKO 3 (Jaringan Internet Kampus Lambat): Pessimistic Row Locking (lockForUpdate) dan idempotensi menjamin nol pemotongan ganda.</a:t>
            </a:r>
          </a:p>
          <a:p>
            <a:pPr>
              <a:spcBef>
                <a:spcPts val="400"/>
              </a:spcBef>
              <a:defRPr sz="1000" b="1">
                <a:solidFill>
                  <a:srgbClr val="980517"/>
                </a:solidFill>
                <a:latin typeface="Calibri"/>
              </a:defRPr>
            </a:pPr>
            <a:r>
              <a:t>➔  Toleransi Kesalahan: Resiliensi Operasional Tinggi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KESIMPULAN &amp; HASIL TERUKUR</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Dampak Strategis &amp; Manfaat Nyata Implementasi</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Transformasi operasional Departemen Keuangan Universitas Horizon Indonesia pasca-digitalisasi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500"/>
              </a:spcAft>
              <a:defRPr sz="1250" b="1">
                <a:solidFill>
                  <a:srgbClr val="0F172A"/>
                </a:solidFill>
                <a:latin typeface="Arial"/>
              </a:defRPr>
            </a:pPr>
            <a:r>
              <a:t>&lt; 30 Detik per Mahasiswa</a:t>
            </a:r>
          </a:p>
          <a:p>
            <a:pPr>
              <a:spcAft>
                <a:spcPts val="300"/>
              </a:spcAft>
              <a:defRPr sz="1050">
                <a:solidFill>
                  <a:srgbClr val="0F172A"/>
                </a:solidFill>
                <a:latin typeface="Calibri"/>
              </a:defRPr>
            </a:pPr>
            <a:r>
              <a:t>•  Memangkas waktu layanan loket dari yang sebelumnya 15–20 menit per mahasiswa menjadi di bawah 30 detik.</a:t>
            </a:r>
          </a:p>
          <a:p>
            <a:pPr>
              <a:spcAft>
                <a:spcPts val="300"/>
              </a:spcAft>
              <a:defRPr sz="1050">
                <a:solidFill>
                  <a:srgbClr val="0F172A"/>
                </a:solidFill>
                <a:latin typeface="Calibri"/>
              </a:defRPr>
            </a:pPr>
            <a:r>
              <a:t>•  Pemindaian QR Code instan berbasis NIM dan eksekusi 6-lapis validasi otomatis.</a:t>
            </a:r>
          </a:p>
          <a:p>
            <a:pPr>
              <a:spcAft>
                <a:spcPts val="3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500"/>
              </a:spcAft>
              <a:defRPr sz="1250" b="1">
                <a:solidFill>
                  <a:srgbClr val="0F172A"/>
                </a:solidFill>
                <a:latin typeface="Arial"/>
              </a:defRPr>
            </a:pPr>
            <a:r>
              <a:t>Zero (0) Dead-Stock</a:t>
            </a:r>
          </a:p>
          <a:p>
            <a:pPr>
              <a:spcAft>
                <a:spcPts val="300"/>
              </a:spcAft>
              <a:defRPr sz="1050">
                <a:solidFill>
                  <a:srgbClr val="0F172A"/>
                </a:solidFill>
                <a:latin typeface="Calibri"/>
              </a:defRPr>
            </a:pPr>
            <a:r>
              <a:t>•  Profiling ukuran mandiri oleh mahasiswa sebelum tender vendor garmen dibuka.</a:t>
            </a:r>
          </a:p>
          <a:p>
            <a:pPr>
              <a:spcAft>
                <a:spcPts val="300"/>
              </a:spcAft>
              <a:defRPr sz="1050">
                <a:solidFill>
                  <a:srgbClr val="0F172A"/>
                </a:solidFill>
                <a:latin typeface="Calibri"/>
              </a:defRPr>
            </a:pPr>
            <a:r>
              <a:t>•  Kalkulasi Demand vs Shortage otomatis memastikan pesanan pabrik selaras 100% dengan kebutuhan tubuh riil mahasiswa.</a:t>
            </a:r>
          </a:p>
          <a:p>
            <a:pPr>
              <a:spcAft>
                <a:spcPts val="3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500"/>
              </a:spcAft>
              <a:defRPr sz="1250" b="1">
                <a:solidFill>
                  <a:srgbClr val="0F172A"/>
                </a:solidFill>
                <a:latin typeface="Arial"/>
              </a:defRPr>
            </a:pPr>
            <a:r>
              <a:t>100% Valuasi FIFO Real-Time</a:t>
            </a:r>
          </a:p>
          <a:p>
            <a:pPr>
              <a:spcAft>
                <a:spcPts val="300"/>
              </a:spcAft>
              <a:defRPr sz="1050">
                <a:solidFill>
                  <a:srgbClr val="0F172A"/>
                </a:solidFill>
                <a:latin typeface="Calibri"/>
              </a:defRPr>
            </a:pPr>
            <a:r>
              <a:t>•  Mengeliminasi ketergantungan pada spreadsheet Excel raksasa yang rawan rusak atau korup.</a:t>
            </a:r>
          </a:p>
          <a:p>
            <a:pPr>
              <a:spcAft>
                <a:spcPts val="300"/>
              </a:spcAft>
              <a:defRPr sz="1050">
                <a:solidFill>
                  <a:srgbClr val="0F172A"/>
                </a:solidFill>
                <a:latin typeface="Calibri"/>
              </a:defRPr>
            </a:pPr>
            <a:r>
              <a:t>•  Seluruh pergerakan stok dicatat otomatis ke kartu mutasi persediaan berbasis urutan batch FIFO.</a:t>
            </a:r>
          </a:p>
          <a:p>
            <a:pPr>
              <a:spcAft>
                <a:spcPts val="3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