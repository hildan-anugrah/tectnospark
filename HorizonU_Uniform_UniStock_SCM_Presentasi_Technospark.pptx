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1 (Target Waktu: 01:10 Menit):</a:t>
            </a:r>
          </a:p>
          <a:p>
            <a:r>
              <a:t>"Selamat pagi/siang Yang Terhormat Bapak/Ibu Dosen Penguji dan Dewan Juri Technospark. Kami dari Tim Nirwana, yang beranggotakan Fhazar, Ferry, Hildan, Fadel, Daffa, dan Acep. Hari ini kami mempresentasikan analisis dan solusi sistem informasi rantai pasok terpadu bertajuk: HorizonU Uniform, dengan engine sistem bernama UniStock.</a:t>
            </a:r>
          </a:p>
          <a:p/>
          <a:p>
            <a:r>
              <a:t>Studi kasus kami berfokus pada Departemen Keuangan Universitas Horizon Indonesia, yang bertanggung jawab atas pengadaan dan distribusi ribuan paket seragam kuliah, jas almamater, sepatu laboratorium, hingga perlengkapan medis mahasiswa baru setiap tahunnya.</a:t>
            </a:r>
          </a:p>
          <a:p/>
          <a:p>
            <a:r>
              <a:t>Sebelum UniStock dibangun, pengelolaan dilakukan manual memakai spreadsheet Excel induk sebesar 4.5 Megabytes dengan belasan lembar kerja yang sering sekali mengalami lag dan crash. Di lapangan terjadi antrean panjang hingga 20 menit per mahasiswa, ketidakcocokan ukuran pakaian yang memicu penumpukan dead-stock, serta kerentanan klaim ganda. Mari kita lihat bagaimana rantai pasok ini bekerja."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2 (Target Waktu: 01:15 Menit):</a:t>
            </a:r>
          </a:p>
          <a:p>
            <a:r>
              <a:t>"Masuk ke Slide 2 mengenai Struktur Rantai Pasok. Rantai pasok HorizonU Uniform menghubungkan empat entitas stakeholder secara closed-loop:</a:t>
            </a:r>
          </a:p>
          <a:p/>
          <a:p>
            <a:r>
              <a:t>Pertama, di sisi Hulu (Supplier), terdapat Pabrik Garmen dan Sepatu yang memproduksi barang sesuai Purchase Order agregat kampus.</a:t>
            </a:r>
          </a:p>
          <a:p>
            <a:r>
              <a:t>Kedua, Gudang Logistik Kampus, yang bertindak sebagai distributor internal untuk memeriksa fisik, mencatat penerimaan batch, dan memberi nomor urut FIFO.</a:t>
            </a:r>
          </a:p>
          <a:p>
            <a:r>
              <a:t>Ketiga, Departemen Keuangan dan Staf Posko, yang bertugas memvalidasi status kelayakan pelunasan biaya serta melayani serah terima barang di loket.</a:t>
            </a:r>
          </a:p>
          <a:p>
            <a:r>
              <a:t>Dan keempat, di sisi Hilir (Customer), adalah Mahasiswa yang memiliki kuota hak barang sesuai prodinya.</a:t>
            </a:r>
          </a:p>
          <a:p/>
          <a:p>
            <a:r>
              <a:t>Prinsip dasar yang kami tanamkan adalah: 'Data Mengunci Fisik'. Artinya, seragam fisik di meja loket pantang keluar sebelum sistem memindai QR Code mahasiswa dan memastikan hak kuota serta status pembayarannya sah."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3 (Target Waktu: 01:30 Menit):</a:t>
            </a:r>
          </a:p>
          <a:p>
            <a:r>
              <a:t>"Pada Slide 3, kami membedah empat akar masalah utama melalui tabel hubungan Masalah, Penyebab, dan Dampak sistemik:</a:t>
            </a:r>
          </a:p>
          <a:p/>
          <a:p>
            <a:r>
              <a:t>Masalah Pertama: Ketidakcocokan ukuran dan penumpukan dead-stock. Penyebabnya adalah pemesanan ke vendor hanya berbasis estimasi historis tanpa survey ukuran mandiri mahasiswa. Dampaknya, ukuran favorit habis seketika, ukuran ekstrem menumpuk bertahun-tahun, dan dana kampus tertahan.</a:t>
            </a:r>
          </a:p>
          <a:p/>
          <a:p>
            <a:r>
              <a:t>Masalah Kedua: Ketergantungan pada lembar kerja Excel raksasa yang sering crash saat mengolah ribuan data maba, ditambah broadcast jadwal dikirim manual per surel. Dampaknya waktu kerja staf terbuang berminggu-minggu dan informasi jadwal terlambat diterima mahasiswa.</a:t>
            </a:r>
          </a:p>
          <a:p/>
          <a:p>
            <a:r>
              <a:t>Masalah Ketiga: Kemacetan parah di loket posko karena verifikasi lunas dan pencatatan dilakukan manual di atas kertas. Dampaknya antrean meliuk ratusan meter dengan waktu layan hingga 15-20 menit per orang, serta rawan klaim ganda.</a:t>
            </a:r>
          </a:p>
          <a:p/>
          <a:p>
            <a:r>
              <a:t>Masalah Keempat: Penyusutan stok tanpa jejak audit karena pencampuran barang antar-pembelian tanpa kaidah FIFO, sehingga nilai HPP dan laba kotor tidak dapat dihitung akurat."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4 (Target Waktu: 01:15 Menit):</a:t>
            </a:r>
          </a:p>
          <a:p>
            <a:r>
              <a:t>"Selanjutnya pada Slide 4, kami memetakan Analisis Aliran Informasi pada kondisi As-Is dan titik-titik kemacetannya:</a:t>
            </a:r>
          </a:p>
          <a:p/>
          <a:p>
            <a:r>
              <a:t>Pada Aliran 1 dari Mahasiswa ke Kampus, data ukuran diisi via formulir acak tanpa validasi SKU baku, sehingga rekapitulasi data terlambat dan penuh duplikasi.</a:t>
            </a:r>
          </a:p>
          <a:p>
            <a:r>
              <a:t>Pada Aliran 2 dari Keuangan ke Posko, data pelunasan terisolasi di laptop staf finance. Saat mahasiswa baru saja melunasi di bank pada hari-H, staf posko tidak mengetahuinya karena data belum tersinkronisasi.</a:t>
            </a:r>
          </a:p>
          <a:p>
            <a:r>
              <a:t>Pada Aliran 3 di meja posko, pencatatan serah terima memakai kertas checklist yang baru direkap malam hari, memicu celah barang hilang dan manipulasi.</a:t>
            </a:r>
          </a:p>
          <a:p>
            <a:r>
              <a:t>Dan pada Aliran 4 ke pabrik vendor, order produksi dibuat berdasar tebakan kasar sehingga waktu tunggu revisi ukuran memakan waktu berbulan-bulan.</a:t>
            </a:r>
          </a:p>
          <a:p/>
          <a:p>
            <a:r>
              <a:t>Kesimpulannya, terjadi silo data dan keterlambatan informasi akut yang melumpuhkan efisiensi."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5 (Target Waktu: 01:30 Menit):</a:t>
            </a:r>
          </a:p>
          <a:p>
            <a:r>
              <a:t>"Untuk mengatasi persoalan tersebut, pada Slide 5 kami merekomendasikan empat subsistem terpadu di dalam arsitektur HorizonU Uniform (UniStock):</a:t>
            </a:r>
          </a:p>
          <a:p/>
          <a:p>
            <a:r>
              <a:t>1. ERP Master &amp; Entitlement Engine: Berfungsi menggantikan Excel dengan basis data relasional MySQL InnoDB terstruktur, mengelola kuota hak per program studi, dan mengunci integritas transaksi. Manfaatnya: 100% bebas kendala Excel rusak.</a:t>
            </a:r>
          </a:p>
          <a:p/>
          <a:p>
            <a:r>
              <a:t>2. SCM Demand Planning Portal: Membuka portal mandiri bagi mahasiswa untuk mengisi ukuran baju dan sepatu sebelum produksi, serta menghitung kalkulasi demand vs shortage secara otomatis. Manfaatnya: Zero dead-stock dan pengadaan pabrik tepat sasaran.</a:t>
            </a:r>
          </a:p>
          <a:p/>
          <a:p>
            <a:r>
              <a:t>3. POS QR Verification Engine: Menghasilkan QR Code instan berbasis NIM dan mengeksekusi 6-Lapis Validasi otomatis melalui kamera webcam posko. Manfaatnya: Memangkas waktu layan menjadi di bawah 30 detik dan nol risiko klaim ganda.</a:t>
            </a:r>
          </a:p>
          <a:p/>
          <a:p>
            <a:r>
              <a:t>4. WMS &amp; FIFO Inventory Costing Engine: Mengatur pemotongan mutasi dari batch pembelian tertua secara FIFO, rekonsiliasi stock opname fisik, serta perhitungan valuasi HPP dan margin laba secara presisi."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6 (Target Waktu: 01:25 Menit):</a:t>
            </a:r>
          </a:p>
          <a:p>
            <a:r>
              <a:t>"Pada Slide 6, kami tampilkan Desain Arsitektur Solusi yang bekerja dalam 4 Fase Tertutup (Closed-Loop Engine):</a:t>
            </a:r>
          </a:p>
          <a:p/>
          <a:p>
            <a:r>
              <a:t>Fase 1 (Inbound): Saat barang dari pabrik tiba, staf gudang mencatatnya pada modul StockReceive, menetapkan batch FIFO, dan mencatat unit HPP pembelian.</a:t>
            </a:r>
          </a:p>
          <a:p/>
          <a:p>
            <a:r>
              <a:t>Fase 2 (Planning): Departemen Keuangan mengaktifkan status lunas di Eligibility Record, mahasiswa mengisi profil ukuran di portal, dan sistem mengalokasikan paket hak barang.</a:t>
            </a:r>
          </a:p>
          <a:p/>
          <a:p>
            <a:r>
              <a:t>Fase 3 (Outbound): Di posko hari-H, staf memindai QR Code mahasiswa. Sistem mengeksekusi 6-lapis validasi menggunakan teknik pessimistic locking, memotong stok batch tertua, dan menyerahkan seragam.</a:t>
            </a:r>
          </a:p>
          <a:p/>
          <a:p>
            <a:r>
              <a:t>Fase 4 (Audit &amp; Control): Stock opname fisik berkala menghitung selisih varians, dan sistem menerbitkan laporan Gross Profit Margin.</a:t>
            </a:r>
          </a:p>
          <a:p/>
          <a:p>
            <a:r>
              <a:t>Data sisa stok dan tren ukuran dari Fase 4 ini secara otomatis menjadi acuan belanja pengadaan Fase 1 pada semester berikutnya, menutup siklus rantai pasok secara sempurna."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7 (Target Waktu: 01:15 Menit):</a:t>
            </a:r>
          </a:p>
          <a:p>
            <a:r>
              <a:t>"Masuk ke Slide 7 mengenai Prioritas Implementasi dan Mitigasi Risiko Lapangan.</a:t>
            </a:r>
          </a:p>
          <a:p/>
          <a:p>
            <a:r>
              <a:t>Kami membagi tahapan implementasi menjadi 3 prioritas: Prioritas 1 adalah standarisasi master data dan SKU; Prioritas 2 adalah sinkronisasi status keuangan dan pembukaan portal ukuran; dan Prioritas 3 adalah pelatihan staf loket serta simulasi antrean posko.</a:t>
            </a:r>
          </a:p>
          <a:p/>
          <a:p>
            <a:r>
              <a:t>Kami juga telah merancang solusi atas 3 risiko darurat nyata di lapangan:</a:t>
            </a:r>
          </a:p>
          <a:p>
            <a:r>
              <a:t>Pertama, jika baterai HP mahasiswa mati atau tidak membawa QR, staf posko dapat menggunakan fitur fallback search manual via NIM.</a:t>
            </a:r>
          </a:p>
          <a:p>
            <a:r>
              <a:t>Kedua, jika stok ukuran di rak habis saat fitting, sistem mendukung fitur Partial Pickup di mana barang yang ada diserahkan tanpa menghanguskan sisa hak mahasiswa.</a:t>
            </a:r>
          </a:p>
          <a:p>
            <a:r>
              <a:t>Ketiga, jika koneksi internet kampus fluktuatif, database diproteksi oleh pessimistic row locking agar tidak terjadi pengurangan stok ganda."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8 (Target Waktu: 00:55 Menit):</a:t>
            </a:r>
          </a:p>
          <a:p>
            <a:r>
              <a:t>"Sebagai penutup pada Slide 8, implementasi HorizonU Uniform menghadirkan 3 manfaat nyata dan terukur:</a:t>
            </a:r>
          </a:p>
          <a:p/>
          <a:p>
            <a:r>
              <a:t>1. Efisiensi Waktu: Waktu pelayanan posko berhasil dipangkas dari 15–20 menit menjadi di bawah 30 detik per mahasiswa.</a:t>
            </a:r>
          </a:p>
          <a:p>
            <a:r>
              <a:t>2. Akurasi Persediaan: Mewujudkan target Zero Dead-Stock karena pengadaan pabrik 100% selaras dengan ukuran tubuh riil mahasiswa.</a:t>
            </a:r>
          </a:p>
          <a:p>
            <a:r>
              <a:t>3. Akuntabilitas Biaya: Menghilangkan kerentanan crash Excel dengan sistem penilaian inventaris berbasis FIFO dan analitik Gross Profit Margin real-time.</a:t>
            </a:r>
          </a:p>
          <a:p/>
          <a:p>
            <a:r>
              <a:t>Statement akhir kami: Sistem Informasi bukan sekadar alat pencatat administrasi, melainkan saraf penggerak utama rantai pasok yang mengunci fisik barang dengan kepatuhan finansial, serta mengubah tebakan manual menjadi keputusan bisnis berakurasi tinggi.</a:t>
            </a:r>
          </a:p>
          <a:p/>
          <a:p>
            <a:r>
              <a:t>Sekian presentasi dari Tim Nirwana. Kami siap menerima pertanyaan dari Dewan Juri. Terima kasih."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1 • CASE INTRODUCTION   |   RUBRIK: SUPPLY CHAIN UNDERSTANDING (15%)</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HORIZONU UNIFORM (UNISTOCK SCM) — TRANSFORMASI LOGISTIK KAMPUS</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Sistem Persediaan &amp; Distribusi Seragam Terpadu Berbasis Closed-Loop SCM pada Departemen Keuangan Universitas Horizon Indonesia</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PROFIL BISNIS &amp; INDUSTRI</a:t>
            </a:r>
          </a:p>
          <a:p>
            <a:pPr>
              <a:spcAft>
                <a:spcPts val="600"/>
              </a:spcAft>
              <a:defRPr sz="1300" b="1">
                <a:solidFill>
                  <a:srgbClr val="0F172A"/>
                </a:solidFill>
                <a:latin typeface="Arial"/>
              </a:defRPr>
            </a:pPr>
            <a:r>
              <a:t>Logistik Perlengkapan Kampus</a:t>
            </a:r>
          </a:p>
          <a:p>
            <a:pPr>
              <a:spcAft>
                <a:spcPts val="400"/>
              </a:spcAft>
              <a:defRPr sz="1050">
                <a:solidFill>
                  <a:srgbClr val="0F172A"/>
                </a:solidFill>
                <a:latin typeface="Calibri"/>
              </a:defRPr>
            </a:pPr>
            <a:r>
              <a:t>•  Departemen Keuangan Universitas Horizon Indonesia mengelola pengadaan, akuntansi, dan pembagian paket seragam bagi ribuan mahasiswa baru.</a:t>
            </a:r>
          </a:p>
          <a:p>
            <a:pPr>
              <a:spcAft>
                <a:spcPts val="400"/>
              </a:spcAft>
              <a:defRPr sz="1050">
                <a:solidFill>
                  <a:srgbClr val="0F172A"/>
                </a:solidFill>
                <a:latin typeface="Calibri"/>
              </a:defRPr>
            </a:pPr>
            <a:r>
              <a:t>•  Komoditas: Jas Almamater, Kemeja Putih, Celana/Rok Bahan, Sepatu Lab &amp; Dinas, serta Medical Kit keperawatan/kebidanan.</a:t>
            </a:r>
          </a:p>
          <a:p>
            <a:pPr>
              <a:spcAft>
                <a:spcPts val="400"/>
              </a:spcAft>
              <a:defRPr sz="1050">
                <a:solidFill>
                  <a:srgbClr val="0F172A"/>
                </a:solidFill>
                <a:latin typeface="Calibri"/>
              </a:defRPr>
            </a:pPr>
            <a:r>
              <a:t>•  Karakteristik Operasional: Lonjakan penerimaan barang dari vendor garmen di awal tahun akademik.</a:t>
            </a:r>
          </a:p>
          <a:p>
            <a:pPr>
              <a:spcBef>
                <a:spcPts val="400"/>
              </a:spcBef>
              <a:defRPr sz="1000" b="1">
                <a:solidFill>
                  <a:srgbClr val="980517"/>
                </a:solidFill>
                <a:latin typeface="Calibri"/>
              </a:defRPr>
            </a:pPr>
            <a:r>
              <a:t>➔  Model Bisnis: Direct Closed-Loop Campus SCM</a:t>
            </a:r>
          </a:p>
        </p:txBody>
      </p:sp>
      <p:sp>
        <p:nvSpPr>
          <p:cNvPr id="8" name="Rounded Rectangle 7"/>
          <p:cNvSpPr/>
          <p:nvPr/>
        </p:nvSpPr>
        <p:spPr>
          <a:xfrm>
            <a:off x="4370832" y="1417320"/>
            <a:ext cx="3429000"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MASALAH UTAMA AS-IS</a:t>
            </a:r>
          </a:p>
          <a:p>
            <a:pPr>
              <a:spcAft>
                <a:spcPts val="600"/>
              </a:spcAft>
              <a:defRPr sz="1300" b="1">
                <a:solidFill>
                  <a:srgbClr val="0F172A"/>
                </a:solidFill>
                <a:latin typeface="Arial"/>
              </a:defRPr>
            </a:pPr>
            <a:r>
              <a:t>Kendala Spreadsheet &amp; Loket</a:t>
            </a:r>
          </a:p>
          <a:p>
            <a:pPr>
              <a:spcAft>
                <a:spcPts val="400"/>
              </a:spcAft>
              <a:defRPr sz="1050">
                <a:solidFill>
                  <a:srgbClr val="0F172A"/>
                </a:solidFill>
                <a:latin typeface="Calibri"/>
              </a:defRPr>
            </a:pPr>
            <a:r>
              <a:t>•  Spreadsheet Excel Induk raksasa (~4.5 MB, 19 lembar kerja) sering mengalami lag, tidak merespons, atau crash saat data membesar.</a:t>
            </a:r>
          </a:p>
          <a:p>
            <a:pPr>
              <a:spcAft>
                <a:spcPts val="400"/>
              </a:spcAft>
              <a:defRPr sz="1050">
                <a:solidFill>
                  <a:srgbClr val="0F172A"/>
                </a:solidFill>
                <a:latin typeface="Calibri"/>
              </a:defRPr>
            </a:pPr>
            <a:r>
              <a:t>•  Antrean pembagian di posko kampus sangat panjang (mencapai 15–20 menit per mahasiswa) akibat verifikasi berkas manual.</a:t>
            </a:r>
          </a:p>
          <a:p>
            <a:pPr>
              <a:spcAft>
                <a:spcPts val="400"/>
              </a:spcAft>
              <a:defRPr sz="1050">
                <a:solidFill>
                  <a:srgbClr val="0F172A"/>
                </a:solidFill>
                <a:latin typeface="Calibri"/>
              </a:defRPr>
            </a:pPr>
            <a:r>
              <a:t>•  Pemesanan seragam ke pabrik hanya berdasar tebakan historis tanpa profiling ukuran awal, memicu penumpukan dead-stock di gudang.</a:t>
            </a:r>
          </a:p>
          <a:p>
            <a:pPr>
              <a:spcBef>
                <a:spcPts val="400"/>
              </a:spcBef>
              <a:defRPr sz="1000" b="1">
                <a:solidFill>
                  <a:srgbClr val="980517"/>
                </a:solidFill>
                <a:latin typeface="Calibri"/>
              </a:defRPr>
            </a:pPr>
            <a:r>
              <a:t>➔  Dampak Finansial: Modal Mengendap &amp; Risiko Klaim Ganda</a:t>
            </a:r>
          </a:p>
        </p:txBody>
      </p:sp>
      <p:sp>
        <p:nvSpPr>
          <p:cNvPr id="9" name="Rounded Rectangle 8"/>
          <p:cNvSpPr/>
          <p:nvPr/>
        </p:nvSpPr>
        <p:spPr>
          <a:xfrm>
            <a:off x="8010144"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PRESENTER &amp; ANALIS</a:t>
            </a:r>
          </a:p>
          <a:p>
            <a:pPr>
              <a:spcAft>
                <a:spcPts val="600"/>
              </a:spcAft>
              <a:defRPr sz="1300" b="1">
                <a:solidFill>
                  <a:srgbClr val="0F172A"/>
                </a:solidFill>
                <a:latin typeface="Arial"/>
              </a:defRPr>
            </a:pPr>
            <a:r>
              <a:t>Tim Pengembang Nirwana</a:t>
            </a:r>
          </a:p>
          <a:p>
            <a:pPr>
              <a:spcAft>
                <a:spcPts val="400"/>
              </a:spcAft>
              <a:defRPr sz="1050">
                <a:solidFill>
                  <a:srgbClr val="0F172A"/>
                </a:solidFill>
                <a:latin typeface="Calibri"/>
              </a:defRPr>
            </a:pPr>
            <a:r>
              <a:t>•  Fhazar Raffiful Aqyla — Project Manager</a:t>
            </a:r>
          </a:p>
          <a:p>
            <a:pPr>
              <a:spcAft>
                <a:spcPts val="400"/>
              </a:spcAft>
              <a:defRPr sz="1050">
                <a:solidFill>
                  <a:srgbClr val="0F172A"/>
                </a:solidFill>
                <a:latin typeface="Calibri"/>
              </a:defRPr>
            </a:pPr>
            <a:r>
              <a:t>•  Ferry Noer Hendriawan — Frontend Engineer</a:t>
            </a:r>
          </a:p>
          <a:p>
            <a:pPr>
              <a:spcAft>
                <a:spcPts val="400"/>
              </a:spcAft>
              <a:defRPr sz="1050">
                <a:solidFill>
                  <a:srgbClr val="0F172A"/>
                </a:solidFill>
                <a:latin typeface="Calibri"/>
              </a:defRPr>
            </a:pPr>
            <a:r>
              <a:t>•  Hildan Anugrah Tamadi Putra — Backend Engineer</a:t>
            </a:r>
          </a:p>
          <a:p>
            <a:pPr>
              <a:spcAft>
                <a:spcPts val="400"/>
              </a:spcAft>
              <a:defRPr sz="1050">
                <a:solidFill>
                  <a:srgbClr val="0F172A"/>
                </a:solidFill>
                <a:latin typeface="Calibri"/>
              </a:defRPr>
            </a:pPr>
            <a:r>
              <a:t>•  Fadel Rahmadhan — Quality Assurance</a:t>
            </a:r>
          </a:p>
          <a:p>
            <a:pPr>
              <a:spcAft>
                <a:spcPts val="400"/>
              </a:spcAft>
              <a:defRPr sz="1050">
                <a:solidFill>
                  <a:srgbClr val="0F172A"/>
                </a:solidFill>
                <a:latin typeface="Calibri"/>
              </a:defRPr>
            </a:pPr>
            <a:r>
              <a:t>•  Daffa Nazriel Zaidan — UI/UX Designer</a:t>
            </a:r>
          </a:p>
          <a:p>
            <a:pPr>
              <a:spcAft>
                <a:spcPts val="400"/>
              </a:spcAft>
              <a:defRPr sz="1050">
                <a:solidFill>
                  <a:srgbClr val="0F172A"/>
                </a:solidFill>
                <a:latin typeface="Calibri"/>
              </a:defRPr>
            </a:pPr>
            <a:r>
              <a:t>•  Acep Ugan Saputra — System Analyst</a:t>
            </a:r>
          </a:p>
          <a:p>
            <a:pPr>
              <a:spcBef>
                <a:spcPts val="400"/>
              </a:spcBef>
              <a:defRPr sz="1000" b="1">
                <a:solidFill>
                  <a:srgbClr val="980517"/>
                </a:solidFill>
                <a:latin typeface="Calibri"/>
              </a:defRPr>
            </a:pPr>
            <a:r>
              <a:t>➔  URL Sistem Live: unistok.nirwana.biz.id</a:t>
            </a:r>
          </a:p>
        </p:txBody>
      </p:sp>
      <p:sp>
        <p:nvSpPr>
          <p:cNvPr id="10" name="Rounded Rectangle 9"/>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FOKUS SOLUSI UNISTOCK: </a:t>
            </a:r>
            <a:r>
              <a:rPr sz="1050">
                <a:solidFill>
                  <a:srgbClr val="0F172A"/>
                </a:solidFill>
                <a:latin typeface="Calibri"/>
              </a:rPr>
              <a:t>Menghubungkan Hulu (Vendor Pabrik), Gudang Kampus, Bagian Keuangan, hingga Hilir (Mahasiswa) dalam satu arsitektur terintegrasi bertenaga Laravel 12 dan aturan FIFO.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2 • SUPPLY CHAIN STRUCTURE   |   RUBRIK: SUPPLY CHAIN UNDERSTANDING (15%)</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STRUKTUR RANTAI PASOK: STAKEHOLDER, ALIRAN FISIK &amp; INFORMASI</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Pemetaan peran stakeholder end-to-end dari hulu ke hilir serta titik kritis perpindahan barang dan otorisasi digital.</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SUPPLIER (HULU)</a:t>
            </a:r>
          </a:p>
          <a:p>
            <a:pPr>
              <a:spcAft>
                <a:spcPts val="600"/>
              </a:spcAft>
              <a:defRPr sz="1300" b="1">
                <a:solidFill>
                  <a:srgbClr val="0F172A"/>
                </a:solidFill>
                <a:latin typeface="Arial"/>
              </a:defRPr>
            </a:pPr>
            <a:r>
              <a:t>Pabrik Garmen &amp; Sepatu</a:t>
            </a:r>
          </a:p>
          <a:p>
            <a:pPr>
              <a:spcAft>
                <a:spcPts val="400"/>
              </a:spcAft>
              <a:defRPr sz="1050">
                <a:solidFill>
                  <a:srgbClr val="0F172A"/>
                </a:solidFill>
                <a:latin typeface="Calibri"/>
              </a:defRPr>
            </a:pPr>
            <a:r>
              <a:t>•  Memproduksi paket seragam dan sepatu sesuai pesanan pengadaan kampus (PO).</a:t>
            </a:r>
          </a:p>
          <a:p>
            <a:pPr>
              <a:spcAft>
                <a:spcPts val="400"/>
              </a:spcAft>
              <a:defRPr sz="1050">
                <a:solidFill>
                  <a:srgbClr val="0F172A"/>
                </a:solidFill>
                <a:latin typeface="Calibri"/>
              </a:defRPr>
            </a:pPr>
            <a:r>
              <a:t>•  Menerapkan standarisasi kode varian SKU seragam.</a:t>
            </a:r>
          </a:p>
          <a:p>
            <a:pPr>
              <a:spcAft>
                <a:spcPts val="400"/>
              </a:spcAft>
              <a:defRPr sz="1050">
                <a:solidFill>
                  <a:srgbClr val="0F172A"/>
                </a:solidFill>
                <a:latin typeface="Calibri"/>
              </a:defRPr>
            </a:pPr>
            <a:r>
              <a:t>•  Titik Barang: Pengiriman kardus seragam ke gudang kampus (Inbound Logistics).</a:t>
            </a:r>
          </a:p>
          <a:p>
            <a:pPr>
              <a:spcBef>
                <a:spcPts val="400"/>
              </a:spcBef>
              <a:defRPr sz="1000" b="1">
                <a:solidFill>
                  <a:srgbClr val="980517"/>
                </a:solidFill>
                <a:latin typeface="Calibri"/>
              </a:defRPr>
            </a:pPr>
            <a:r>
              <a:t>➔  Aliran: PO Agregat ➔ Fisik Masuk</a:t>
            </a:r>
          </a:p>
        </p:txBody>
      </p:sp>
      <p:sp>
        <p:nvSpPr>
          <p:cNvPr id="8" name="Rounded Rectangle 7"/>
          <p:cNvSpPr/>
          <p:nvPr/>
        </p:nvSpPr>
        <p:spPr>
          <a:xfrm>
            <a:off x="3456432"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GUDANG (INBOUND)</a:t>
            </a:r>
          </a:p>
          <a:p>
            <a:pPr>
              <a:spcAft>
                <a:spcPts val="600"/>
              </a:spcAft>
              <a:defRPr sz="1300" b="1">
                <a:solidFill>
                  <a:srgbClr val="0F172A"/>
                </a:solidFill>
                <a:latin typeface="Arial"/>
              </a:defRPr>
            </a:pPr>
            <a:r>
              <a:t>Gudang Logistik Kampus</a:t>
            </a:r>
          </a:p>
          <a:p>
            <a:pPr>
              <a:spcAft>
                <a:spcPts val="400"/>
              </a:spcAft>
              <a:defRPr sz="1050">
                <a:solidFill>
                  <a:srgbClr val="0F172A"/>
                </a:solidFill>
                <a:latin typeface="Calibri"/>
              </a:defRPr>
            </a:pPr>
            <a:r>
              <a:t>•  Penerimaan fisik barang (StockReceive) dan quality checking kualitas seragam.</a:t>
            </a:r>
          </a:p>
          <a:p>
            <a:pPr>
              <a:spcAft>
                <a:spcPts val="400"/>
              </a:spcAft>
              <a:defRPr sz="1050">
                <a:solidFill>
                  <a:srgbClr val="0F172A"/>
                </a:solidFill>
                <a:latin typeface="Calibri"/>
              </a:defRPr>
            </a:pPr>
            <a:r>
              <a:t>•  Pencatatan batch urutan FIFO (First-In, First-Out) dan nilai HPP per unit.</a:t>
            </a:r>
          </a:p>
          <a:p>
            <a:pPr>
              <a:spcAft>
                <a:spcPts val="400"/>
              </a:spcAft>
              <a:defRPr sz="1050">
                <a:solidFill>
                  <a:srgbClr val="0F172A"/>
                </a:solidFill>
                <a:latin typeface="Calibri"/>
              </a:defRPr>
            </a:pPr>
            <a:r>
              <a:t>•  Titik Barang &amp; Info: Transfer stok batch tertua menuju posko distribusi loket.</a:t>
            </a:r>
          </a:p>
          <a:p>
            <a:pPr>
              <a:spcBef>
                <a:spcPts val="400"/>
              </a:spcBef>
              <a:defRPr sz="1000" b="1">
                <a:solidFill>
                  <a:srgbClr val="980517"/>
                </a:solidFill>
                <a:latin typeface="Calibri"/>
              </a:defRPr>
            </a:pPr>
            <a:r>
              <a:t>➔  Aliran: Inbound ➔ POS Loket</a:t>
            </a:r>
          </a:p>
        </p:txBody>
      </p:sp>
      <p:sp>
        <p:nvSpPr>
          <p:cNvPr id="9" name="Rounded Rectangle 8"/>
          <p:cNvSpPr/>
          <p:nvPr/>
        </p:nvSpPr>
        <p:spPr>
          <a:xfrm>
            <a:off x="6181344" y="1417320"/>
            <a:ext cx="2542032"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KEUANGAN &amp; POSKO</a:t>
            </a:r>
          </a:p>
          <a:p>
            <a:pPr>
              <a:spcAft>
                <a:spcPts val="600"/>
              </a:spcAft>
              <a:defRPr sz="1300" b="1">
                <a:solidFill>
                  <a:srgbClr val="0F172A"/>
                </a:solidFill>
                <a:latin typeface="Arial"/>
              </a:defRPr>
            </a:pPr>
            <a:r>
              <a:t>Staf Keuangan &amp; Posko</a:t>
            </a:r>
          </a:p>
          <a:p>
            <a:pPr>
              <a:spcAft>
                <a:spcPts val="400"/>
              </a:spcAft>
              <a:defRPr sz="1050">
                <a:solidFill>
                  <a:srgbClr val="0F172A"/>
                </a:solidFill>
                <a:latin typeface="Calibri"/>
              </a:defRPr>
            </a:pPr>
            <a:r>
              <a:t>•  Keuangan: Otorisasi status pelunasan biaya kuliah (Eligibility Record).</a:t>
            </a:r>
          </a:p>
          <a:p>
            <a:pPr>
              <a:spcAft>
                <a:spcPts val="400"/>
              </a:spcAft>
              <a:defRPr sz="1050">
                <a:solidFill>
                  <a:srgbClr val="0F172A"/>
                </a:solidFill>
                <a:latin typeface="Calibri"/>
              </a:defRPr>
            </a:pPr>
            <a:r>
              <a:t>•  Staf Posko: Melayani meja pembagian fisik seragam di posko kampus.</a:t>
            </a:r>
          </a:p>
          <a:p>
            <a:pPr>
              <a:spcAft>
                <a:spcPts val="400"/>
              </a:spcAft>
              <a:defRPr sz="1050">
                <a:solidFill>
                  <a:srgbClr val="0F172A"/>
                </a:solidFill>
                <a:latin typeface="Calibri"/>
              </a:defRPr>
            </a:pPr>
            <a:r>
              <a:t>•  Titik Kritis: Validasi QR Code dan pencocokan ukuran saat proses fitting.</a:t>
            </a:r>
          </a:p>
          <a:p>
            <a:pPr>
              <a:spcBef>
                <a:spcPts val="400"/>
              </a:spcBef>
              <a:defRPr sz="1000" b="1">
                <a:solidFill>
                  <a:srgbClr val="980517"/>
                </a:solidFill>
                <a:latin typeface="Calibri"/>
              </a:defRPr>
            </a:pPr>
            <a:r>
              <a:t>➔  Aliran: Data Lunas ➔ Serah Fisik</a:t>
            </a:r>
          </a:p>
        </p:txBody>
      </p:sp>
      <p:sp>
        <p:nvSpPr>
          <p:cNvPr id="10" name="Rounded Rectangle 9"/>
          <p:cNvSpPr/>
          <p:nvPr/>
        </p:nvSpPr>
        <p:spPr>
          <a:xfrm>
            <a:off x="8906256"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04 • KONSUMEN (HILIR)</a:t>
            </a:r>
          </a:p>
          <a:p>
            <a:pPr>
              <a:spcAft>
                <a:spcPts val="600"/>
              </a:spcAft>
              <a:defRPr sz="1300" b="1">
                <a:solidFill>
                  <a:srgbClr val="0F172A"/>
                </a:solidFill>
                <a:latin typeface="Arial"/>
              </a:defRPr>
            </a:pPr>
            <a:r>
              <a:t>Mahasiswa (Customer)</a:t>
            </a:r>
          </a:p>
          <a:p>
            <a:pPr>
              <a:spcAft>
                <a:spcPts val="400"/>
              </a:spcAft>
              <a:defRPr sz="1050">
                <a:solidFill>
                  <a:srgbClr val="0F172A"/>
                </a:solidFill>
                <a:latin typeface="Calibri"/>
              </a:defRPr>
            </a:pPr>
            <a:r>
              <a:t>•  Konsumen akhir yang memiliki hak jatah barang (Entitlement) sesuai prodi.</a:t>
            </a:r>
          </a:p>
          <a:p>
            <a:pPr>
              <a:spcAft>
                <a:spcPts val="400"/>
              </a:spcAft>
              <a:defRPr sz="1050">
                <a:solidFill>
                  <a:srgbClr val="0F172A"/>
                </a:solidFill>
                <a:latin typeface="Calibri"/>
              </a:defRPr>
            </a:pPr>
            <a:r>
              <a:t>•  Mengisi profil ukuran mandiri di web dan menerima tiket jadwal pembagian.</a:t>
            </a:r>
          </a:p>
          <a:p>
            <a:pPr>
              <a:spcAft>
                <a:spcPts val="400"/>
              </a:spcAft>
              <a:defRPr sz="1050">
                <a:solidFill>
                  <a:srgbClr val="0F172A"/>
                </a:solidFill>
                <a:latin typeface="Calibri"/>
              </a:defRPr>
            </a:pPr>
            <a:r>
              <a:t>•  Titik Info: Menunjukkan QR Code beresolusi tinggi (NIM murni) di meja posko.</a:t>
            </a:r>
          </a:p>
          <a:p>
            <a:pPr>
              <a:spcBef>
                <a:spcPts val="400"/>
              </a:spcBef>
              <a:defRPr sz="1000" b="1">
                <a:solidFill>
                  <a:srgbClr val="980517"/>
                </a:solidFill>
                <a:latin typeface="Calibri"/>
              </a:defRPr>
            </a:pPr>
            <a:r>
              <a:t>➔  Aliran: Profil ➔ Seragam Pas</a:t>
            </a:r>
          </a:p>
        </p:txBody>
      </p:sp>
      <p:sp>
        <p:nvSpPr>
          <p:cNvPr id="11" name="Rounded Rectangle 10"/>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PRINSIP INTI 'DATA MENGUNCI FISIK': </a:t>
            </a:r>
            <a:r>
              <a:rPr sz="1050">
                <a:solidFill>
                  <a:srgbClr val="0F172A"/>
                </a:solidFill>
                <a:latin typeface="Calibri"/>
              </a:rPr>
              <a:t>Barang fisik di loket gudang pantang diserahkan tanpa otorisasi digital. Pemindaian QR Code mengeksekusi validasi atomik di database: jika belum lunas atau kuota habis, fisik seragam tidak dapat keluar.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3 • PROBLEM ANALYSIS   |   RUBRIK: PROBLEM ANALYSIS (20%)</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ANALISIS AKAR MASALAH: MENGAPA SISTEM MANUAL GAGAL?</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Matriks analisis empat masalah utama beserta penyebab sistemik dan dampaknya terhadap biaya, waktu, stok, dan pelayanan.</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5" cy="4297680"/>
        </p:xfrm>
        <a:graphic>
          <a:graphicData uri="http://schemas.openxmlformats.org/drawingml/2006/table">
            <a:tbl>
              <a:tblPr firstRow="1" bandRow="1">
                <a:tableStyleId>{5C22544A-7EE6-4342-B048-85BDC9FD1C3A}</a:tableStyleId>
              </a:tblPr>
              <a:tblGrid>
                <a:gridCol w="2926080"/>
                <a:gridCol w="3840480"/>
                <a:gridCol w="3962095"/>
              </a:tblGrid>
              <a:tr h="859536">
                <a:tc>
                  <a:txBody>
                    <a:bodyPr/>
                    <a:lstStyle/>
                    <a:p>
                      <a:pPr>
                        <a:defRPr sz="1100" b="1">
                          <a:solidFill>
                            <a:srgbClr val="FFFFFF"/>
                          </a:solidFill>
                          <a:latin typeface="Arial"/>
                        </a:defRPr>
                      </a:pPr>
                      <a:r>
                        <a:t>Masalah Utama (Gejala Lapangan)</a:t>
                      </a:r>
                    </a:p>
                  </a:txBody>
                  <a:tcPr>
                    <a:solidFill>
                      <a:srgbClr val="980517"/>
                    </a:solidFill>
                  </a:tcPr>
                </a:tc>
                <a:tc>
                  <a:txBody>
                    <a:bodyPr/>
                    <a:lstStyle/>
                    <a:p>
                      <a:pPr>
                        <a:defRPr sz="1100" b="1">
                          <a:solidFill>
                            <a:srgbClr val="FFFFFF"/>
                          </a:solidFill>
                          <a:latin typeface="Arial"/>
                        </a:defRPr>
                      </a:pPr>
                      <a:r>
                        <a:t>Akar Penyebab Masalah (Root Cause)</a:t>
                      </a:r>
                    </a:p>
                  </a:txBody>
                  <a:tcPr>
                    <a:solidFill>
                      <a:srgbClr val="980517"/>
                    </a:solidFill>
                  </a:tcPr>
                </a:tc>
                <a:tc>
                  <a:txBody>
                    <a:bodyPr/>
                    <a:lstStyle/>
                    <a:p>
                      <a:pPr>
                        <a:defRPr sz="1100" b="1">
                          <a:solidFill>
                            <a:srgbClr val="FFFFFF"/>
                          </a:solidFill>
                          <a:latin typeface="Arial"/>
                        </a:defRPr>
                      </a:pPr>
                      <a:r>
                        <a:t>Dampak terhadap Biaya, Waktu, Stok &amp; Layanan</a:t>
                      </a:r>
                    </a:p>
                  </a:txBody>
                  <a:tcPr>
                    <a:solidFill>
                      <a:srgbClr val="980517"/>
                    </a:solidFill>
                  </a:tcPr>
                </a:tc>
              </a:tr>
              <a:tr h="859536">
                <a:tc>
                  <a:txBody>
                    <a:bodyPr/>
                    <a:lstStyle/>
                    <a:p>
                      <a:pPr>
                        <a:defRPr sz="1000" b="1">
                          <a:solidFill>
                            <a:srgbClr val="980517"/>
                          </a:solidFill>
                          <a:latin typeface="Calibri"/>
                        </a:defRPr>
                      </a:pPr>
                      <a:r>
                        <a:t>1. Ketidakcocokan Ukuran &amp; Penumpukan Dead-Stock</a:t>
                      </a:r>
                    </a:p>
                  </a:txBody>
                  <a:tcPr>
                    <a:solidFill>
                      <a:srgbClr val="F8FAFC"/>
                    </a:solidFill>
                  </a:tcPr>
                </a:tc>
                <a:tc>
                  <a:txBody>
                    <a:bodyPr/>
                    <a:lstStyle/>
                    <a:p>
                      <a:pPr>
                        <a:defRPr sz="1000">
                          <a:solidFill>
                            <a:srgbClr val="0F172A"/>
                          </a:solidFill>
                          <a:latin typeface="Calibri"/>
                        </a:defRPr>
                      </a:pPr>
                      <a:r>
                        <a:t>Pemesanan pengadaan ke vendor pabrik hanya menggunakan tebakan rasio historis. Tidak ada sistem survey profil ukuran mandiri sebelum tender dibuka.</a:t>
                      </a:r>
                    </a:p>
                  </a:txBody>
                  <a:tcPr>
                    <a:solidFill>
                      <a:srgbClr val="F8FAFC"/>
                    </a:solidFill>
                  </a:tcPr>
                </a:tc>
                <a:tc>
                  <a:txBody>
                    <a:bodyPr/>
                    <a:lstStyle/>
                    <a:p>
                      <a:pPr>
                        <a:defRPr sz="1000">
                          <a:solidFill>
                            <a:srgbClr val="0F172A"/>
                          </a:solidFill>
                          <a:latin typeface="Calibri"/>
                        </a:defRPr>
                      </a:pPr>
                      <a:r>
                        <a:t>Dampak Stok &amp; Biaya: Ukuran favorit (M/L) habis pada hari pertama pembagian, ukuran ekstrem (XS, 3XL) menumpuk bertahun-tahun. Modal kampus mengendap menjadi dead-stock.</a:t>
                      </a:r>
                    </a:p>
                  </a:txBody>
                  <a:tcPr>
                    <a:solidFill>
                      <a:srgbClr val="F8FAFC"/>
                    </a:solidFill>
                  </a:tcPr>
                </a:tc>
              </a:tr>
              <a:tr h="859536">
                <a:tc>
                  <a:txBody>
                    <a:bodyPr/>
                    <a:lstStyle/>
                    <a:p>
                      <a:pPr>
                        <a:defRPr sz="1000" b="1">
                          <a:solidFill>
                            <a:srgbClr val="980517"/>
                          </a:solidFill>
                          <a:latin typeface="Calibri"/>
                        </a:defRPr>
                      </a:pPr>
                      <a:r>
                        <a:t>2. File Excel Sering Crash &amp; Pengumuman Lambat</a:t>
                      </a:r>
                    </a:p>
                  </a:txBody>
                  <a:tcPr>
                    <a:solidFill>
                      <a:srgbClr val="FEF2F2"/>
                    </a:solidFill>
                  </a:tcPr>
                </a:tc>
                <a:tc>
                  <a:txBody>
                    <a:bodyPr/>
                    <a:lstStyle/>
                    <a:p>
                      <a:pPr>
                        <a:defRPr sz="1000">
                          <a:solidFill>
                            <a:srgbClr val="0F172A"/>
                          </a:solidFill>
                          <a:latin typeface="Calibri"/>
                        </a:defRPr>
                      </a:pPr>
                      <a:r>
                        <a:t>Departemen Keuangan memakai satu file spreadsheet raksasa (~4.5 MB, 19 sheet) untuk ribuan data mahasiswa. Pengiriman jadwal disebarkan manual via surel.</a:t>
                      </a:r>
                    </a:p>
                  </a:txBody>
                  <a:tcPr>
                    <a:solidFill>
                      <a:srgbClr val="FEF2F2"/>
                    </a:solidFill>
                  </a:tcPr>
                </a:tc>
                <a:tc>
                  <a:txBody>
                    <a:bodyPr/>
                    <a:lstStyle/>
                    <a:p>
                      <a:pPr>
                        <a:defRPr sz="1000">
                          <a:solidFill>
                            <a:srgbClr val="0F172A"/>
                          </a:solidFill>
                          <a:latin typeface="Calibri"/>
                        </a:defRPr>
                      </a:pPr>
                      <a:r>
                        <a:t>Dampak Waktu &amp; Layanan: Aplikasi sering not responding atau data korup. Rekapitulasi memakan waktu berminggu-minggu dan info jadwal terlambat diterima mahasiswa.</a:t>
                      </a:r>
                    </a:p>
                  </a:txBody>
                  <a:tcPr>
                    <a:solidFill>
                      <a:srgbClr val="FEF2F2"/>
                    </a:solidFill>
                  </a:tcPr>
                </a:tc>
              </a:tr>
              <a:tr h="859536">
                <a:tc>
                  <a:txBody>
                    <a:bodyPr/>
                    <a:lstStyle/>
                    <a:p>
                      <a:pPr>
                        <a:defRPr sz="1000" b="1">
                          <a:solidFill>
                            <a:srgbClr val="980517"/>
                          </a:solidFill>
                          <a:latin typeface="Calibri"/>
                        </a:defRPr>
                      </a:pPr>
                      <a:r>
                        <a:t>3. Bottleneck Loket Posko &amp; Risiko Double-Claim</a:t>
                      </a:r>
                    </a:p>
                  </a:txBody>
                  <a:tcPr>
                    <a:solidFill>
                      <a:srgbClr val="F8FAFC"/>
                    </a:solidFill>
                  </a:tcPr>
                </a:tc>
                <a:tc>
                  <a:txBody>
                    <a:bodyPr/>
                    <a:lstStyle/>
                    <a:p>
                      <a:pPr>
                        <a:defRPr sz="1000">
                          <a:solidFill>
                            <a:srgbClr val="0F172A"/>
                          </a:solidFill>
                          <a:latin typeface="Calibri"/>
                        </a:defRPr>
                      </a:pPr>
                      <a:r>
                        <a:t>Pengecekan lunas, pencocokan hak prodi, dan paraf bukti serah terima dilakukan manual dengan mencentang map formulir kertas fisik.</a:t>
                      </a:r>
                    </a:p>
                  </a:txBody>
                  <a:tcPr>
                    <a:solidFill>
                      <a:srgbClr val="F8FAFC"/>
                    </a:solidFill>
                  </a:tcPr>
                </a:tc>
                <a:tc>
                  <a:txBody>
                    <a:bodyPr/>
                    <a:lstStyle/>
                    <a:p>
                      <a:pPr>
                        <a:defRPr sz="1000">
                          <a:solidFill>
                            <a:srgbClr val="0F172A"/>
                          </a:solidFill>
                          <a:latin typeface="Calibri"/>
                        </a:defRPr>
                      </a:pPr>
                      <a:r>
                        <a:t>Dampak Waktu &amp; Akurasi: Waktu pelayanan lambat (15–20 menit per orang), antrean ratusan meter, serta rawan klaim ganda (double-claim) di loket atau hari berbeda.</a:t>
                      </a:r>
                    </a:p>
                  </a:txBody>
                  <a:tcPr>
                    <a:solidFill>
                      <a:srgbClr val="F8FAFC"/>
                    </a:solidFill>
                  </a:tcPr>
                </a:tc>
              </a:tr>
              <a:tr h="859536">
                <a:tc>
                  <a:txBody>
                    <a:bodyPr/>
                    <a:lstStyle/>
                    <a:p>
                      <a:pPr>
                        <a:defRPr sz="1000" b="1">
                          <a:solidFill>
                            <a:srgbClr val="980517"/>
                          </a:solidFill>
                          <a:latin typeface="Calibri"/>
                        </a:defRPr>
                      </a:pPr>
                      <a:r>
                        <a:t>4. Susut Stok Liar &amp; Valuasi HPP Buram</a:t>
                      </a:r>
                    </a:p>
                  </a:txBody>
                  <a:tcPr>
                    <a:solidFill>
                      <a:srgbClr val="FEF2F2"/>
                    </a:solidFill>
                  </a:tcPr>
                </a:tc>
                <a:tc>
                  <a:txBody>
                    <a:bodyPr/>
                    <a:lstStyle/>
                    <a:p>
                      <a:pPr>
                        <a:defRPr sz="1000">
                          <a:solidFill>
                            <a:srgbClr val="0F172A"/>
                          </a:solidFill>
                          <a:latin typeface="Calibri"/>
                        </a:defRPr>
                      </a:pPr>
                      <a:r>
                        <a:t>Penerimaan seragam dari vendor dengan harga berbeda tidak dicatat per batch FIFO dan tanpa kartu mutasi stok otomatis yang terikat ke transaksi loket.</a:t>
                      </a:r>
                    </a:p>
                  </a:txBody>
                  <a:tcPr>
                    <a:solidFill>
                      <a:srgbClr val="FEF2F2"/>
                    </a:solidFill>
                  </a:tcPr>
                </a:tc>
                <a:tc>
                  <a:txBody>
                    <a:bodyPr/>
                    <a:lstStyle/>
                    <a:p>
                      <a:pPr>
                        <a:defRPr sz="1000">
                          <a:solidFill>
                            <a:srgbClr val="0F172A"/>
                          </a:solidFill>
                          <a:latin typeface="Calibri"/>
                        </a:defRPr>
                      </a:pPr>
                      <a:r>
                        <a:t>Dampak Biaya &amp; Akuntansi: Selisih barang susut (shrinkage) tidak terlacak penanggungjawabnya. Valuasi HPP dan analisis Gross Profit Margin (GPM) terdistorsi.</a:t>
                      </a:r>
                    </a:p>
                  </a:txBody>
                  <a:tcPr>
                    <a:solidFill>
                      <a:srgbClr val="FEF2F2"/>
                    </a:solidFill>
                  </a:tcPr>
                </a:tc>
              </a:tr>
            </a:tbl>
          </a:graphicData>
        </a:graphic>
      </p:graphicFrame>
      <p:sp>
        <p:nvSpPr>
          <p:cNvPr id="8" name="Rounded Rectangle 7"/>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AKAR KEGAGALAN SISTEMIK: </a:t>
            </a:r>
            <a:r>
              <a:rPr sz="1050">
                <a:solidFill>
                  <a:srgbClr val="0F172A"/>
                </a:solidFill>
                <a:latin typeface="Calibri"/>
              </a:rPr>
              <a:t>Ketiadaan Single Source of Truth berbasis database relasional menyebabkan silo data antar-staf, memicu kebocoran persediaan, dan membahayakan akuntabilitas keuangan.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4 • INFORMATION FLOW ANALYSIS   |   RUBRIK: INFORMATION FLOW ANALYSIS (15%)</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DIAGRAM ALIRAN INFORMASI &amp; TITIK KEMACETAN (AS-IS STATE)</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Identifikasi kebutuhan informasi stakeholder, asal-tujuan data, serta titik kritis informasi terlambat, tidak akurat, atau terputus.</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5257800"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01 • MAHASISWA ➔ KAMPUS</a:t>
            </a:r>
          </a:p>
          <a:p>
            <a:pPr>
              <a:spcAft>
                <a:spcPts val="600"/>
              </a:spcAft>
              <a:defRPr sz="1300" b="1">
                <a:solidFill>
                  <a:srgbClr val="0F172A"/>
                </a:solidFill>
                <a:latin typeface="Arial"/>
              </a:defRPr>
            </a:pPr>
            <a:r>
              <a:t>Kebutuhan: Profil Ukuran &amp; Jadwal</a:t>
            </a:r>
          </a:p>
          <a:p>
            <a:pPr>
              <a:spcAft>
                <a:spcPts val="400"/>
              </a:spcAft>
              <a:defRPr sz="1050">
                <a:solidFill>
                  <a:srgbClr val="0F172A"/>
                </a:solidFill>
                <a:latin typeface="Calibri"/>
              </a:defRPr>
            </a:pPr>
            <a:r>
              <a:t>•  Asal &amp; Tujuan: Mahasiswa mengisi form ke kampus dan menerima jadwal pembagian via email.</a:t>
            </a:r>
          </a:p>
          <a:p>
            <a:pPr>
              <a:spcAft>
                <a:spcPts val="400"/>
              </a:spcAft>
              <a:defRPr sz="1050">
                <a:solidFill>
                  <a:srgbClr val="0F172A"/>
                </a:solidFill>
                <a:latin typeface="Calibri"/>
              </a:defRPr>
            </a:pPr>
            <a:r>
              <a:t>•  Titik Masalah: Google Form terpisah tanpa validasi SKU baku, memicu input ganda dan rekap manual staf terlambat berminggu-minggu.</a:t>
            </a:r>
          </a:p>
          <a:p>
            <a:pPr>
              <a:spcBef>
                <a:spcPts val="400"/>
              </a:spcBef>
              <a:defRPr sz="1000" b="1">
                <a:solidFill>
                  <a:srgbClr val="980517"/>
                </a:solidFill>
                <a:latin typeface="Calibri"/>
              </a:defRPr>
            </a:pPr>
            <a:r>
              <a:t>➔  Kondisi: Informasi Terlambat &amp; Format Liar</a:t>
            </a:r>
          </a:p>
        </p:txBody>
      </p:sp>
      <p:sp>
        <p:nvSpPr>
          <p:cNvPr id="8" name="Rounded Rectangle 7"/>
          <p:cNvSpPr/>
          <p:nvPr/>
        </p:nvSpPr>
        <p:spPr>
          <a:xfrm>
            <a:off x="6199632" y="1417320"/>
            <a:ext cx="5257800" cy="20574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02 • KEUANGAN ➔ POSKO HARI-H</a:t>
            </a:r>
          </a:p>
          <a:p>
            <a:pPr>
              <a:spcAft>
                <a:spcPts val="600"/>
              </a:spcAft>
              <a:defRPr sz="1300" b="1">
                <a:solidFill>
                  <a:srgbClr val="0F172A"/>
                </a:solidFill>
                <a:latin typeface="Arial"/>
              </a:defRPr>
            </a:pPr>
            <a:r>
              <a:t>Kebutuhan: Status Lunas (Eligibility)</a:t>
            </a:r>
          </a:p>
          <a:p>
            <a:pPr>
              <a:spcAft>
                <a:spcPts val="400"/>
              </a:spcAft>
              <a:defRPr sz="1050">
                <a:solidFill>
                  <a:srgbClr val="0F172A"/>
                </a:solidFill>
                <a:latin typeface="Calibri"/>
              </a:defRPr>
            </a:pPr>
            <a:r>
              <a:t>•  Asal &amp; Tujuan: Staf Keuangan mengekspor data lunas ke staf meja posko pembagian seragam.</a:t>
            </a:r>
          </a:p>
          <a:p>
            <a:pPr>
              <a:spcAft>
                <a:spcPts val="400"/>
              </a:spcAft>
              <a:defRPr sz="1050">
                <a:solidFill>
                  <a:srgbClr val="0F172A"/>
                </a:solidFill>
                <a:latin typeface="Calibri"/>
              </a:defRPr>
            </a:pPr>
            <a:r>
              <a:t>•  Titik Masalah: Data terisolasi di file Excel lokal staf. Saat ada pelunasan baru di bank pada hari-H, staf posko tidak terupdate sehingga maba tertolak.</a:t>
            </a:r>
          </a:p>
          <a:p>
            <a:pPr>
              <a:spcBef>
                <a:spcPts val="400"/>
              </a:spcBef>
              <a:defRPr sz="1000" b="1">
                <a:solidFill>
                  <a:srgbClr val="980517"/>
                </a:solidFill>
                <a:latin typeface="Calibri"/>
              </a:defRPr>
            </a:pPr>
            <a:r>
              <a:t>➔  Kondisi: Informasi Terputus (Silo Data Lokal)</a:t>
            </a:r>
          </a:p>
        </p:txBody>
      </p:sp>
      <p:sp>
        <p:nvSpPr>
          <p:cNvPr id="9" name="Rounded Rectangle 8"/>
          <p:cNvSpPr/>
          <p:nvPr/>
        </p:nvSpPr>
        <p:spPr>
          <a:xfrm>
            <a:off x="731520" y="3657600"/>
            <a:ext cx="5257800"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03 • MEJA POSKO ➔ GUDANG</a:t>
            </a:r>
          </a:p>
          <a:p>
            <a:pPr>
              <a:spcAft>
                <a:spcPts val="600"/>
              </a:spcAft>
              <a:defRPr sz="1300" b="1">
                <a:solidFill>
                  <a:srgbClr val="0F172A"/>
                </a:solidFill>
                <a:latin typeface="Arial"/>
              </a:defRPr>
            </a:pPr>
            <a:r>
              <a:t>Kebutuhan: Kuota Hak &amp; Kartu Mutasi</a:t>
            </a:r>
          </a:p>
          <a:p>
            <a:pPr>
              <a:spcAft>
                <a:spcPts val="400"/>
              </a:spcAft>
              <a:defRPr sz="1050">
                <a:solidFill>
                  <a:srgbClr val="0F172A"/>
                </a:solidFill>
                <a:latin typeface="Calibri"/>
              </a:defRPr>
            </a:pPr>
            <a:r>
              <a:t>•  Asal &amp; Tujuan: Staf posko memverifikasi paket hak prodi dan mencatat mutasi seragam yang keluar.</a:t>
            </a:r>
          </a:p>
          <a:p>
            <a:pPr>
              <a:spcAft>
                <a:spcPts val="400"/>
              </a:spcAft>
              <a:defRPr sz="1050">
                <a:solidFill>
                  <a:srgbClr val="0F172A"/>
                </a:solidFill>
                <a:latin typeface="Calibri"/>
              </a:defRPr>
            </a:pPr>
            <a:r>
              <a:t>•  Titik Masalah: Penyerahan seragam dicatat di lembaran kertas. Pengurangan saldo stok gudang baru direkap malam hari, memicu risiko susut stok.</a:t>
            </a:r>
          </a:p>
          <a:p>
            <a:pPr>
              <a:spcBef>
                <a:spcPts val="400"/>
              </a:spcBef>
              <a:defRPr sz="1000" b="1">
                <a:solidFill>
                  <a:srgbClr val="980517"/>
                </a:solidFill>
                <a:latin typeface="Calibri"/>
              </a:defRPr>
            </a:pPr>
            <a:r>
              <a:t>➔  Kondisi: Informasi Terlambat (Paper-Based Tracking)</a:t>
            </a:r>
          </a:p>
        </p:txBody>
      </p:sp>
      <p:sp>
        <p:nvSpPr>
          <p:cNvPr id="10" name="Rounded Rectangle 9"/>
          <p:cNvSpPr/>
          <p:nvPr/>
        </p:nvSpPr>
        <p:spPr>
          <a:xfrm>
            <a:off x="6199632" y="3657600"/>
            <a:ext cx="5257800" cy="20574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04 • PENGADAAN ➔ PABRIK</a:t>
            </a:r>
          </a:p>
          <a:p>
            <a:pPr>
              <a:spcAft>
                <a:spcPts val="600"/>
              </a:spcAft>
              <a:defRPr sz="1300" b="1">
                <a:solidFill>
                  <a:srgbClr val="0F172A"/>
                </a:solidFill>
                <a:latin typeface="Arial"/>
              </a:defRPr>
            </a:pPr>
            <a:r>
              <a:t>Kebutuhan: Purchase Order Agregat</a:t>
            </a:r>
          </a:p>
          <a:p>
            <a:pPr>
              <a:spcAft>
                <a:spcPts val="400"/>
              </a:spcAft>
              <a:defRPr sz="1050">
                <a:solidFill>
                  <a:srgbClr val="0F172A"/>
                </a:solidFill>
                <a:latin typeface="Calibri"/>
              </a:defRPr>
            </a:pPr>
            <a:r>
              <a:t>•  Asal &amp; Tujuan: Pengadaan kampus mengirim rincian jumlah potong seragam dan sepatu ke pabrik.</a:t>
            </a:r>
          </a:p>
          <a:p>
            <a:pPr>
              <a:spcAft>
                <a:spcPts val="400"/>
              </a:spcAft>
              <a:defRPr sz="1050">
                <a:solidFill>
                  <a:srgbClr val="0F172A"/>
                </a:solidFill>
                <a:latin typeface="Calibri"/>
              </a:defRPr>
            </a:pPr>
            <a:r>
              <a:t>•  Titik Masalah: Purchase Order ke pabrik hanya estimasi kasar tanpa dasar profil data riil maba, memicu lead-time penukaran barang berbulan-bulan.</a:t>
            </a:r>
          </a:p>
          <a:p>
            <a:pPr>
              <a:spcBef>
                <a:spcPts val="400"/>
              </a:spcBef>
              <a:defRPr sz="1000" b="1">
                <a:solidFill>
                  <a:srgbClr val="980517"/>
                </a:solidFill>
                <a:latin typeface="Calibri"/>
              </a:defRPr>
            </a:pPr>
            <a:r>
              <a:t>➔  Kondisi: Informasi Tidak Akurat (Blind Ordering)</a:t>
            </a:r>
          </a:p>
        </p:txBody>
      </p:sp>
      <p:sp>
        <p:nvSpPr>
          <p:cNvPr id="11" name="Rounded Rectangle 10"/>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DIAGNOSA KUNCI: </a:t>
            </a:r>
            <a:r>
              <a:rPr sz="1050">
                <a:solidFill>
                  <a:srgbClr val="0F172A"/>
                </a:solidFill>
                <a:latin typeface="Calibri"/>
              </a:rPr>
              <a:t>Terjadi Information Latency dan Data Asymmetry akut yang melumpuhkan koordinasi antar-bagian. Solusi mutlak membutuhkan platform web tunggal terpusat.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5 • RECOMMENDED INFORMATION SYSTEMS   |   RUBRIK: IS JUSTIFICATION (20%)</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REKOMENDASI SISTEM INFORMASI: EKOSISTEM HORIZONU UNIFORM</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Pemilihan sistem terpadu (ERP, SCM, POS, WMS), justifikasi integrasi, fungsi operasional, dan manfaat nyata terukur.</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4" cy="4297680"/>
        </p:xfrm>
        <a:graphic>
          <a:graphicData uri="http://schemas.openxmlformats.org/drawingml/2006/table">
            <a:tbl>
              <a:tblPr firstRow="1" bandRow="1">
                <a:tableStyleId>{5C22544A-7EE6-4342-B048-85BDC9FD1C3A}</a:tableStyleId>
              </a:tblPr>
              <a:tblGrid>
                <a:gridCol w="2286000"/>
                <a:gridCol w="2651760"/>
                <a:gridCol w="3749039"/>
                <a:gridCol w="2041855"/>
              </a:tblGrid>
              <a:tr h="859536">
                <a:tc>
                  <a:txBody>
                    <a:bodyPr/>
                    <a:lstStyle/>
                    <a:p>
                      <a:pPr>
                        <a:defRPr sz="1100" b="1">
                          <a:solidFill>
                            <a:srgbClr val="FFFFFF"/>
                          </a:solidFill>
                          <a:latin typeface="Arial"/>
                        </a:defRPr>
                      </a:pPr>
                      <a:r>
                        <a:t>Masalah yang Diselesaikan</a:t>
                      </a:r>
                    </a:p>
                  </a:txBody>
                  <a:tcPr>
                    <a:solidFill>
                      <a:srgbClr val="980517"/>
                    </a:solidFill>
                  </a:tcPr>
                </a:tc>
                <a:tc>
                  <a:txBody>
                    <a:bodyPr/>
                    <a:lstStyle/>
                    <a:p>
                      <a:pPr>
                        <a:defRPr sz="1100" b="1">
                          <a:solidFill>
                            <a:srgbClr val="FFFFFF"/>
                          </a:solidFill>
                          <a:latin typeface="Arial"/>
                        </a:defRPr>
                      </a:pPr>
                      <a:r>
                        <a:t>Sistem &amp; Modul Terpilih</a:t>
                      </a:r>
                    </a:p>
                  </a:txBody>
                  <a:tcPr>
                    <a:solidFill>
                      <a:srgbClr val="980517"/>
                    </a:solidFill>
                  </a:tcPr>
                </a:tc>
                <a:tc>
                  <a:txBody>
                    <a:bodyPr/>
                    <a:lstStyle/>
                    <a:p>
                      <a:pPr>
                        <a:defRPr sz="1100" b="1">
                          <a:solidFill>
                            <a:srgbClr val="FFFFFF"/>
                          </a:solidFill>
                          <a:latin typeface="Arial"/>
                        </a:defRPr>
                      </a:pPr>
                      <a:r>
                        <a:t>Fungsi Sistem dalam Kasus</a:t>
                      </a:r>
                    </a:p>
                  </a:txBody>
                  <a:tcPr>
                    <a:solidFill>
                      <a:srgbClr val="980517"/>
                    </a:solidFill>
                  </a:tcPr>
                </a:tc>
                <a:tc>
                  <a:txBody>
                    <a:bodyPr/>
                    <a:lstStyle/>
                    <a:p>
                      <a:pPr>
                        <a:defRPr sz="1100" b="1">
                          <a:solidFill>
                            <a:srgbClr val="FFFFFF"/>
                          </a:solidFill>
                          <a:latin typeface="Arial"/>
                        </a:defRPr>
                      </a:pPr>
                      <a:r>
                        <a:t>Manfaat Nyata Terukur</a:t>
                      </a:r>
                    </a:p>
                  </a:txBody>
                  <a:tcPr>
                    <a:solidFill>
                      <a:srgbClr val="980517"/>
                    </a:solidFill>
                  </a:tcPr>
                </a:tc>
              </a:tr>
              <a:tr h="859536">
                <a:tc>
                  <a:txBody>
                    <a:bodyPr/>
                    <a:lstStyle/>
                    <a:p>
                      <a:pPr>
                        <a:defRPr sz="1000" b="1">
                          <a:solidFill>
                            <a:srgbClr val="980517"/>
                          </a:solidFill>
                          <a:latin typeface="Calibri"/>
                        </a:defRPr>
                      </a:pPr>
                      <a:r>
                        <a:t>Excel Crash &amp; Data Mahasiswa Terpecah</a:t>
                      </a:r>
                    </a:p>
                  </a:txBody>
                  <a:tcPr>
                    <a:solidFill>
                      <a:srgbClr val="F8FAFC"/>
                    </a:solidFill>
                  </a:tcPr>
                </a:tc>
                <a:tc>
                  <a:txBody>
                    <a:bodyPr/>
                    <a:lstStyle/>
                    <a:p>
                      <a:pPr>
                        <a:defRPr sz="1000">
                          <a:solidFill>
                            <a:srgbClr val="0F172A"/>
                          </a:solidFill>
                          <a:latin typeface="Calibri"/>
                        </a:defRPr>
                      </a:pPr>
                      <a:r>
                        <a:t>ERP Master &amp; Entitlement Engine (Database MySQL InnoDB)</a:t>
                      </a:r>
                    </a:p>
                  </a:txBody>
                  <a:tcPr>
                    <a:solidFill>
                      <a:srgbClr val="F8FAFC"/>
                    </a:solidFill>
                  </a:tcPr>
                </a:tc>
                <a:tc>
                  <a:txBody>
                    <a:bodyPr/>
                    <a:lstStyle/>
                    <a:p>
                      <a:pPr>
                        <a:defRPr sz="1000">
                          <a:solidFill>
                            <a:srgbClr val="0F172A"/>
                          </a:solidFill>
                          <a:latin typeface="Calibri"/>
                        </a:defRPr>
                      </a:pPr>
                      <a:r>
                        <a:t>Mengelola master data mahasiswa, struktur base code 4-segmen, impor massal via Maatwebsite, serta matriks kuota hak (Entitlement) otomatis per jenjang dan prodi.</a:t>
                      </a:r>
                    </a:p>
                  </a:txBody>
                  <a:tcPr>
                    <a:solidFill>
                      <a:srgbClr val="F8FAFC"/>
                    </a:solidFill>
                  </a:tcPr>
                </a:tc>
                <a:tc>
                  <a:txBody>
                    <a:bodyPr/>
                    <a:lstStyle/>
                    <a:p>
                      <a:pPr>
                        <a:defRPr sz="1000">
                          <a:solidFill>
                            <a:srgbClr val="0F172A"/>
                          </a:solidFill>
                          <a:latin typeface="Calibri"/>
                        </a:defRPr>
                      </a:pPr>
                      <a:r>
                        <a:t>100% Bebas Crash Excel, data terisolasi ACID, single source of truth.</a:t>
                      </a:r>
                    </a:p>
                  </a:txBody>
                  <a:tcPr>
                    <a:solidFill>
                      <a:srgbClr val="F8FAFC"/>
                    </a:solidFill>
                  </a:tcPr>
                </a:tc>
              </a:tr>
              <a:tr h="859536">
                <a:tc>
                  <a:txBody>
                    <a:bodyPr/>
                    <a:lstStyle/>
                    <a:p>
                      <a:pPr>
                        <a:defRPr sz="1000" b="1">
                          <a:solidFill>
                            <a:srgbClr val="980517"/>
                          </a:solidFill>
                          <a:latin typeface="Calibri"/>
                        </a:defRPr>
                      </a:pPr>
                      <a:r>
                        <a:t>Dead-Stock &amp; Pengumuman Jadwal Lambat</a:t>
                      </a:r>
                    </a:p>
                  </a:txBody>
                  <a:tcPr>
                    <a:solidFill>
                      <a:srgbClr val="FEF2F2"/>
                    </a:solidFill>
                  </a:tcPr>
                </a:tc>
                <a:tc>
                  <a:txBody>
                    <a:bodyPr/>
                    <a:lstStyle/>
                    <a:p>
                      <a:pPr>
                        <a:defRPr sz="1000">
                          <a:solidFill>
                            <a:srgbClr val="0F172A"/>
                          </a:solidFill>
                          <a:latin typeface="Calibri"/>
                        </a:defRPr>
                      </a:pPr>
                      <a:r>
                        <a:t>SCM Demand Planning Portal (Size Event &amp; Announcement Hub)</a:t>
                      </a:r>
                    </a:p>
                  </a:txBody>
                  <a:tcPr>
                    <a:solidFill>
                      <a:srgbClr val="FEF2F2"/>
                    </a:solidFill>
                  </a:tcPr>
                </a:tc>
                <a:tc>
                  <a:txBody>
                    <a:bodyPr/>
                    <a:lstStyle/>
                    <a:p>
                      <a:pPr>
                        <a:defRPr sz="1000">
                          <a:solidFill>
                            <a:srgbClr val="0F172A"/>
                          </a:solidFill>
                          <a:latin typeface="Calibri"/>
                        </a:defRPr>
                      </a:pPr>
                      <a:r>
                        <a:t>Membuka event input profil ukuran mandiri mahasiswa (SizeChangeEvent), siaran jadwal terfilter per prodi, serta kalkulasi otomatis Demand vs Shortage untuk tender vendor.</a:t>
                      </a:r>
                    </a:p>
                  </a:txBody>
                  <a:tcPr>
                    <a:solidFill>
                      <a:srgbClr val="FEF2F2"/>
                    </a:solidFill>
                  </a:tcPr>
                </a:tc>
                <a:tc>
                  <a:txBody>
                    <a:bodyPr/>
                    <a:lstStyle/>
                    <a:p>
                      <a:pPr>
                        <a:defRPr sz="1000">
                          <a:solidFill>
                            <a:srgbClr val="0F172A"/>
                          </a:solidFill>
                          <a:latin typeface="Calibri"/>
                        </a:defRPr>
                      </a:pPr>
                      <a:r>
                        <a:t>Zero Dead-Stock, pengadaan pabrik presisi 100% sesuai ukuran riil.</a:t>
                      </a:r>
                    </a:p>
                  </a:txBody>
                  <a:tcPr>
                    <a:solidFill>
                      <a:srgbClr val="FEF2F2"/>
                    </a:solidFill>
                  </a:tcPr>
                </a:tc>
              </a:tr>
              <a:tr h="859536">
                <a:tc>
                  <a:txBody>
                    <a:bodyPr/>
                    <a:lstStyle/>
                    <a:p>
                      <a:pPr>
                        <a:defRPr sz="1000" b="1">
                          <a:solidFill>
                            <a:srgbClr val="980517"/>
                          </a:solidFill>
                          <a:latin typeface="Calibri"/>
                        </a:defRPr>
                      </a:pPr>
                      <a:r>
                        <a:t>Bottleneck Antrean &amp; Risiko Double-Claim</a:t>
                      </a:r>
                    </a:p>
                  </a:txBody>
                  <a:tcPr>
                    <a:solidFill>
                      <a:srgbClr val="F8FAFC"/>
                    </a:solidFill>
                  </a:tcPr>
                </a:tc>
                <a:tc>
                  <a:txBody>
                    <a:bodyPr/>
                    <a:lstStyle/>
                    <a:p>
                      <a:pPr>
                        <a:defRPr sz="1000">
                          <a:solidFill>
                            <a:srgbClr val="0F172A"/>
                          </a:solidFill>
                          <a:latin typeface="Calibri"/>
                        </a:defRPr>
                      </a:pPr>
                      <a:r>
                        <a:t>POS QR Verification Engine (BaconQrCode &amp; HTML5 Scanner)</a:t>
                      </a:r>
                    </a:p>
                  </a:txBody>
                  <a:tcPr>
                    <a:solidFill>
                      <a:srgbClr val="F8FAFC"/>
                    </a:solidFill>
                  </a:tcPr>
                </a:tc>
                <a:tc>
                  <a:txBody>
                    <a:bodyPr/>
                    <a:lstStyle/>
                    <a:p>
                      <a:pPr>
                        <a:defRPr sz="1000">
                          <a:solidFill>
                            <a:srgbClr val="0F172A"/>
                          </a:solidFill>
                          <a:latin typeface="Calibri"/>
                        </a:defRPr>
                      </a:pPr>
                      <a:r>
                        <a:t>Penerbitan QR Code NIM beresolusi tinggi (Level H) dan eksekusi 6-Lapis Validasi Atomik via kamera webcam loket (Lunas, Sesi, Prodi, Gender, Sisa Hak, Stok Rak).</a:t>
                      </a:r>
                    </a:p>
                  </a:txBody>
                  <a:tcPr>
                    <a:solidFill>
                      <a:srgbClr val="F8FAFC"/>
                    </a:solidFill>
                  </a:tcPr>
                </a:tc>
                <a:tc>
                  <a:txBody>
                    <a:bodyPr/>
                    <a:lstStyle/>
                    <a:p>
                      <a:pPr>
                        <a:defRPr sz="1000">
                          <a:solidFill>
                            <a:srgbClr val="0F172A"/>
                          </a:solidFill>
                          <a:latin typeface="Calibri"/>
                        </a:defRPr>
                      </a:pPr>
                      <a:r>
                        <a:t>Waktu layan &lt; 30 detik/mhs, nol risiko penyerahan ganda.</a:t>
                      </a:r>
                    </a:p>
                  </a:txBody>
                  <a:tcPr>
                    <a:solidFill>
                      <a:srgbClr val="F8FAFC"/>
                    </a:solidFill>
                  </a:tcPr>
                </a:tc>
              </a:tr>
              <a:tr h="859536">
                <a:tc>
                  <a:txBody>
                    <a:bodyPr/>
                    <a:lstStyle/>
                    <a:p>
                      <a:pPr>
                        <a:defRPr sz="1000" b="1">
                          <a:solidFill>
                            <a:srgbClr val="980517"/>
                          </a:solidFill>
                          <a:latin typeface="Calibri"/>
                        </a:defRPr>
                      </a:pPr>
                      <a:r>
                        <a:t>Susut Stok Gudang &amp; Valuasi HPP Buram</a:t>
                      </a:r>
                    </a:p>
                  </a:txBody>
                  <a:tcPr>
                    <a:solidFill>
                      <a:srgbClr val="FEF2F2"/>
                    </a:solidFill>
                  </a:tcPr>
                </a:tc>
                <a:tc>
                  <a:txBody>
                    <a:bodyPr/>
                    <a:lstStyle/>
                    <a:p>
                      <a:pPr>
                        <a:defRPr sz="1000">
                          <a:solidFill>
                            <a:srgbClr val="0F172A"/>
                          </a:solidFill>
                          <a:latin typeface="Calibri"/>
                        </a:defRPr>
                      </a:pPr>
                      <a:r>
                        <a:t>WMS &amp; FIFO Costing Engine (StockBatch &amp; Movement Ledger)</a:t>
                      </a:r>
                    </a:p>
                  </a:txBody>
                  <a:tcPr>
                    <a:solidFill>
                      <a:srgbClr val="FEF2F2"/>
                    </a:solidFill>
                  </a:tcPr>
                </a:tc>
                <a:tc>
                  <a:txBody>
                    <a:bodyPr/>
                    <a:lstStyle/>
                    <a:p>
                      <a:pPr>
                        <a:defRPr sz="1000">
                          <a:solidFill>
                            <a:srgbClr val="0F172A"/>
                          </a:solidFill>
                          <a:latin typeface="Calibri"/>
                        </a:defRPr>
                      </a:pPr>
                      <a:r>
                        <a:t>Melacak batch penerimaan vendor tertua (FIFO), pemotongan stok berkartu audit, rekonsiliasi Stock Opname fisik via variance kalkulator, serta analitik margin laba kotor.</a:t>
                      </a:r>
                    </a:p>
                  </a:txBody>
                  <a:tcPr>
                    <a:solidFill>
                      <a:srgbClr val="FEF2F2"/>
                    </a:solidFill>
                  </a:tcPr>
                </a:tc>
                <a:tc>
                  <a:txBody>
                    <a:bodyPr/>
                    <a:lstStyle/>
                    <a:p>
                      <a:pPr>
                        <a:defRPr sz="1000">
                          <a:solidFill>
                            <a:srgbClr val="0F172A"/>
                          </a:solidFill>
                          <a:latin typeface="Calibri"/>
                        </a:defRPr>
                      </a:pPr>
                      <a:r>
                        <a:t>Valuasi HPP FIFO real-time, audit transparan, cegah selisih fisik.</a:t>
                      </a:r>
                    </a:p>
                  </a:txBody>
                  <a:tcPr>
                    <a:solidFill>
                      <a:srgbClr val="FEF2F2"/>
                    </a:solidFill>
                  </a:tcPr>
                </a:tc>
              </a:tr>
            </a:tbl>
          </a:graphicData>
        </a:graphic>
      </p:graphicFrame>
      <p:sp>
        <p:nvSpPr>
          <p:cNvPr id="8" name="Rounded Rectangle 7"/>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KEUNGGULAN INTEGRASI UNISTOCK: </a:t>
            </a:r>
            <a:r>
              <a:rPr sz="1050">
                <a:solidFill>
                  <a:srgbClr val="0F172A"/>
                </a:solidFill>
                <a:latin typeface="Calibri"/>
              </a:rPr>
              <a:t>Menyatukan keandalan ERP, perencanaan SCM, kecepatan POS loket, dan ketatnya WMS dalam satu portal monolitik Laravel 12 modern yang tangguh.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6 • PROPOSED SOLUTION DESIGN   |   RUBRIK: PROPOSED SOLUTION (15%)</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DIAGRAM ARSITEKTUR SOLUSI: 4 FASE CLOSED-LOOP SCM ENGINE</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Bagaimana subsistem terhubung erat, aliran data setelah perbaikan, dan pemanfaatan data untuk pengambilan keputusan.</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1 • HULU (INBOUND)</a:t>
            </a:r>
          </a:p>
          <a:p>
            <a:pPr>
              <a:spcAft>
                <a:spcPts val="600"/>
              </a:spcAft>
              <a:defRPr sz="1300" b="1">
                <a:solidFill>
                  <a:srgbClr val="0F172A"/>
                </a:solidFill>
                <a:latin typeface="Arial"/>
              </a:defRPr>
            </a:pPr>
            <a:r>
              <a:t>Inbound &amp; Batch FIFO</a:t>
            </a:r>
          </a:p>
          <a:p>
            <a:pPr>
              <a:spcAft>
                <a:spcPts val="400"/>
              </a:spcAft>
              <a:defRPr sz="1050">
                <a:solidFill>
                  <a:srgbClr val="0F172A"/>
                </a:solidFill>
                <a:latin typeface="Calibri"/>
              </a:defRPr>
            </a:pPr>
            <a:r>
              <a:t>•  Pencatatan barang dari vendor garmen pada modul StockReceive.</a:t>
            </a:r>
          </a:p>
          <a:p>
            <a:pPr>
              <a:spcAft>
                <a:spcPts val="400"/>
              </a:spcAft>
              <a:defRPr sz="1050">
                <a:solidFill>
                  <a:srgbClr val="0F172A"/>
                </a:solidFill>
                <a:latin typeface="Calibri"/>
              </a:defRPr>
            </a:pPr>
            <a:r>
              <a:t>•  Sistem menerbitkan ID batch terurut (FIFO Queue Sequence).</a:t>
            </a:r>
          </a:p>
          <a:p>
            <a:pPr>
              <a:spcAft>
                <a:spcPts val="400"/>
              </a:spcAft>
              <a:defRPr sz="1050">
                <a:solidFill>
                  <a:srgbClr val="0F172A"/>
                </a:solidFill>
                <a:latin typeface="Calibri"/>
              </a:defRPr>
            </a:pPr>
            <a:r>
              <a:t>•  Pencatatan otomatis jurnal mutasi masuk (StockMovement IN) dan penetapan unit HPP batch.</a:t>
            </a:r>
          </a:p>
          <a:p>
            <a:pPr>
              <a:spcBef>
                <a:spcPts val="400"/>
              </a:spcBef>
              <a:defRPr sz="1000" b="1">
                <a:solidFill>
                  <a:srgbClr val="980517"/>
                </a:solidFill>
                <a:latin typeface="Calibri"/>
              </a:defRPr>
            </a:pPr>
            <a:r>
              <a:t>➔  Output: Batch FIFO Terdaftar</a:t>
            </a:r>
          </a:p>
        </p:txBody>
      </p:sp>
      <p:sp>
        <p:nvSpPr>
          <p:cNvPr id="8" name="Rounded Rectangle 7"/>
          <p:cNvSpPr/>
          <p:nvPr/>
        </p:nvSpPr>
        <p:spPr>
          <a:xfrm>
            <a:off x="3456432"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2 • DEMAND (PLANNING)</a:t>
            </a:r>
          </a:p>
          <a:p>
            <a:pPr>
              <a:spcAft>
                <a:spcPts val="600"/>
              </a:spcAft>
              <a:defRPr sz="1300" b="1">
                <a:solidFill>
                  <a:srgbClr val="0F172A"/>
                </a:solidFill>
                <a:latin typeface="Arial"/>
              </a:defRPr>
            </a:pPr>
            <a:r>
              <a:t>Eligibility &amp; Profiling</a:t>
            </a:r>
          </a:p>
          <a:p>
            <a:pPr>
              <a:spcAft>
                <a:spcPts val="400"/>
              </a:spcAft>
              <a:defRPr sz="1050">
                <a:solidFill>
                  <a:srgbClr val="0F172A"/>
                </a:solidFill>
                <a:latin typeface="Calibri"/>
              </a:defRPr>
            </a:pPr>
            <a:r>
              <a:t>•  Keuangan mengaktifkan data mahasiswa lunas di EligibilityRecord.</a:t>
            </a:r>
          </a:p>
          <a:p>
            <a:pPr>
              <a:spcAft>
                <a:spcPts val="400"/>
              </a:spcAft>
              <a:defRPr sz="1050">
                <a:solidFill>
                  <a:srgbClr val="0F172A"/>
                </a:solidFill>
                <a:latin typeface="Calibri"/>
              </a:defRPr>
            </a:pPr>
            <a:r>
              <a:t>•  Mahasiswa input profil ukuran badan mandiri di event portal.</a:t>
            </a:r>
          </a:p>
          <a:p>
            <a:pPr>
              <a:spcAft>
                <a:spcPts val="400"/>
              </a:spcAft>
              <a:defRPr sz="1050">
                <a:solidFill>
                  <a:srgbClr val="0F172A"/>
                </a:solidFill>
                <a:latin typeface="Calibri"/>
              </a:defRPr>
            </a:pPr>
            <a:r>
              <a:t>•  Sistem menghitung Demand vs Shortage untuk acuan belanja pengadaan vendor.</a:t>
            </a:r>
          </a:p>
          <a:p>
            <a:pPr>
              <a:spcBef>
                <a:spcPts val="400"/>
              </a:spcBef>
              <a:defRPr sz="1000" b="1">
                <a:solidFill>
                  <a:srgbClr val="980517"/>
                </a:solidFill>
                <a:latin typeface="Calibri"/>
              </a:defRPr>
            </a:pPr>
            <a:r>
              <a:t>➔  Output: QR Code &amp; Jadwal Aktif</a:t>
            </a:r>
          </a:p>
        </p:txBody>
      </p:sp>
      <p:sp>
        <p:nvSpPr>
          <p:cNvPr id="9" name="Rounded Rectangle 8"/>
          <p:cNvSpPr/>
          <p:nvPr/>
        </p:nvSpPr>
        <p:spPr>
          <a:xfrm>
            <a:off x="6181344" y="1417320"/>
            <a:ext cx="2542032"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3 • HILIR (OUTBOUND)</a:t>
            </a:r>
          </a:p>
          <a:p>
            <a:pPr>
              <a:spcAft>
                <a:spcPts val="600"/>
              </a:spcAft>
              <a:defRPr sz="1300" b="1">
                <a:solidFill>
                  <a:srgbClr val="0F172A"/>
                </a:solidFill>
                <a:latin typeface="Arial"/>
              </a:defRPr>
            </a:pPr>
            <a:r>
              <a:t>POS QR &amp; 6-Lapis Validasi</a:t>
            </a:r>
          </a:p>
          <a:p>
            <a:pPr>
              <a:spcAft>
                <a:spcPts val="400"/>
              </a:spcAft>
              <a:defRPr sz="1050">
                <a:solidFill>
                  <a:srgbClr val="0F172A"/>
                </a:solidFill>
                <a:latin typeface="Calibri"/>
              </a:defRPr>
            </a:pPr>
            <a:r>
              <a:t>•  Staf memindai QR NIM mahasiswa di loket posko kampus.</a:t>
            </a:r>
          </a:p>
          <a:p>
            <a:pPr>
              <a:spcAft>
                <a:spcPts val="400"/>
              </a:spcAft>
              <a:defRPr sz="1050">
                <a:solidFill>
                  <a:srgbClr val="0F172A"/>
                </a:solidFill>
                <a:latin typeface="Calibri"/>
              </a:defRPr>
            </a:pPr>
            <a:r>
              <a:t>•  Eksekusi 6-Lapis Validasi Atomik via pessimistic lock (lockForUpdate).</a:t>
            </a:r>
          </a:p>
          <a:p>
            <a:pPr>
              <a:spcAft>
                <a:spcPts val="400"/>
              </a:spcAft>
              <a:defRPr sz="1050">
                <a:solidFill>
                  <a:srgbClr val="0F172A"/>
                </a:solidFill>
                <a:latin typeface="Calibri"/>
              </a:defRPr>
            </a:pPr>
            <a:r>
              <a:t>•  Pemotongan batch tertua otomatis (deductStockFifo) dan cetak tiket serah terima fisik.</a:t>
            </a:r>
          </a:p>
          <a:p>
            <a:pPr>
              <a:spcBef>
                <a:spcPts val="400"/>
              </a:spcBef>
              <a:defRPr sz="1000" b="1">
                <a:solidFill>
                  <a:srgbClr val="980517"/>
                </a:solidFill>
                <a:latin typeface="Calibri"/>
              </a:defRPr>
            </a:pPr>
            <a:r>
              <a:t>➔  Output: Seragam Diterima Pas</a:t>
            </a:r>
          </a:p>
        </p:txBody>
      </p:sp>
      <p:sp>
        <p:nvSpPr>
          <p:cNvPr id="10" name="Rounded Rectangle 9"/>
          <p:cNvSpPr/>
          <p:nvPr/>
        </p:nvSpPr>
        <p:spPr>
          <a:xfrm>
            <a:off x="8906256" y="1417320"/>
            <a:ext cx="2542032"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4 • KONTROL (AUDIT)</a:t>
            </a:r>
          </a:p>
          <a:p>
            <a:pPr>
              <a:spcAft>
                <a:spcPts val="600"/>
              </a:spcAft>
              <a:defRPr sz="1300" b="1">
                <a:solidFill>
                  <a:srgbClr val="0F172A"/>
                </a:solidFill>
                <a:latin typeface="Arial"/>
              </a:defRPr>
            </a:pPr>
            <a:r>
              <a:t>Opname &amp; Closed-Loop</a:t>
            </a:r>
          </a:p>
          <a:p>
            <a:pPr>
              <a:spcAft>
                <a:spcPts val="400"/>
              </a:spcAft>
              <a:defRPr sz="1050">
                <a:solidFill>
                  <a:srgbClr val="0F172A"/>
                </a:solidFill>
                <a:latin typeface="Calibri"/>
              </a:defRPr>
            </a:pPr>
            <a:r>
              <a:t>•  Stock Opname fisik berkala menghitung selisih variance otomatis.</a:t>
            </a:r>
          </a:p>
          <a:p>
            <a:pPr>
              <a:spcAft>
                <a:spcPts val="400"/>
              </a:spcAft>
              <a:defRPr sz="1050">
                <a:solidFill>
                  <a:srgbClr val="0F172A"/>
                </a:solidFill>
                <a:latin typeface="Calibri"/>
              </a:defRPr>
            </a:pPr>
            <a:r>
              <a:t>•  Penerbitan jurnal penyesuaian susut/surplus stok gudang.</a:t>
            </a:r>
          </a:p>
          <a:p>
            <a:pPr>
              <a:spcAft>
                <a:spcPts val="400"/>
              </a:spcAft>
              <a:defRPr sz="1050">
                <a:solidFill>
                  <a:srgbClr val="0F172A"/>
                </a:solidFill>
                <a:latin typeface="Calibri"/>
              </a:defRPr>
            </a:pPr>
            <a:r>
              <a:t>•  Generate analitik Gross Profit Margin (GPM) dan laporan sisa stok untuk pimpinan.</a:t>
            </a:r>
          </a:p>
          <a:p>
            <a:pPr>
              <a:spcBef>
                <a:spcPts val="400"/>
              </a:spcBef>
              <a:defRPr sz="1000" b="1">
                <a:solidFill>
                  <a:srgbClr val="980517"/>
                </a:solidFill>
                <a:latin typeface="Calibri"/>
              </a:defRPr>
            </a:pPr>
            <a:r>
              <a:t>➔  Output: Feedback Siklus Baru</a:t>
            </a:r>
          </a:p>
        </p:txBody>
      </p:sp>
      <p:sp>
        <p:nvSpPr>
          <p:cNvPr id="11" name="Rounded Rectangle 10"/>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PENGAMBILAN KEPUTUSAN CLOSED-LOOP: </a:t>
            </a:r>
            <a:r>
              <a:rPr sz="1050">
                <a:solidFill>
                  <a:srgbClr val="0F172A"/>
                </a:solidFill>
                <a:latin typeface="Calibri"/>
              </a:rPr>
              <a:t>Data analitik stok sisa dan tren ukuran dari Fase 4 secara otomatis menjadi input penetapan kuota anggaran dan purchase order ke pabrik pada Fase 1 semester berikutnya.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7 • IMPLEMENTATION AND RISKS   |   RUBRIK: FEASIBILITY &amp; RISK MITIGATION (15%)</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PRIORITAS IMPLEMENTASI &amp; MITIGASI RISIKO LAPANGAN</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Tiga langkah penerapan terencana, kesiapan SDM, serta mitigasi risiko kontingensi darurat hari-H pembagian.</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PRIORITAS IMPLEMENTASI</a:t>
            </a:r>
          </a:p>
          <a:p>
            <a:pPr>
              <a:spcAft>
                <a:spcPts val="600"/>
              </a:spcAft>
              <a:defRPr sz="1300" b="1">
                <a:solidFill>
                  <a:srgbClr val="0F172A"/>
                </a:solidFill>
                <a:latin typeface="Arial"/>
              </a:defRPr>
            </a:pPr>
            <a:r>
              <a:t>Tahapan Kesiapan Sistem</a:t>
            </a:r>
          </a:p>
          <a:p>
            <a:pPr>
              <a:spcAft>
                <a:spcPts val="400"/>
              </a:spcAft>
              <a:defRPr sz="1050">
                <a:solidFill>
                  <a:srgbClr val="0F172A"/>
                </a:solidFill>
                <a:latin typeface="Calibri"/>
              </a:defRPr>
            </a:pPr>
            <a:r>
              <a:t>•  Prioritas 1 (Master Data): Pembersihan data lama, pembuatan skema SKU 5-segmen, impor data mahasiswa, dan konfigurasi hak seragam prodi.</a:t>
            </a:r>
          </a:p>
          <a:p>
            <a:pPr>
              <a:spcAft>
                <a:spcPts val="400"/>
              </a:spcAft>
              <a:defRPr sz="1050">
                <a:solidFill>
                  <a:srgbClr val="0F172A"/>
                </a:solidFill>
                <a:latin typeface="Calibri"/>
              </a:defRPr>
            </a:pPr>
            <a:r>
              <a:t>•  Prioritas 2 (Integrasi Portal): Integrasi status lunas Keuangan (Eligibility), pembukaan jendela waktu pengisian profil ukuran maba, dan rilis jadwal.</a:t>
            </a:r>
          </a:p>
          <a:p>
            <a:pPr>
              <a:spcAft>
                <a:spcPts val="400"/>
              </a:spcAft>
              <a:defRPr sz="1050">
                <a:solidFill>
                  <a:srgbClr val="0F172A"/>
                </a:solidFill>
                <a:latin typeface="Calibri"/>
              </a:defRPr>
            </a:pPr>
            <a:r>
              <a:t>•  Prioritas 3 (Kesiapan SDM): Pelatihan teknis staf posko memakai scanner webcam, prosedur fitting ukuran, dan drill skenario darurat.</a:t>
            </a:r>
          </a:p>
          <a:p>
            <a:pPr>
              <a:spcBef>
                <a:spcPts val="400"/>
              </a:spcBef>
              <a:defRPr sz="1000" b="1">
                <a:solidFill>
                  <a:srgbClr val="980517"/>
                </a:solidFill>
                <a:latin typeface="Calibri"/>
              </a:defRPr>
            </a:pPr>
            <a:r>
              <a:t>➔  Roadmap: 6 Minggu Implementasi Penuh</a:t>
            </a:r>
          </a:p>
        </p:txBody>
      </p:sp>
      <p:sp>
        <p:nvSpPr>
          <p:cNvPr id="8" name="Rounded Rectangle 7"/>
          <p:cNvSpPr/>
          <p:nvPr/>
        </p:nvSpPr>
        <p:spPr>
          <a:xfrm>
            <a:off x="4370832" y="1417320"/>
            <a:ext cx="7086600"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RISIKO DARURAT LAPANGAN &amp; CARA MITIGASI</a:t>
            </a:r>
          </a:p>
          <a:p>
            <a:pPr>
              <a:spcAft>
                <a:spcPts val="600"/>
              </a:spcAft>
              <a:defRPr sz="1300" b="1">
                <a:solidFill>
                  <a:srgbClr val="0F172A"/>
                </a:solidFill>
                <a:latin typeface="Arial"/>
              </a:defRPr>
            </a:pPr>
            <a:r>
              <a:t>SOP Kontingensi Hari-H Posko</a:t>
            </a:r>
          </a:p>
          <a:p>
            <a:pPr>
              <a:spcAft>
                <a:spcPts val="400"/>
              </a:spcAft>
              <a:defRPr sz="1050">
                <a:solidFill>
                  <a:srgbClr val="0F172A"/>
                </a:solidFill>
                <a:latin typeface="Calibri"/>
              </a:defRPr>
            </a:pPr>
            <a:r>
              <a:t>•  RISIKO 1: Baterai HP Mahasiswa Mati / QR Rusak</a:t>
            </a:r>
            <a:br/>
            <a:r>
              <a:t>• Kendala: Mahasiswa tidak bisa menampilkan QR Code di layar ponsel.</a:t>
            </a:r>
            <a:br/>
            <a:r>
              <a:t>• Mitigasi UniStock: Bilah scanner staf posko dilengkapi fitur Fallback Search manual via NIM atau Nama yang langsung memanggil profil hak seketika.</a:t>
            </a:r>
          </a:p>
          <a:p>
            <a:pPr>
              <a:spcAft>
                <a:spcPts val="400"/>
              </a:spcAft>
              <a:defRPr sz="1050">
                <a:solidFill>
                  <a:srgbClr val="0F172A"/>
                </a:solidFill>
                <a:latin typeface="Calibri"/>
              </a:defRPr>
            </a:pPr>
            <a:r>
              <a:t>•  RISIKO 2: Ukuran Rak Habis / Fitting Beda</a:t>
            </a:r>
            <a:br/>
            <a:r>
              <a:t>• Kendala: Ukuran fisik seragam di rak posko habis saat dicoba langsung.</a:t>
            </a:r>
            <a:br/>
            <a:r>
              <a:t>• Mitigasi UniStock: Fitur Partial Pickup memungkinkan staf menyerahkan barang yang tersedia (sisa hak tidak hangus &amp; dijadwal ulang) dan mencatat tukar ukuran di student_size_histories.</a:t>
            </a:r>
          </a:p>
          <a:p>
            <a:pPr>
              <a:spcAft>
                <a:spcPts val="400"/>
              </a:spcAft>
              <a:defRPr sz="1050">
                <a:solidFill>
                  <a:srgbClr val="0F172A"/>
                </a:solidFill>
                <a:latin typeface="Calibri"/>
              </a:defRPr>
            </a:pPr>
            <a:r>
              <a:t>•  RISIKO 3: Jaringan Internet Kampus Lambat / Dobel Klik</a:t>
            </a:r>
            <a:br/>
            <a:r>
              <a:t>• Kendala: Sinyal wifi fluktuatif menyebabkan staf mengklik tombol konfirmasi berulang kali.</a:t>
            </a:r>
            <a:br/>
            <a:r>
              <a:t>• Mitigasi UniStock: Transaksi dilindungi Pessimistic Row Locking (lockForUpdate) dan proteksi idempotensi, menjamin nol pemotongan stok ganda.</a:t>
            </a:r>
          </a:p>
          <a:p>
            <a:pPr>
              <a:spcBef>
                <a:spcPts val="400"/>
              </a:spcBef>
              <a:defRPr sz="1000" b="1">
                <a:solidFill>
                  <a:srgbClr val="980517"/>
                </a:solidFill>
                <a:latin typeface="Calibri"/>
              </a:defRPr>
            </a:pPr>
            <a:r>
              <a:t>➔  Toleransi Kesalahan: Resiliensi Operasional Tinggi</a:t>
            </a:r>
          </a:p>
        </p:txBody>
      </p:sp>
      <p:sp>
        <p:nvSpPr>
          <p:cNvPr id="9" name="Rounded Rectangle 8"/>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RESILIENSI OPERASIONAL TINGGI: </a:t>
            </a:r>
            <a:r>
              <a:rPr sz="1050">
                <a:solidFill>
                  <a:srgbClr val="0F172A"/>
                </a:solidFill>
                <a:latin typeface="Calibri"/>
              </a:rPr>
              <a:t>UniStock dirancang dengan pertimbangan toleransi kesalahan nyata (fault-tolerant), menjamin pembagian di posko kampus tetap berjalan lancar dalam kondisi darurat apa pun.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65760"/>
            <a:ext cx="73152" cy="777240"/>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320040"/>
            <a:ext cx="10515600" cy="256032"/>
          </a:xfrm>
          <a:prstGeom prst="rect">
            <a:avLst/>
          </a:prstGeom>
          <a:noFill/>
        </p:spPr>
        <p:txBody>
          <a:bodyPr wrap="square">
            <a:spAutoFit/>
          </a:bodyPr>
          <a:lstStyle/>
          <a:p>
            <a:pPr>
              <a:defRPr sz="1000" b="1">
                <a:solidFill>
                  <a:srgbClr val="980517"/>
                </a:solidFill>
                <a:latin typeface="Arial"/>
              </a:defRPr>
            </a:pPr>
            <a:r>
              <a:t>SLIDE 8 • CONCLUSION &amp; BENEFITS   |   RUBRIK: PRESENTATION &amp; IMPACT (15%)</a:t>
            </a:r>
          </a:p>
        </p:txBody>
      </p:sp>
      <p:sp>
        <p:nvSpPr>
          <p:cNvPr id="4" name="TextBox 3"/>
          <p:cNvSpPr txBox="1"/>
          <p:nvPr/>
        </p:nvSpPr>
        <p:spPr>
          <a:xfrm>
            <a:off x="914400" y="548640"/>
            <a:ext cx="10515600" cy="411480"/>
          </a:xfrm>
          <a:prstGeom prst="rect">
            <a:avLst/>
          </a:prstGeom>
          <a:noFill/>
        </p:spPr>
        <p:txBody>
          <a:bodyPr wrap="square">
            <a:spAutoFit/>
          </a:bodyPr>
          <a:lstStyle/>
          <a:p>
            <a:pPr>
              <a:defRPr sz="2000" b="1">
                <a:solidFill>
                  <a:srgbClr val="0F172A"/>
                </a:solidFill>
                <a:latin typeface="Arial"/>
              </a:defRPr>
            </a:pPr>
            <a:r>
              <a:t>KESIMPULAN &amp; TIGA MANFAAT TERUKUR YANG DIHASILKAN</a:t>
            </a:r>
          </a:p>
        </p:txBody>
      </p:sp>
      <p:sp>
        <p:nvSpPr>
          <p:cNvPr id="5" name="TextBox 4"/>
          <p:cNvSpPr txBox="1"/>
          <p:nvPr/>
        </p:nvSpPr>
        <p:spPr>
          <a:xfrm>
            <a:off x="914400" y="960120"/>
            <a:ext cx="10515600" cy="274320"/>
          </a:xfrm>
          <a:prstGeom prst="rect">
            <a:avLst/>
          </a:prstGeom>
          <a:noFill/>
        </p:spPr>
        <p:txBody>
          <a:bodyPr wrap="square">
            <a:spAutoFit/>
          </a:bodyPr>
          <a:lstStyle/>
          <a:p>
            <a:pPr>
              <a:defRPr sz="1150">
                <a:solidFill>
                  <a:srgbClr val="475569"/>
                </a:solidFill>
                <a:latin typeface="Calibri"/>
              </a:defRPr>
            </a:pPr>
            <a:r>
              <a:t>Rangkuman dampak nyata sistem informasi HorizonU Uniform (UniStock SCM) bagi efisiensi operasional dan akuntabilitas keuangan.</a:t>
            </a:r>
          </a:p>
        </p:txBody>
      </p:sp>
      <p:sp>
        <p:nvSpPr>
          <p:cNvPr id="6" name="Rectangle 5"/>
          <p:cNvSpPr/>
          <p:nvPr/>
        </p:nvSpPr>
        <p:spPr>
          <a:xfrm>
            <a:off x="731520" y="1261872"/>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29768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01 • EFISIENSI WAKTU</a:t>
            </a:r>
          </a:p>
          <a:p>
            <a:pPr>
              <a:spcAft>
                <a:spcPts val="600"/>
              </a:spcAft>
              <a:defRPr sz="1300" b="1">
                <a:solidFill>
                  <a:srgbClr val="0F172A"/>
                </a:solidFill>
                <a:latin typeface="Arial"/>
              </a:defRPr>
            </a:pPr>
            <a:r>
              <a:t>&lt; 30 Detik per Mahasiswa</a:t>
            </a:r>
          </a:p>
          <a:p>
            <a:pPr>
              <a:spcAft>
                <a:spcPts val="400"/>
              </a:spcAft>
              <a:defRPr sz="1050">
                <a:solidFill>
                  <a:srgbClr val="0F172A"/>
                </a:solidFill>
                <a:latin typeface="Calibri"/>
              </a:defRPr>
            </a:pPr>
            <a:r>
              <a:t>•  Memangkas waktu layanan loket dari yang sebelumnya 15–20 menit per mahasiswa menjadi di bawah 30 detik.</a:t>
            </a:r>
          </a:p>
          <a:p>
            <a:pPr>
              <a:spcAft>
                <a:spcPts val="400"/>
              </a:spcAft>
              <a:defRPr sz="1050">
                <a:solidFill>
                  <a:srgbClr val="0F172A"/>
                </a:solidFill>
                <a:latin typeface="Calibri"/>
              </a:defRPr>
            </a:pPr>
            <a:r>
              <a:t>•  Pemindaian QR Code instan berbasis NIM dan eksekusi 6-lapis validasi otomatis.</a:t>
            </a:r>
          </a:p>
          <a:p>
            <a:pPr>
              <a:spcAft>
                <a:spcPts val="400"/>
              </a:spcAft>
              <a:defRPr sz="1050">
                <a:solidFill>
                  <a:srgbClr val="0F172A"/>
                </a:solidFill>
                <a:latin typeface="Calibri"/>
              </a:defRPr>
            </a:pPr>
            <a:r>
              <a:t>•  Mengeliminasi antrean panjang yang berdesakan di posko kampus setiap awal tahun ajaran baru.</a:t>
            </a:r>
          </a:p>
          <a:p>
            <a:pPr>
              <a:spcBef>
                <a:spcPts val="400"/>
              </a:spcBef>
              <a:defRPr sz="1000" b="1">
                <a:solidFill>
                  <a:srgbClr val="980517"/>
                </a:solidFill>
                <a:latin typeface="Calibri"/>
              </a:defRPr>
            </a:pPr>
            <a:r>
              <a:t>➔  Dampak: Pelayanan Mahasiswa Cepat &amp; Nyaman</a:t>
            </a:r>
          </a:p>
        </p:txBody>
      </p:sp>
      <p:sp>
        <p:nvSpPr>
          <p:cNvPr id="8" name="Rounded Rectangle 7"/>
          <p:cNvSpPr/>
          <p:nvPr/>
        </p:nvSpPr>
        <p:spPr>
          <a:xfrm>
            <a:off x="4370832"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02 • AKURASI INVENTARIS</a:t>
            </a:r>
          </a:p>
          <a:p>
            <a:pPr>
              <a:spcAft>
                <a:spcPts val="600"/>
              </a:spcAft>
              <a:defRPr sz="1300" b="1">
                <a:solidFill>
                  <a:srgbClr val="0F172A"/>
                </a:solidFill>
                <a:latin typeface="Arial"/>
              </a:defRPr>
            </a:pPr>
            <a:r>
              <a:t>Zero (0) Dead-Stock</a:t>
            </a:r>
          </a:p>
          <a:p>
            <a:pPr>
              <a:spcAft>
                <a:spcPts val="400"/>
              </a:spcAft>
              <a:defRPr sz="1050">
                <a:solidFill>
                  <a:srgbClr val="0F172A"/>
                </a:solidFill>
                <a:latin typeface="Calibri"/>
              </a:defRPr>
            </a:pPr>
            <a:r>
              <a:t>•  Profiling ukuran mandiri oleh mahasiswa sebelum tender vendor garmen dibuka.</a:t>
            </a:r>
          </a:p>
          <a:p>
            <a:pPr>
              <a:spcAft>
                <a:spcPts val="400"/>
              </a:spcAft>
              <a:defRPr sz="1050">
                <a:solidFill>
                  <a:srgbClr val="0F172A"/>
                </a:solidFill>
                <a:latin typeface="Calibri"/>
              </a:defRPr>
            </a:pPr>
            <a:r>
              <a:t>•  Kalkulasi Demand vs Shortage otomatis memastikan pesanan pabrik selaras 100% dengan kebutuhan tubuh riil mahasiswa.</a:t>
            </a:r>
          </a:p>
          <a:p>
            <a:pPr>
              <a:spcAft>
                <a:spcPts val="400"/>
              </a:spcAft>
              <a:defRPr sz="1050">
                <a:solidFill>
                  <a:srgbClr val="0F172A"/>
                </a:solidFill>
                <a:latin typeface="Calibri"/>
              </a:defRPr>
            </a:pPr>
            <a:r>
              <a:t>•  Tidak ada lagi seragam berukuran ekstrem yang mengendap bertahun-tahun di gudang.</a:t>
            </a:r>
          </a:p>
          <a:p>
            <a:pPr>
              <a:spcBef>
                <a:spcPts val="400"/>
              </a:spcBef>
              <a:defRPr sz="1000" b="1">
                <a:solidFill>
                  <a:srgbClr val="980517"/>
                </a:solidFill>
                <a:latin typeface="Calibri"/>
              </a:defRPr>
            </a:pPr>
            <a:r>
              <a:t>➔  Dampak: Optimalisasi Modal Kerja Kampus</a:t>
            </a:r>
          </a:p>
        </p:txBody>
      </p:sp>
      <p:sp>
        <p:nvSpPr>
          <p:cNvPr id="9" name="Rounded Rectangle 8"/>
          <p:cNvSpPr/>
          <p:nvPr/>
        </p:nvSpPr>
        <p:spPr>
          <a:xfrm>
            <a:off x="8010144" y="1417320"/>
            <a:ext cx="3429000" cy="42976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03 • AKUNTABILITAS BIAYA</a:t>
            </a:r>
          </a:p>
          <a:p>
            <a:pPr>
              <a:spcAft>
                <a:spcPts val="600"/>
              </a:spcAft>
              <a:defRPr sz="1300" b="1">
                <a:solidFill>
                  <a:srgbClr val="0F172A"/>
                </a:solidFill>
                <a:latin typeface="Arial"/>
              </a:defRPr>
            </a:pPr>
            <a:r>
              <a:t>100% Valuasi FIFO Real-Time</a:t>
            </a:r>
          </a:p>
          <a:p>
            <a:pPr>
              <a:spcAft>
                <a:spcPts val="400"/>
              </a:spcAft>
              <a:defRPr sz="1050">
                <a:solidFill>
                  <a:srgbClr val="0F172A"/>
                </a:solidFill>
                <a:latin typeface="Calibri"/>
              </a:defRPr>
            </a:pPr>
            <a:r>
              <a:t>•  Mengeliminasi ketergantungan pada spreadsheet Excel raksasa yang rawan rusak atau korup.</a:t>
            </a:r>
          </a:p>
          <a:p>
            <a:pPr>
              <a:spcAft>
                <a:spcPts val="400"/>
              </a:spcAft>
              <a:defRPr sz="1050">
                <a:solidFill>
                  <a:srgbClr val="0F172A"/>
                </a:solidFill>
                <a:latin typeface="Calibri"/>
              </a:defRPr>
            </a:pPr>
            <a:r>
              <a:t>•  Seluruh pergerakan stok dicatat otomatis ke kartu mutasi persediaan berbasis urutan batch FIFO.</a:t>
            </a:r>
          </a:p>
          <a:p>
            <a:pPr>
              <a:spcAft>
                <a:spcPts val="400"/>
              </a:spcAft>
              <a:defRPr sz="1050">
                <a:solidFill>
                  <a:srgbClr val="0F172A"/>
                </a:solidFill>
                <a:latin typeface="Calibri"/>
              </a:defRPr>
            </a:pPr>
            <a:r>
              <a:t>•  Laporan Harga Pokok Penjualan (HPP) dan Gross Profit Margin (GPM) tersedia secara transparan bagi pimpinan.</a:t>
            </a:r>
          </a:p>
          <a:p>
            <a:pPr>
              <a:spcBef>
                <a:spcPts val="400"/>
              </a:spcBef>
              <a:defRPr sz="1000" b="1">
                <a:solidFill>
                  <a:srgbClr val="980517"/>
                </a:solidFill>
                <a:latin typeface="Calibri"/>
              </a:defRPr>
            </a:pPr>
            <a:r>
              <a:t>➔  Dampak: Audit Trail Keuangan Bebas Selisih</a:t>
            </a:r>
          </a:p>
        </p:txBody>
      </p:sp>
      <p:sp>
        <p:nvSpPr>
          <p:cNvPr id="10" name="Rounded Rectangle 9"/>
          <p:cNvSpPr/>
          <p:nvPr/>
        </p:nvSpPr>
        <p:spPr>
          <a:xfrm>
            <a:off x="731520" y="5870448"/>
            <a:ext cx="10728655" cy="658368"/>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defRPr sz="1050" b="1">
                <a:solidFill>
                  <a:srgbClr val="980517"/>
                </a:solidFill>
                <a:latin typeface="Arial"/>
              </a:defRPr>
            </a:pPr>
            <a:r>
              <a:t>KESIMPULAN STRATEGIS SISTEM INFORMASI: </a:t>
            </a:r>
            <a:r>
              <a:rPr sz="1050">
                <a:solidFill>
                  <a:srgbClr val="0F172A"/>
                </a:solidFill>
                <a:latin typeface="Calibri"/>
              </a:rPr>
              <a:t>Sistem Informasi bukan sekadar alat pencatat administrasi, melainkan saraf penggerak rantai pasok yang mengunci fisik barang dengan kepatuhan finansial, serta mentransformasi tebakan manual menjadi keputusan bisnis berakurasi tinggi.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