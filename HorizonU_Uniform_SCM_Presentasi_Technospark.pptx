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BACA PRESENTER SLIDE 1 (Target: 01:10 Menit):</a:t>
            </a:r>
          </a:p>
          <a:p>
            <a:r>
              <a:t>"Selamat pagi/siang Yang Terhormat Bapak/Ibu Dosen Penguji dan Dewan Juri Technospark. Kami dari Tim Nirwana, yang beranggotakan Fhazar, Ferry, Hildan, Fadel, Daffa, dan Acep. Hari ini kami mempresentasikan analisis dan solusi sistem informasi rantai pasok terpadu bertajuk: HorizonU Uniform.</a:t>
            </a:r>
          </a:p>
          <a:p/>
          <a:p>
            <a:r>
              <a:t>Studi kasus kami berfokus pada Departemen Keuangan Universitas Horizon Indonesia, yang bertanggung jawab atas pengadaan dan distribusi ribuan paket seragam kuliah, jas almamater, sepatu laboratorium, hingga perlengkapan medis mahasiswa baru setiap tahunnya.</a:t>
            </a:r>
          </a:p>
          <a:p/>
          <a:p>
            <a:r>
              <a:t>Sebelum HorizonU Uniform dibangun, pengelolaan dilakukan manual memakai spreadsheet Excel induk sebesar 4.5 Megabytes dengan belasan lembar kerja yang sering sekali mengalami lag dan crash. Di lapangan terjadi antrean panjang hingga 20 menit per mahasiswa, ketidakcocokan ukuran pakaian yang memicu penumpukan dead-stock, serta kerentanan klaim ganda. Mari kita lihat bagaimana rantai pasok ini bekerja."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BACA PRESENTER SLIDE 2 (Target: 00:45 Menit):</a:t>
            </a:r>
          </a:p>
          <a:p>
            <a:r>
              <a:t>"Pada Slide 2, izinkan kami memperkenalkan 6 anggota Tim Nirwana yang memiliki spesialisasi peran masing-masing dalam membangun HorizonU Uniform:</a:t>
            </a:r>
          </a:p>
          <a:p/>
          <a:p>
            <a:r>
              <a:t>1. Fhazar Raffiful Aqyla sebagai Project Manager, memimpin perumusan roadmap produk dan keselarasan strategi rantai pasok.</a:t>
            </a:r>
          </a:p>
          <a:p>
            <a:r>
              <a:t>2. Ferry Noer Hendriawan sebagai Frontend Developer, merancang tampilan antarmuka interaktif dan modul scanner posko.</a:t>
            </a:r>
          </a:p>
          <a:p>
            <a:r>
              <a:t>3. Hildan Anugrah Tamadi Putra sebagai Backend Developer, membangun logic Laravel 12, algoritma FIFO, dan concurrency lock.</a:t>
            </a:r>
          </a:p>
          <a:p>
            <a:r>
              <a:t>4. Fadel Rahmadhan sebagai Quality Assurance, menguji ketahanan sistem terhadap skenario double-claim dan stress test transaksi.</a:t>
            </a:r>
          </a:p>
          <a:p>
            <a:r>
              <a:t>5. Daffa Nazriel Zaidan sebagai UI/UX Designer, menyusun prototipe sistem desain Neo-Brutalism yang ergonomis bagi mahasiswa.</a:t>
            </a:r>
          </a:p>
          <a:p>
            <a:r>
              <a:t>6. Acep Ugan Saputra sebagai System Analyst, merancang pemodelan proses bisnis BPMN dan normalisasi basis data relasional.</a:t>
            </a:r>
          </a:p>
          <a:p/>
          <a:p>
            <a:r>
              <a:t>Dengan sinergi lintas peran inilah kami mentransformasi sistem rantai pasok seragam kampus secara utuh."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BACA PRESENTER SLIDE 3 (Target: 01:15 Menit):</a:t>
            </a:r>
          </a:p>
          <a:p>
            <a:r>
              <a:t>"Masuk ke Slide 3 mengenai Struktur Rantai Pasok. Rantai pasok HorizonU Uniform menghubungkan empat entitas stakeholder secara closed-loop:</a:t>
            </a:r>
          </a:p>
          <a:p/>
          <a:p>
            <a:r>
              <a:t>Pertama, di sisi Hulu (Supplier), terdapat Pabrik Garmen dan Sepatu yang memproduksi barang sesuai Purchase Order agregat kampus.</a:t>
            </a:r>
          </a:p>
          <a:p>
            <a:r>
              <a:t>Kedua, Gudang Logistik Kampus, yang bertindak sebagai distributor internal untuk memeriksa fisik, mencatat penerimaan batch, dan memberi nomor urut FIFO.</a:t>
            </a:r>
          </a:p>
          <a:p>
            <a:r>
              <a:t>Ketiga, Departemen Keuangan dan Staf Posko, yang bertugas memvalidasi status kelayakan pelunasan biaya serta melayani serah terima barang di loket.</a:t>
            </a:r>
          </a:p>
          <a:p>
            <a:r>
              <a:t>Dan keempat, di sisi Hilir (Customer), adalah Mahasiswa yang memiliki kuota hak barang sesuai prodinya.</a:t>
            </a:r>
          </a:p>
          <a:p/>
          <a:p>
            <a:r>
              <a:t>Prinsip dasar yang kami tanamkan adalah: 'Data Mengunci Fisik'. Artinya, seragam fisik di meja loket pantang keluar sebelum sistem memindai QR Code mahasiswa dan memastikan hak kuota serta status pembayarannya sah."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BACA PRESENTER SLIDE 4 (Target: 01:30 Menit):</a:t>
            </a:r>
          </a:p>
          <a:p>
            <a:r>
              <a:t>"Pada Slide 4, kami membedah empat akar masalah utama melalui tabel hubungan Masalah, Penyebab, dan Dampak sistemik:</a:t>
            </a:r>
          </a:p>
          <a:p/>
          <a:p>
            <a:r>
              <a:t>Masalah Pertama: Ketidakcocokan ukuran dan penumpukan dead-stock. Penyebabnya adalah pemesanan ke vendor hanya berbasis estimasi historis tanpa survey ukuran mandiri mahasiswa. Dampaknya, ukuran favorit habis seketika, ukuran ekstrem menumpuk bertahun-tahun, dan dana kampus tertahan.</a:t>
            </a:r>
          </a:p>
          <a:p/>
          <a:p>
            <a:r>
              <a:t>Masalah Kedua: Ketergantungan pada lembar kerja Excel raksasa yang sering crash saat mengolah ribuan data maba, ditambah broadcast jadwal dikirim manual per surel. Dampaknya waktu kerja staf terbuang berminggu-minggu dan informasi jadwal terlambat diterima mahasiswa.</a:t>
            </a:r>
          </a:p>
          <a:p/>
          <a:p>
            <a:r>
              <a:t>Masalah Ketiga: Kemacetan parah di loket posko karena verifikasi lunas dan pencatatan dilakukan manual di atas kertas. Dampaknya antrean meliuk ratusan meter dengan waktu layan hingga 15-20 menit per orang, serta rawan klaim ganda.</a:t>
            </a:r>
          </a:p>
          <a:p/>
          <a:p>
            <a:r>
              <a:t>Masalah Keempat: Penyusutan stok tanpa jejak audit karena pencampuran barang antar-pembelian tanpa kaidah FIFO, sehingga nilai HPP dan laba kotor tidak dapat dihitung akurat."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BACA PRESENTER SLIDE 5 (Target: 01:15 Menit):</a:t>
            </a:r>
          </a:p>
          <a:p>
            <a:r>
              <a:t>"Selanjutnya pada Slide 5, kami memetakan Analisis Aliran Informasi pada kondisi As-Is dan titik-titik kemacetannya:</a:t>
            </a:r>
          </a:p>
          <a:p/>
          <a:p>
            <a:r>
              <a:t>Pada Aliran 1 dari Mahasiswa ke Kampus, data ukuran diisi via formulir acak tanpa validasi SKU baku, sehingga rekapitulasi data terlambat dan penuh duplikasi.</a:t>
            </a:r>
          </a:p>
          <a:p>
            <a:r>
              <a:t>Pada Aliran 2 dari Keuangan ke Posko, data pelunasan terisolasi di laptop staf finance. Saat mahasiswa baru saja melunasi di bank pada hari-H, staf posko tidak mengetahuinya karena data belum tersinkronisasi.</a:t>
            </a:r>
          </a:p>
          <a:p>
            <a:r>
              <a:t>Pada Aliran 3 di meja posko, pencatatan serah terima memakai kertas checklist yang baru direkap malam hari, memicu celah barang hilang dan manipulasi.</a:t>
            </a:r>
          </a:p>
          <a:p>
            <a:r>
              <a:t>Dan pada Aliran 4 ke pabrik vendor, order produksi dibuat berdasar tebakan kasar sehingga waktu tunggu revisi ukuran memakan waktu berbulan-bulan.</a:t>
            </a:r>
          </a:p>
          <a:p/>
          <a:p>
            <a:r>
              <a:t>Kesimpulannya, terjadi silo data dan keterlambatan informasi akut yang melumpuhkan efisiensi."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BACA PRESENTER SLIDE 6 (Target: 01:30 Menit):</a:t>
            </a:r>
          </a:p>
          <a:p>
            <a:r>
              <a:t>"Untuk mengatasi persoalan tersebut, pada Slide 6 kami merekomendasikan empat subsistem terpadu di dalam arsitektur HorizonU Uniform:</a:t>
            </a:r>
          </a:p>
          <a:p/>
          <a:p>
            <a:r>
              <a:t>1. ERP Master &amp; Entitlement Engine: Berfungsi menggantikan Excel dengan basis data relasional MySQL InnoDB terstruktur, mengelola kuota hak per program studi, dan mengunci integritas transaksi. Manfaatnya: 100% bebas kendala Excel rusak.</a:t>
            </a:r>
          </a:p>
          <a:p/>
          <a:p>
            <a:r>
              <a:t>2. SCM Demand Planning Portal: Membuka portal mandiri bagi mahasiswa untuk mengisi ukuran baju dan sepatu sebelum produksi, serta menghitung kalkulasi demand vs shortage secara otomatis. Manfaatnya: Zero dead-stock dan pengadaan pabrik tepat sasaran.</a:t>
            </a:r>
          </a:p>
          <a:p/>
          <a:p>
            <a:r>
              <a:t>3. POS QR Verification Engine: Menghasilkan QR Code instan berbasis NIM dan mengeksekusi 6-Lapis Validasi otomatis melalui kamera webcam posko. Manfaatnya: Memangkas waktu layan menjadi di bawah 30 detik dan nol risiko klaim ganda.</a:t>
            </a:r>
          </a:p>
          <a:p/>
          <a:p>
            <a:r>
              <a:t>4. WMS &amp; FIFO Inventory Costing Engine: Mengatur pemotongan mutasi dari batch pembelian tertua secara FIFO, rekonsiliasi stock opname fisik, serta perhitungan valuasi HPP dan margin laba secara presisi."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BACA PRESENTER SLIDE 7 (Target: 01:25 Menit):</a:t>
            </a:r>
          </a:p>
          <a:p>
            <a:r>
              <a:t>"Pada Slide 7, kami tampilkan Desain Arsitektur Solusi yang bekerja dalam 4 Fase Tertutup (Closed-Loop Engine):</a:t>
            </a:r>
          </a:p>
          <a:p/>
          <a:p>
            <a:r>
              <a:t>Fase 1 (Inbound): Saat barang dari pabrik tiba, staf gudang mencatatnya pada modul StockReceive, menetapkan batch FIFO, dan mencatat unit HPP pembelian.</a:t>
            </a:r>
          </a:p>
          <a:p/>
          <a:p>
            <a:r>
              <a:t>Fase 2 (Planning): Departemen Keuangan mengaktifkan status lunas di Eligibility Record, mahasiswa mengisi profil ukuran di portal, dan sistem mengalokasikan paket hak barang.</a:t>
            </a:r>
          </a:p>
          <a:p/>
          <a:p>
            <a:r>
              <a:t>Fase 3 (Outbound): Di posko hari-H, staf memindai QR Code mahasiswa. Sistem mengeksekusi 6-lapis validasi menggunakan teknik pessimistic locking, memotong stok batch tertua, dan menyerahkan seragam.</a:t>
            </a:r>
          </a:p>
          <a:p/>
          <a:p>
            <a:r>
              <a:t>Fase 4 (Audit &amp; Control): Stock opname fisik berkala menghitung selisih varians, dan sistem menerbitkan laporan Gross Profit Margin.</a:t>
            </a:r>
          </a:p>
          <a:p/>
          <a:p>
            <a:r>
              <a:t>Data sisa stok dan tren ukuran dari Fase 4 ini secara otomatis menjadi acuan belanja pengadaan Fase 1 pada semester berikutnya, menutup siklus rantai pasok secara sempurna."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BACA PRESENTER SLIDE 8 (Target: 01:15 Menit):</a:t>
            </a:r>
          </a:p>
          <a:p>
            <a:r>
              <a:t>"Masuk ke Slide 8 mengenai Prioritas Implementasi dan Mitigasi Risiko Lapangan.</a:t>
            </a:r>
          </a:p>
          <a:p/>
          <a:p>
            <a:r>
              <a:t>Kami membagi tahapan implementasi menjadi 3 prioritas: Prioritas 1 adalah standarisasi master data dan SKU; Prioritas 2 adalah sinkronisasi status keuangan dan pembukaan portal ukuran; dan Prioritas 3 adalah pelatihan staf loket serta simulasi antrean posko.</a:t>
            </a:r>
          </a:p>
          <a:p/>
          <a:p>
            <a:r>
              <a:t>Kami juga telah merancang solusi atas 3 risiko darurat nyata di lapangan:</a:t>
            </a:r>
          </a:p>
          <a:p>
            <a:r>
              <a:t>Pertama, jika baterai HP mahasiswa mati atau tidak membawa QR, staf posko dapat menggunakan fitur fallback search manual via NIM.</a:t>
            </a:r>
          </a:p>
          <a:p>
            <a:r>
              <a:t>Kedua, jika stok ukuran di rak habis saat fitting, sistem mendukung fitur Partial Pickup di mana barang yang ada diserahkan tanpa menghanguskan sisa hak mahasiswa.</a:t>
            </a:r>
          </a:p>
          <a:p>
            <a:r>
              <a:t>Ketiga, jika koneksi internet kampus fluktuatif, database diproteksi oleh pessimistic row locking agar tidak terjadi pengurangan stok ganda."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BACA PRESENTER SLIDE 9 (Target: 00:55 Menit):</a:t>
            </a:r>
          </a:p>
          <a:p>
            <a:r>
              <a:t>"Sebagai penutup pada Slide 9, implementasi HorizonU Uniform menghadirkan 3 manfaat nyata dan terukur:</a:t>
            </a:r>
          </a:p>
          <a:p/>
          <a:p>
            <a:r>
              <a:t>1. Efisiensi Waktu: Waktu pelayanan posko berhasil dipangkas dari 15–20 menit menjadi di bawah 30 detik per mahasiswa.</a:t>
            </a:r>
          </a:p>
          <a:p>
            <a:r>
              <a:t>2. Akurasi Persediaan: Mewujudkan target Zero Dead-Stock karena pengadaan pabrik 100% selaras dengan ukuran tubuh riil mahasiswa.</a:t>
            </a:r>
          </a:p>
          <a:p>
            <a:r>
              <a:t>3. Akuntabilitas Biaya: Menghilangkan kerentanan crash Excel dengan sistem penilaian inventaris berbasis FIFO dan analitik Gross Profit Margin real-time.</a:t>
            </a:r>
          </a:p>
          <a:p/>
          <a:p>
            <a:r>
              <a:t>Statement akhir kami: Sistem Informasi bukan sekadar alat pencatat administrasi, melainkan saraf penggerak utama rantai pasok yang mengunci fisik barang dengan kepatuhan finansial, serta mengubah tebakan manual menjadi keputusan bisnis berakurasi tinggi.</a:t>
            </a:r>
          </a:p>
          <a:p/>
          <a:p>
            <a:r>
              <a:t>Sekian presentasi dari Tim Nirwana. Kami siap menerima pertanyaan dari Dewan Juri. Terima kasih."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jpg"/><Relationship Id="rId7" Type="http://schemas.openxmlformats.org/officeDocument/2006/relationships/image" Target="../media/image8.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731520" y="329184"/>
            <a:ext cx="384048" cy="384048"/>
          </a:xfrm>
          <a:prstGeom prst="rect">
            <a:avLst/>
          </a:prstGeom>
        </p:spPr>
      </p:pic>
      <p:sp>
        <p:nvSpPr>
          <p:cNvPr id="3" name="TextBox 2"/>
          <p:cNvSpPr txBox="1"/>
          <p:nvPr/>
        </p:nvSpPr>
        <p:spPr>
          <a:xfrm>
            <a:off x="1207008" y="402336"/>
            <a:ext cx="6858000" cy="320040"/>
          </a:xfrm>
          <a:prstGeom prst="rect">
            <a:avLst/>
          </a:prstGeom>
          <a:noFill/>
        </p:spPr>
        <p:txBody>
          <a:bodyPr wrap="square" lIns="0" rIns="0" tIns="0" bIns="0">
            <a:spAutoFit/>
          </a:bodyPr>
          <a:lstStyle/>
          <a:p>
            <a:r>
              <a:rPr sz="950" b="1">
                <a:solidFill>
                  <a:srgbClr val="64748B"/>
                </a:solidFill>
                <a:latin typeface="Calibri"/>
              </a:rPr>
              <a:t>DEPARTEMEN KEUANGAN • UNIVERSITAS HORIZON INDONESIA</a:t>
            </a:r>
          </a:p>
        </p:txBody>
      </p:sp>
      <p:pic>
        <p:nvPicPr>
          <p:cNvPr id="4" name="Picture 3" descr="technospark-logo.png"/>
          <p:cNvPicPr>
            <a:picLocks noChangeAspect="1"/>
          </p:cNvPicPr>
          <p:nvPr/>
        </p:nvPicPr>
        <p:blipFill>
          <a:blip r:embed="rId3"/>
          <a:stretch>
            <a:fillRect/>
          </a:stretch>
        </p:blipFill>
        <p:spPr>
          <a:xfrm>
            <a:off x="9738360" y="219456"/>
            <a:ext cx="1719072" cy="576990"/>
          </a:xfrm>
          <a:prstGeom prst="rect">
            <a:avLst/>
          </a:prstGeom>
        </p:spPr>
      </p:pic>
      <p:sp>
        <p:nvSpPr>
          <p:cNvPr id="5" name="Rectangle 4"/>
          <p:cNvSpPr/>
          <p:nvPr/>
        </p:nvSpPr>
        <p:spPr>
          <a:xfrm>
            <a:off x="731520" y="804672"/>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51560"/>
            <a:ext cx="10728655" cy="2286000"/>
          </a:xfrm>
          <a:prstGeom prst="rect">
            <a:avLst/>
          </a:prstGeom>
          <a:noFill/>
        </p:spPr>
        <p:txBody>
          <a:bodyPr wrap="square" lIns="0" rIns="0" tIns="0" bIns="0">
            <a:spAutoFit/>
          </a:bodyPr>
          <a:lstStyle/>
          <a:p>
            <a:pPr>
              <a:spcAft>
                <a:spcPts val="400"/>
              </a:spcAft>
              <a:defRPr sz="1100" b="1">
                <a:solidFill>
                  <a:srgbClr val="980517"/>
                </a:solidFill>
                <a:latin typeface="Arial"/>
              </a:defRPr>
            </a:pPr>
            <a:r>
              <a:t>SOLUSI RANTAI PASOK LOGISTIK KAMPUS TERINTEGRASI</a:t>
            </a:r>
          </a:p>
          <a:p>
            <a:pPr>
              <a:spcAft>
                <a:spcPts val="800"/>
              </a:spcAft>
            </a:pPr>
            <a:r>
              <a:rPr sz="3600" b="1">
                <a:solidFill>
                  <a:srgbClr val="0F172A"/>
                </a:solidFill>
                <a:latin typeface="Arial"/>
              </a:rPr>
              <a:t>HORIZONU </a:t>
            </a:r>
            <a:r>
              <a:rPr sz="3600" b="1" u="sng">
                <a:solidFill>
                  <a:srgbClr val="980517"/>
                </a:solidFill>
                <a:latin typeface="Arial"/>
              </a:rPr>
              <a:t>UNIFORM</a:t>
            </a:r>
          </a:p>
          <a:p>
            <a:pPr>
              <a:lnSpc>
                <a:spcPct val="125000"/>
              </a:lnSpc>
              <a:defRPr sz="1200">
                <a:solidFill>
                  <a:srgbClr val="4B5563"/>
                </a:solidFill>
                <a:latin typeface="Calibri"/>
              </a:defRPr>
            </a:pPr>
            <a:r>
              <a:t>Transformasi digital operasional seragam mahasiswa: Menghubungkan Hulu (Vendor Pabrik), Gudang Kampus, dan Bagian Keuangan hingga Hilir (Mahasiswa) berbasis data presisi dan aturan inventaris FIFO.</a:t>
            </a:r>
          </a:p>
        </p:txBody>
      </p:sp>
      <p:sp>
        <p:nvSpPr>
          <p:cNvPr id="7" name="Rounded Rectangle 6"/>
          <p:cNvSpPr/>
          <p:nvPr/>
        </p:nvSpPr>
        <p:spPr>
          <a:xfrm>
            <a:off x="731520" y="3520440"/>
            <a:ext cx="5257800" cy="2697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OBJEK &amp; KOMODITAS LOGISTIK</a:t>
            </a:r>
          </a:p>
          <a:p>
            <a:pPr>
              <a:spcAft>
                <a:spcPts val="500"/>
              </a:spcAft>
              <a:defRPr sz="1250" b="1">
                <a:solidFill>
                  <a:srgbClr val="0F172A"/>
                </a:solidFill>
                <a:latin typeface="Arial"/>
              </a:defRPr>
            </a:pPr>
            <a:r>
              <a:t>Pengadaan Perlengkapan Kampus</a:t>
            </a:r>
          </a:p>
          <a:p>
            <a:pPr>
              <a:spcAft>
                <a:spcPts val="300"/>
              </a:spcAft>
              <a:defRPr sz="1050">
                <a:solidFill>
                  <a:srgbClr val="0F172A"/>
                </a:solidFill>
                <a:latin typeface="Calibri"/>
              </a:defRPr>
            </a:pPr>
            <a:r>
              <a:t>•  Pengadaan dan penyaluran tahunan ribuan paket perlengkapan mahasiswa baru: Jas Almamater, Kemeja Putih, Celana/Rok Bahan, Sepatu Lab &amp; Dinas, serta Medical Kit.</a:t>
            </a:r>
          </a:p>
          <a:p>
            <a:pPr>
              <a:spcAft>
                <a:spcPts val="300"/>
              </a:spcAft>
              <a:defRPr sz="1050">
                <a:solidFill>
                  <a:srgbClr val="0F172A"/>
                </a:solidFill>
                <a:latin typeface="Calibri"/>
              </a:defRPr>
            </a:pPr>
            <a:r>
              <a:t>•  Penyaluran langsung secara terpusat tanpa perantara ritel komersial (Direct Campus SCM).</a:t>
            </a:r>
          </a:p>
          <a:p>
            <a:pPr>
              <a:spcBef>
                <a:spcPts val="400"/>
              </a:spcBef>
              <a:defRPr sz="1000" b="1">
                <a:solidFill>
                  <a:srgbClr val="980517"/>
                </a:solidFill>
                <a:latin typeface="Calibri"/>
              </a:defRPr>
            </a:pPr>
            <a:r>
              <a:t>➔  Model: Closed-Loop Campus SCM</a:t>
            </a:r>
          </a:p>
        </p:txBody>
      </p:sp>
      <p:sp>
        <p:nvSpPr>
          <p:cNvPr id="8" name="Rounded Rectangle 7"/>
          <p:cNvSpPr/>
          <p:nvPr/>
        </p:nvSpPr>
        <p:spPr>
          <a:xfrm>
            <a:off x="6199632" y="3520440"/>
            <a:ext cx="5257800" cy="2697480"/>
          </a:xfrm>
          <a:prstGeom prst="roundRect">
            <a:avLst/>
          </a:prstGeom>
          <a:solidFill>
            <a:srgbClr val="FEF2F2"/>
          </a:solidFill>
          <a:ln w="19050">
            <a:solidFill>
              <a:srgbClr val="98051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TANTANGAN OPERASIONAL UTAMA</a:t>
            </a:r>
          </a:p>
          <a:p>
            <a:pPr>
              <a:spcAft>
                <a:spcPts val="500"/>
              </a:spcAft>
              <a:defRPr sz="1250" b="1">
                <a:solidFill>
                  <a:srgbClr val="0F172A"/>
                </a:solidFill>
                <a:latin typeface="Arial"/>
              </a:defRPr>
            </a:pPr>
            <a:r>
              <a:t>Hambatan Spreadsheet &amp; Posko</a:t>
            </a:r>
          </a:p>
          <a:p>
            <a:pPr>
              <a:spcAft>
                <a:spcPts val="300"/>
              </a:spcAft>
              <a:defRPr sz="1050">
                <a:solidFill>
                  <a:srgbClr val="0F172A"/>
                </a:solidFill>
                <a:latin typeface="Calibri"/>
              </a:defRPr>
            </a:pPr>
            <a:r>
              <a:t>•  Spreadsheet Excel Induk 4.5 MB rawan crash dan lag saat ribuan mahasiswa mendaftar serentak.</a:t>
            </a:r>
          </a:p>
          <a:p>
            <a:pPr>
              <a:spcAft>
                <a:spcPts val="300"/>
              </a:spcAft>
              <a:defRPr sz="1050">
                <a:solidFill>
                  <a:srgbClr val="0F172A"/>
                </a:solidFill>
                <a:latin typeface="Calibri"/>
              </a:defRPr>
            </a:pPr>
            <a:r>
              <a:t>•  Waktu antrean posko fisik lambat (15–20 menit per mahasiswa) akibat verifikasi berkas manual.</a:t>
            </a:r>
          </a:p>
          <a:p>
            <a:pPr>
              <a:spcAft>
                <a:spcPts val="300"/>
              </a:spcAft>
              <a:defRPr sz="1050">
                <a:solidFill>
                  <a:srgbClr val="0F172A"/>
                </a:solidFill>
                <a:latin typeface="Calibri"/>
              </a:defRPr>
            </a:pPr>
            <a:r>
              <a:t>•  Tebakan rasio order pengadaan pabrik memicu dead-stock ekstrem dan modal kampus mengendap.</a:t>
            </a:r>
          </a:p>
          <a:p>
            <a:pPr>
              <a:spcBef>
                <a:spcPts val="400"/>
              </a:spcBef>
              <a:defRPr sz="1000" b="1">
                <a:solidFill>
                  <a:srgbClr val="980517"/>
                </a:solidFill>
                <a:latin typeface="Calibri"/>
              </a:defRPr>
            </a:pPr>
            <a:r>
              <a:t>➔  Dampak: Modal Mengendap &amp; Risiko Klaim Ganda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84048"/>
            <a:ext cx="54864" cy="713232"/>
          </a:xfrm>
          <a:prstGeom prst="rect">
            <a:avLst/>
          </a:prstGeom>
          <a:solidFill>
            <a:srgbClr val="980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347472"/>
            <a:ext cx="10515600" cy="219456"/>
          </a:xfrm>
          <a:prstGeom prst="rect">
            <a:avLst/>
          </a:prstGeom>
          <a:noFill/>
        </p:spPr>
        <p:txBody>
          <a:bodyPr wrap="square">
            <a:spAutoFit/>
          </a:bodyPr>
          <a:lstStyle/>
          <a:p>
            <a:pPr>
              <a:defRPr sz="950" b="1">
                <a:solidFill>
                  <a:srgbClr val="980517"/>
                </a:solidFill>
                <a:latin typeface="Arial"/>
              </a:defRPr>
            </a:pPr>
            <a:r>
              <a:t>PROFIL TIM PENGEMBANG</a:t>
            </a:r>
          </a:p>
        </p:txBody>
      </p:sp>
      <p:sp>
        <p:nvSpPr>
          <p:cNvPr id="4" name="TextBox 3"/>
          <p:cNvSpPr txBox="1"/>
          <p:nvPr/>
        </p:nvSpPr>
        <p:spPr>
          <a:xfrm>
            <a:off x="868680" y="548640"/>
            <a:ext cx="10515600" cy="384048"/>
          </a:xfrm>
          <a:prstGeom prst="rect">
            <a:avLst/>
          </a:prstGeom>
          <a:noFill/>
        </p:spPr>
        <p:txBody>
          <a:bodyPr wrap="square">
            <a:spAutoFit/>
          </a:bodyPr>
          <a:lstStyle/>
          <a:p>
            <a:pPr>
              <a:defRPr sz="1900" b="1">
                <a:solidFill>
                  <a:srgbClr val="0F172A"/>
                </a:solidFill>
                <a:latin typeface="Arial"/>
              </a:defRPr>
            </a:pPr>
            <a:r>
              <a:t>Our Team • Nirwana Development Team</a:t>
            </a:r>
          </a:p>
        </p:txBody>
      </p:sp>
      <p:sp>
        <p:nvSpPr>
          <p:cNvPr id="5" name="TextBox 4"/>
          <p:cNvSpPr txBox="1"/>
          <p:nvPr/>
        </p:nvSpPr>
        <p:spPr>
          <a:xfrm>
            <a:off x="868680" y="932688"/>
            <a:ext cx="10515600" cy="256032"/>
          </a:xfrm>
          <a:prstGeom prst="rect">
            <a:avLst/>
          </a:prstGeom>
          <a:noFill/>
        </p:spPr>
        <p:txBody>
          <a:bodyPr wrap="square">
            <a:spAutoFit/>
          </a:bodyPr>
          <a:lstStyle/>
          <a:p>
            <a:pPr>
              <a:defRPr sz="1100">
                <a:solidFill>
                  <a:srgbClr val="475569"/>
                </a:solidFill>
                <a:latin typeface="Calibri"/>
              </a:defRPr>
            </a:pPr>
            <a:r>
              <a:t>Kolaborasi lintas disiplin dalam perancangan arsitektur, rekayasa kode, dan tata kelola platform HorizonU Uniform</a:t>
            </a:r>
          </a:p>
        </p:txBody>
      </p:sp>
      <p:sp>
        <p:nvSpPr>
          <p:cNvPr id="6" name="Rectangle 5"/>
          <p:cNvSpPr/>
          <p:nvPr/>
        </p:nvSpPr>
        <p:spPr>
          <a:xfrm>
            <a:off x="731520" y="1243584"/>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17320"/>
            <a:ext cx="342900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erry.jpg"/>
          <p:cNvPicPr>
            <a:picLocks noChangeAspect="1"/>
          </p:cNvPicPr>
          <p:nvPr/>
        </p:nvPicPr>
        <p:blipFill>
          <a:blip r:embed="rId2"/>
          <a:stretch>
            <a:fillRect/>
          </a:stretch>
        </p:blipFill>
        <p:spPr>
          <a:xfrm>
            <a:off x="1965960" y="1554480"/>
            <a:ext cx="960120" cy="960120"/>
          </a:xfrm>
          <a:prstGeom prst="rect">
            <a:avLst/>
          </a:prstGeom>
        </p:spPr>
      </p:pic>
      <p:sp>
        <p:nvSpPr>
          <p:cNvPr id="9" name="Rounded Rectangle 8"/>
          <p:cNvSpPr/>
          <p:nvPr/>
        </p:nvSpPr>
        <p:spPr>
          <a:xfrm>
            <a:off x="982980" y="2587752"/>
            <a:ext cx="2926080" cy="292608"/>
          </a:xfrm>
          <a:prstGeom prst="roundRect">
            <a:avLst/>
          </a:prstGeom>
          <a:solidFill>
            <a:srgbClr val="98051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FFFFFF"/>
                </a:solidFill>
                <a:latin typeface="Arial"/>
              </a:defRPr>
            </a:pPr>
            <a:r>
              <a:t>FERRY NOER HENDRIAWAN</a:t>
            </a:r>
          </a:p>
        </p:txBody>
      </p:sp>
      <p:sp>
        <p:nvSpPr>
          <p:cNvPr id="10" name="TextBox 9"/>
          <p:cNvSpPr txBox="1"/>
          <p:nvPr/>
        </p:nvSpPr>
        <p:spPr>
          <a:xfrm>
            <a:off x="822960" y="2953512"/>
            <a:ext cx="3246120" cy="411480"/>
          </a:xfrm>
          <a:prstGeom prst="rect">
            <a:avLst/>
          </a:prstGeom>
          <a:noFill/>
        </p:spPr>
        <p:txBody>
          <a:bodyPr wrap="square" lIns="0" rIns="0" tIns="0" bIns="0">
            <a:spAutoFit/>
          </a:bodyPr>
          <a:lstStyle/>
          <a:p>
            <a:pPr algn="ctr">
              <a:defRPr sz="1100" b="1">
                <a:solidFill>
                  <a:srgbClr val="0F172A"/>
                </a:solidFill>
                <a:latin typeface="Arial"/>
              </a:defRPr>
            </a:pPr>
            <a:r>
              <a:t>Frontend Developer</a:t>
            </a:r>
          </a:p>
        </p:txBody>
      </p:sp>
      <p:sp>
        <p:nvSpPr>
          <p:cNvPr id="11" name="Rounded Rectangle 10"/>
          <p:cNvSpPr/>
          <p:nvPr/>
        </p:nvSpPr>
        <p:spPr>
          <a:xfrm>
            <a:off x="4370832" y="1417320"/>
            <a:ext cx="3429000" cy="2286000"/>
          </a:xfrm>
          <a:prstGeom prst="roundRect">
            <a:avLst/>
          </a:prstGeom>
          <a:solidFill>
            <a:srgbClr val="FEF2F2"/>
          </a:solidFill>
          <a:ln w="19050">
            <a:solidFill>
              <a:srgbClr val="9805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hazar.jpg"/>
          <p:cNvPicPr>
            <a:picLocks noChangeAspect="1"/>
          </p:cNvPicPr>
          <p:nvPr/>
        </p:nvPicPr>
        <p:blipFill>
          <a:blip r:embed="rId3"/>
          <a:stretch>
            <a:fillRect/>
          </a:stretch>
        </p:blipFill>
        <p:spPr>
          <a:xfrm>
            <a:off x="5605272" y="1554480"/>
            <a:ext cx="960120" cy="960120"/>
          </a:xfrm>
          <a:prstGeom prst="rect">
            <a:avLst/>
          </a:prstGeom>
        </p:spPr>
      </p:pic>
      <p:sp>
        <p:nvSpPr>
          <p:cNvPr id="13" name="Rounded Rectangle 12"/>
          <p:cNvSpPr/>
          <p:nvPr/>
        </p:nvSpPr>
        <p:spPr>
          <a:xfrm>
            <a:off x="4622292" y="2587752"/>
            <a:ext cx="2926080" cy="292608"/>
          </a:xfrm>
          <a:prstGeom prst="roundRect">
            <a:avLst/>
          </a:prstGeom>
          <a:solidFill>
            <a:srgbClr val="98051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FFFFFF"/>
                </a:solidFill>
                <a:latin typeface="Arial"/>
              </a:defRPr>
            </a:pPr>
            <a:r>
              <a:t>FHAZAR RAFFIFUL AQYLA</a:t>
            </a:r>
          </a:p>
        </p:txBody>
      </p:sp>
      <p:sp>
        <p:nvSpPr>
          <p:cNvPr id="14" name="TextBox 13"/>
          <p:cNvSpPr txBox="1"/>
          <p:nvPr/>
        </p:nvSpPr>
        <p:spPr>
          <a:xfrm>
            <a:off x="4462272" y="2953512"/>
            <a:ext cx="3246120" cy="411480"/>
          </a:xfrm>
          <a:prstGeom prst="rect">
            <a:avLst/>
          </a:prstGeom>
          <a:noFill/>
        </p:spPr>
        <p:txBody>
          <a:bodyPr wrap="square" lIns="0" rIns="0" tIns="0" bIns="0">
            <a:spAutoFit/>
          </a:bodyPr>
          <a:lstStyle/>
          <a:p>
            <a:pPr algn="ctr">
              <a:defRPr sz="1100" b="1">
                <a:solidFill>
                  <a:srgbClr val="980517"/>
                </a:solidFill>
                <a:latin typeface="Arial"/>
              </a:defRPr>
            </a:pPr>
            <a:r>
              <a:t>Project Manager</a:t>
            </a:r>
          </a:p>
        </p:txBody>
      </p:sp>
      <p:sp>
        <p:nvSpPr>
          <p:cNvPr id="15" name="Rounded Rectangle 14"/>
          <p:cNvSpPr/>
          <p:nvPr/>
        </p:nvSpPr>
        <p:spPr>
          <a:xfrm>
            <a:off x="8010144" y="1417320"/>
            <a:ext cx="342900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hildan.png"/>
          <p:cNvPicPr>
            <a:picLocks noChangeAspect="1"/>
          </p:cNvPicPr>
          <p:nvPr/>
        </p:nvPicPr>
        <p:blipFill>
          <a:blip r:embed="rId4"/>
          <a:stretch>
            <a:fillRect/>
          </a:stretch>
        </p:blipFill>
        <p:spPr>
          <a:xfrm>
            <a:off x="9244584" y="1554480"/>
            <a:ext cx="960120" cy="960120"/>
          </a:xfrm>
          <a:prstGeom prst="rect">
            <a:avLst/>
          </a:prstGeom>
        </p:spPr>
      </p:pic>
      <p:sp>
        <p:nvSpPr>
          <p:cNvPr id="17" name="Rounded Rectangle 16"/>
          <p:cNvSpPr/>
          <p:nvPr/>
        </p:nvSpPr>
        <p:spPr>
          <a:xfrm>
            <a:off x="8261604" y="2587752"/>
            <a:ext cx="2926080" cy="292608"/>
          </a:xfrm>
          <a:prstGeom prst="roundRect">
            <a:avLst/>
          </a:prstGeom>
          <a:solidFill>
            <a:srgbClr val="98051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FFFFFF"/>
                </a:solidFill>
                <a:latin typeface="Arial"/>
              </a:defRPr>
            </a:pPr>
            <a:r>
              <a:t>HILDAN ANUGRAH TAMADI PUTRA</a:t>
            </a:r>
          </a:p>
        </p:txBody>
      </p:sp>
      <p:sp>
        <p:nvSpPr>
          <p:cNvPr id="18" name="TextBox 17"/>
          <p:cNvSpPr txBox="1"/>
          <p:nvPr/>
        </p:nvSpPr>
        <p:spPr>
          <a:xfrm>
            <a:off x="8101583" y="2953512"/>
            <a:ext cx="3246120" cy="411480"/>
          </a:xfrm>
          <a:prstGeom prst="rect">
            <a:avLst/>
          </a:prstGeom>
          <a:noFill/>
        </p:spPr>
        <p:txBody>
          <a:bodyPr wrap="square" lIns="0" rIns="0" tIns="0" bIns="0">
            <a:spAutoFit/>
          </a:bodyPr>
          <a:lstStyle/>
          <a:p>
            <a:pPr algn="ctr">
              <a:defRPr sz="1100" b="1">
                <a:solidFill>
                  <a:srgbClr val="0F172A"/>
                </a:solidFill>
                <a:latin typeface="Arial"/>
              </a:defRPr>
            </a:pPr>
            <a:r>
              <a:t>Backend Developer</a:t>
            </a:r>
          </a:p>
        </p:txBody>
      </p:sp>
      <p:sp>
        <p:nvSpPr>
          <p:cNvPr id="19" name="Rounded Rectangle 18"/>
          <p:cNvSpPr/>
          <p:nvPr/>
        </p:nvSpPr>
        <p:spPr>
          <a:xfrm>
            <a:off x="731520" y="3886200"/>
            <a:ext cx="342900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adel.png"/>
          <p:cNvPicPr>
            <a:picLocks noChangeAspect="1"/>
          </p:cNvPicPr>
          <p:nvPr/>
        </p:nvPicPr>
        <p:blipFill>
          <a:blip r:embed="rId5"/>
          <a:stretch>
            <a:fillRect/>
          </a:stretch>
        </p:blipFill>
        <p:spPr>
          <a:xfrm>
            <a:off x="1965960" y="4023360"/>
            <a:ext cx="960120" cy="960120"/>
          </a:xfrm>
          <a:prstGeom prst="rect">
            <a:avLst/>
          </a:prstGeom>
        </p:spPr>
      </p:pic>
      <p:sp>
        <p:nvSpPr>
          <p:cNvPr id="21" name="Rounded Rectangle 20"/>
          <p:cNvSpPr/>
          <p:nvPr/>
        </p:nvSpPr>
        <p:spPr>
          <a:xfrm>
            <a:off x="982980" y="5056632"/>
            <a:ext cx="2926080" cy="292608"/>
          </a:xfrm>
          <a:prstGeom prst="roundRect">
            <a:avLst/>
          </a:prstGeom>
          <a:solidFill>
            <a:srgbClr val="98051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FFFFFF"/>
                </a:solidFill>
                <a:latin typeface="Arial"/>
              </a:defRPr>
            </a:pPr>
            <a:r>
              <a:t>FADEL RAHMADHAN</a:t>
            </a:r>
          </a:p>
        </p:txBody>
      </p:sp>
      <p:sp>
        <p:nvSpPr>
          <p:cNvPr id="22" name="TextBox 21"/>
          <p:cNvSpPr txBox="1"/>
          <p:nvPr/>
        </p:nvSpPr>
        <p:spPr>
          <a:xfrm>
            <a:off x="822960" y="5422392"/>
            <a:ext cx="3246120" cy="411480"/>
          </a:xfrm>
          <a:prstGeom prst="rect">
            <a:avLst/>
          </a:prstGeom>
          <a:noFill/>
        </p:spPr>
        <p:txBody>
          <a:bodyPr wrap="square" lIns="0" rIns="0" tIns="0" bIns="0">
            <a:spAutoFit/>
          </a:bodyPr>
          <a:lstStyle/>
          <a:p>
            <a:pPr algn="ctr">
              <a:defRPr sz="1100" b="1">
                <a:solidFill>
                  <a:srgbClr val="0F172A"/>
                </a:solidFill>
                <a:latin typeface="Arial"/>
              </a:defRPr>
            </a:pPr>
            <a:r>
              <a:t>Quality Assurance</a:t>
            </a:r>
          </a:p>
        </p:txBody>
      </p:sp>
      <p:sp>
        <p:nvSpPr>
          <p:cNvPr id="23" name="Rounded Rectangle 22"/>
          <p:cNvSpPr/>
          <p:nvPr/>
        </p:nvSpPr>
        <p:spPr>
          <a:xfrm>
            <a:off x="4370832" y="3886200"/>
            <a:ext cx="342900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daffa.jpg"/>
          <p:cNvPicPr>
            <a:picLocks noChangeAspect="1"/>
          </p:cNvPicPr>
          <p:nvPr/>
        </p:nvPicPr>
        <p:blipFill>
          <a:blip r:embed="rId6"/>
          <a:stretch>
            <a:fillRect/>
          </a:stretch>
        </p:blipFill>
        <p:spPr>
          <a:xfrm>
            <a:off x="5605272" y="4023360"/>
            <a:ext cx="960120" cy="960120"/>
          </a:xfrm>
          <a:prstGeom prst="rect">
            <a:avLst/>
          </a:prstGeom>
        </p:spPr>
      </p:pic>
      <p:sp>
        <p:nvSpPr>
          <p:cNvPr id="25" name="Rounded Rectangle 24"/>
          <p:cNvSpPr/>
          <p:nvPr/>
        </p:nvSpPr>
        <p:spPr>
          <a:xfrm>
            <a:off x="4622292" y="5056632"/>
            <a:ext cx="2926080" cy="292608"/>
          </a:xfrm>
          <a:prstGeom prst="roundRect">
            <a:avLst/>
          </a:prstGeom>
          <a:solidFill>
            <a:srgbClr val="98051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FFFFFF"/>
                </a:solidFill>
                <a:latin typeface="Arial"/>
              </a:defRPr>
            </a:pPr>
            <a:r>
              <a:t>DAFFA NAZRIEL ZAIDAN</a:t>
            </a:r>
          </a:p>
        </p:txBody>
      </p:sp>
      <p:sp>
        <p:nvSpPr>
          <p:cNvPr id="26" name="TextBox 25"/>
          <p:cNvSpPr txBox="1"/>
          <p:nvPr/>
        </p:nvSpPr>
        <p:spPr>
          <a:xfrm>
            <a:off x="4462272" y="5422392"/>
            <a:ext cx="3246120" cy="411480"/>
          </a:xfrm>
          <a:prstGeom prst="rect">
            <a:avLst/>
          </a:prstGeom>
          <a:noFill/>
        </p:spPr>
        <p:txBody>
          <a:bodyPr wrap="square" lIns="0" rIns="0" tIns="0" bIns="0">
            <a:spAutoFit/>
          </a:bodyPr>
          <a:lstStyle/>
          <a:p>
            <a:pPr algn="ctr">
              <a:defRPr sz="1100" b="1">
                <a:solidFill>
                  <a:srgbClr val="0F172A"/>
                </a:solidFill>
                <a:latin typeface="Arial"/>
              </a:defRPr>
            </a:pPr>
            <a:r>
              <a:t>UI/UX Designer</a:t>
            </a:r>
          </a:p>
        </p:txBody>
      </p:sp>
      <p:sp>
        <p:nvSpPr>
          <p:cNvPr id="27" name="Rounded Rectangle 26"/>
          <p:cNvSpPr/>
          <p:nvPr/>
        </p:nvSpPr>
        <p:spPr>
          <a:xfrm>
            <a:off x="8010144" y="3886200"/>
            <a:ext cx="342900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acep.png"/>
          <p:cNvPicPr>
            <a:picLocks noChangeAspect="1"/>
          </p:cNvPicPr>
          <p:nvPr/>
        </p:nvPicPr>
        <p:blipFill>
          <a:blip r:embed="rId7"/>
          <a:stretch>
            <a:fillRect/>
          </a:stretch>
        </p:blipFill>
        <p:spPr>
          <a:xfrm>
            <a:off x="9244584" y="4023360"/>
            <a:ext cx="960120" cy="960120"/>
          </a:xfrm>
          <a:prstGeom prst="rect">
            <a:avLst/>
          </a:prstGeom>
        </p:spPr>
      </p:pic>
      <p:sp>
        <p:nvSpPr>
          <p:cNvPr id="29" name="Rounded Rectangle 28"/>
          <p:cNvSpPr/>
          <p:nvPr/>
        </p:nvSpPr>
        <p:spPr>
          <a:xfrm>
            <a:off x="8261604" y="5056632"/>
            <a:ext cx="2926080" cy="292608"/>
          </a:xfrm>
          <a:prstGeom prst="roundRect">
            <a:avLst/>
          </a:prstGeom>
          <a:solidFill>
            <a:srgbClr val="98051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850" b="1">
                <a:solidFill>
                  <a:srgbClr val="FFFFFF"/>
                </a:solidFill>
                <a:latin typeface="Arial"/>
              </a:defRPr>
            </a:pPr>
            <a:r>
              <a:t>ACEP UGAN SAPUTRA</a:t>
            </a:r>
          </a:p>
        </p:txBody>
      </p:sp>
      <p:sp>
        <p:nvSpPr>
          <p:cNvPr id="30" name="TextBox 29"/>
          <p:cNvSpPr txBox="1"/>
          <p:nvPr/>
        </p:nvSpPr>
        <p:spPr>
          <a:xfrm>
            <a:off x="8101583" y="5422392"/>
            <a:ext cx="3246120" cy="411480"/>
          </a:xfrm>
          <a:prstGeom prst="rect">
            <a:avLst/>
          </a:prstGeom>
          <a:noFill/>
        </p:spPr>
        <p:txBody>
          <a:bodyPr wrap="square" lIns="0" rIns="0" tIns="0" bIns="0">
            <a:spAutoFit/>
          </a:bodyPr>
          <a:lstStyle/>
          <a:p>
            <a:pPr algn="ctr">
              <a:defRPr sz="1100" b="1">
                <a:solidFill>
                  <a:srgbClr val="0F172A"/>
                </a:solidFill>
                <a:latin typeface="Arial"/>
              </a:defRPr>
            </a:pPr>
            <a:r>
              <a:t>System Analyst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84048"/>
            <a:ext cx="54864" cy="713232"/>
          </a:xfrm>
          <a:prstGeom prst="rect">
            <a:avLst/>
          </a:prstGeom>
          <a:solidFill>
            <a:srgbClr val="980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347472"/>
            <a:ext cx="10515600" cy="219456"/>
          </a:xfrm>
          <a:prstGeom prst="rect">
            <a:avLst/>
          </a:prstGeom>
          <a:noFill/>
        </p:spPr>
        <p:txBody>
          <a:bodyPr wrap="square">
            <a:spAutoFit/>
          </a:bodyPr>
          <a:lstStyle/>
          <a:p>
            <a:pPr>
              <a:defRPr sz="950" b="1">
                <a:solidFill>
                  <a:srgbClr val="980517"/>
                </a:solidFill>
                <a:latin typeface="Arial"/>
              </a:defRPr>
            </a:pPr>
            <a:r>
              <a:t>STRUKTUR RANTAI PASOK</a:t>
            </a:r>
          </a:p>
        </p:txBody>
      </p:sp>
      <p:sp>
        <p:nvSpPr>
          <p:cNvPr id="4" name="TextBox 3"/>
          <p:cNvSpPr txBox="1"/>
          <p:nvPr/>
        </p:nvSpPr>
        <p:spPr>
          <a:xfrm>
            <a:off x="868680" y="548640"/>
            <a:ext cx="10515600" cy="384048"/>
          </a:xfrm>
          <a:prstGeom prst="rect">
            <a:avLst/>
          </a:prstGeom>
          <a:noFill/>
        </p:spPr>
        <p:txBody>
          <a:bodyPr wrap="square">
            <a:spAutoFit/>
          </a:bodyPr>
          <a:lstStyle/>
          <a:p>
            <a:pPr>
              <a:defRPr sz="1900" b="1">
                <a:solidFill>
                  <a:srgbClr val="0F172A"/>
                </a:solidFill>
                <a:latin typeface="Arial"/>
              </a:defRPr>
            </a:pPr>
            <a:r>
              <a:t>Pemetaan Stakeholder &amp; Aliran Fisik Barang</a:t>
            </a:r>
          </a:p>
        </p:txBody>
      </p:sp>
      <p:sp>
        <p:nvSpPr>
          <p:cNvPr id="5" name="TextBox 4"/>
          <p:cNvSpPr txBox="1"/>
          <p:nvPr/>
        </p:nvSpPr>
        <p:spPr>
          <a:xfrm>
            <a:off x="868680" y="932688"/>
            <a:ext cx="10515600" cy="256032"/>
          </a:xfrm>
          <a:prstGeom prst="rect">
            <a:avLst/>
          </a:prstGeom>
          <a:noFill/>
        </p:spPr>
        <p:txBody>
          <a:bodyPr wrap="square">
            <a:spAutoFit/>
          </a:bodyPr>
          <a:lstStyle/>
          <a:p>
            <a:pPr>
              <a:defRPr sz="1100">
                <a:solidFill>
                  <a:srgbClr val="475569"/>
                </a:solidFill>
                <a:latin typeface="Calibri"/>
              </a:defRPr>
            </a:pPr>
            <a:r>
              <a:t>Aliran terpadu dari pabrik vendor hingga serah terima mahasiswa dengan prinsip 'Data Mengunci Fisik'</a:t>
            </a:r>
          </a:p>
        </p:txBody>
      </p:sp>
      <p:sp>
        <p:nvSpPr>
          <p:cNvPr id="6" name="Rectangle 5"/>
          <p:cNvSpPr/>
          <p:nvPr/>
        </p:nvSpPr>
        <p:spPr>
          <a:xfrm>
            <a:off x="731520" y="1243584"/>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17320"/>
            <a:ext cx="2542032"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01 • SUPPLIER (HULU)</a:t>
            </a:r>
          </a:p>
          <a:p>
            <a:pPr>
              <a:spcAft>
                <a:spcPts val="500"/>
              </a:spcAft>
              <a:defRPr sz="1250" b="1">
                <a:solidFill>
                  <a:srgbClr val="0F172A"/>
                </a:solidFill>
                <a:latin typeface="Arial"/>
              </a:defRPr>
            </a:pPr>
            <a:r>
              <a:t>Pabrik Garmen &amp; Sepatu</a:t>
            </a:r>
          </a:p>
          <a:p>
            <a:pPr>
              <a:spcAft>
                <a:spcPts val="300"/>
              </a:spcAft>
              <a:defRPr sz="1050">
                <a:solidFill>
                  <a:srgbClr val="0F172A"/>
                </a:solidFill>
                <a:latin typeface="Calibri"/>
              </a:defRPr>
            </a:pPr>
            <a:r>
              <a:t>•  Memproduksi paket seragam dan sepatu sesuai pesanan pengadaan kampus (PO).</a:t>
            </a:r>
          </a:p>
          <a:p>
            <a:pPr>
              <a:spcAft>
                <a:spcPts val="300"/>
              </a:spcAft>
              <a:defRPr sz="1050">
                <a:solidFill>
                  <a:srgbClr val="0F172A"/>
                </a:solidFill>
                <a:latin typeface="Calibri"/>
              </a:defRPr>
            </a:pPr>
            <a:r>
              <a:t>•  Menerapkan standarisasi kode SKU per kategori dan ukuran.</a:t>
            </a:r>
          </a:p>
          <a:p>
            <a:pPr>
              <a:spcAft>
                <a:spcPts val="300"/>
              </a:spcAft>
              <a:defRPr sz="1050">
                <a:solidFill>
                  <a:srgbClr val="0F172A"/>
                </a:solidFill>
                <a:latin typeface="Calibri"/>
              </a:defRPr>
            </a:pPr>
            <a:r>
              <a:t>•  Titik Barang: Pengiriman kontainer stok ke gudang kampus (Inbound Logistics).</a:t>
            </a:r>
          </a:p>
          <a:p>
            <a:pPr>
              <a:spcBef>
                <a:spcPts val="400"/>
              </a:spcBef>
              <a:defRPr sz="1000" b="1">
                <a:solidFill>
                  <a:srgbClr val="980517"/>
                </a:solidFill>
                <a:latin typeface="Calibri"/>
              </a:defRPr>
            </a:pPr>
            <a:r>
              <a:t>➔  Aliran: PO Agregat ➔ Fisik Masuk</a:t>
            </a:r>
          </a:p>
        </p:txBody>
      </p:sp>
      <p:sp>
        <p:nvSpPr>
          <p:cNvPr id="8" name="Rounded Rectangle 7"/>
          <p:cNvSpPr/>
          <p:nvPr/>
        </p:nvSpPr>
        <p:spPr>
          <a:xfrm>
            <a:off x="3456432" y="1417320"/>
            <a:ext cx="2542032"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02 • GUDANG (INBOUND)</a:t>
            </a:r>
          </a:p>
          <a:p>
            <a:pPr>
              <a:spcAft>
                <a:spcPts val="500"/>
              </a:spcAft>
              <a:defRPr sz="1250" b="1">
                <a:solidFill>
                  <a:srgbClr val="0F172A"/>
                </a:solidFill>
                <a:latin typeface="Arial"/>
              </a:defRPr>
            </a:pPr>
            <a:r>
              <a:t>Gudang Logistik Kampus</a:t>
            </a:r>
          </a:p>
          <a:p>
            <a:pPr>
              <a:spcAft>
                <a:spcPts val="300"/>
              </a:spcAft>
              <a:defRPr sz="1050">
                <a:solidFill>
                  <a:srgbClr val="0F172A"/>
                </a:solidFill>
                <a:latin typeface="Calibri"/>
              </a:defRPr>
            </a:pPr>
            <a:r>
              <a:t>•  Penerimaan fisik barang (StockReceive) dan pemeriksaan mutu (QC).</a:t>
            </a:r>
          </a:p>
          <a:p>
            <a:pPr>
              <a:spcAft>
                <a:spcPts val="300"/>
              </a:spcAft>
              <a:defRPr sz="1050">
                <a:solidFill>
                  <a:srgbClr val="0F172A"/>
                </a:solidFill>
                <a:latin typeface="Calibri"/>
              </a:defRPr>
            </a:pPr>
            <a:r>
              <a:t>•  Pencatatan batch urutan FIFO (First-In, First-Out) dan penetapan harga beli unit.</a:t>
            </a:r>
          </a:p>
          <a:p>
            <a:pPr>
              <a:spcAft>
                <a:spcPts val="300"/>
              </a:spcAft>
              <a:defRPr sz="1050">
                <a:solidFill>
                  <a:srgbClr val="0F172A"/>
                </a:solidFill>
                <a:latin typeface="Calibri"/>
              </a:defRPr>
            </a:pPr>
            <a:r>
              <a:t>•  Titik Barang: Transfer stok batch tertua menuju posko distribusi loket.</a:t>
            </a:r>
          </a:p>
          <a:p>
            <a:pPr>
              <a:spcBef>
                <a:spcPts val="400"/>
              </a:spcBef>
              <a:defRPr sz="1000" b="1">
                <a:solidFill>
                  <a:srgbClr val="980517"/>
                </a:solidFill>
                <a:latin typeface="Calibri"/>
              </a:defRPr>
            </a:pPr>
            <a:r>
              <a:t>➔  Aliran: Inbound ➔ POS Loket</a:t>
            </a:r>
          </a:p>
        </p:txBody>
      </p:sp>
      <p:sp>
        <p:nvSpPr>
          <p:cNvPr id="9" name="Rounded Rectangle 8"/>
          <p:cNvSpPr/>
          <p:nvPr/>
        </p:nvSpPr>
        <p:spPr>
          <a:xfrm>
            <a:off x="6181344" y="1417320"/>
            <a:ext cx="2542032" cy="4800600"/>
          </a:xfrm>
          <a:prstGeom prst="roundRect">
            <a:avLst/>
          </a:prstGeom>
          <a:solidFill>
            <a:srgbClr val="FEF2F2"/>
          </a:solidFill>
          <a:ln w="19050">
            <a:solidFill>
              <a:srgbClr val="98051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03 • VERIFIKATOR &amp; LOKET</a:t>
            </a:r>
          </a:p>
          <a:p>
            <a:pPr>
              <a:spcAft>
                <a:spcPts val="500"/>
              </a:spcAft>
              <a:defRPr sz="1250" b="1">
                <a:solidFill>
                  <a:srgbClr val="0F172A"/>
                </a:solidFill>
                <a:latin typeface="Arial"/>
              </a:defRPr>
            </a:pPr>
            <a:r>
              <a:t>Staf Keuangan &amp; Posko</a:t>
            </a:r>
          </a:p>
          <a:p>
            <a:pPr>
              <a:spcAft>
                <a:spcPts val="300"/>
              </a:spcAft>
              <a:defRPr sz="1050">
                <a:solidFill>
                  <a:srgbClr val="0F172A"/>
                </a:solidFill>
                <a:latin typeface="Calibri"/>
              </a:defRPr>
            </a:pPr>
            <a:r>
              <a:t>•  Keuangan: Otorisasi status pelunasan biaya kuliah mahasiswa (Eligibility).</a:t>
            </a:r>
          </a:p>
          <a:p>
            <a:pPr>
              <a:spcAft>
                <a:spcPts val="300"/>
              </a:spcAft>
              <a:defRPr sz="1050">
                <a:solidFill>
                  <a:srgbClr val="0F172A"/>
                </a:solidFill>
                <a:latin typeface="Calibri"/>
              </a:defRPr>
            </a:pPr>
            <a:r>
              <a:t>•  Staf Posko: Melayani meja pembagian fisik seragam di posko kampus.</a:t>
            </a:r>
          </a:p>
          <a:p>
            <a:pPr>
              <a:spcAft>
                <a:spcPts val="300"/>
              </a:spcAft>
              <a:defRPr sz="1050">
                <a:solidFill>
                  <a:srgbClr val="0F172A"/>
                </a:solidFill>
                <a:latin typeface="Calibri"/>
              </a:defRPr>
            </a:pPr>
            <a:r>
              <a:t>•  Titik Kritis: Validasi identitas QR Code dan pencocokan ukuran saat proses fitting.</a:t>
            </a:r>
          </a:p>
          <a:p>
            <a:pPr>
              <a:spcBef>
                <a:spcPts val="400"/>
              </a:spcBef>
              <a:defRPr sz="1000" b="1">
                <a:solidFill>
                  <a:srgbClr val="980517"/>
                </a:solidFill>
                <a:latin typeface="Calibri"/>
              </a:defRPr>
            </a:pPr>
            <a:r>
              <a:t>➔  Aliran: Data Lunas ➔ Serah Fisik</a:t>
            </a:r>
          </a:p>
        </p:txBody>
      </p:sp>
      <p:sp>
        <p:nvSpPr>
          <p:cNvPr id="10" name="Rounded Rectangle 9"/>
          <p:cNvSpPr/>
          <p:nvPr/>
        </p:nvSpPr>
        <p:spPr>
          <a:xfrm>
            <a:off x="8906256" y="1417320"/>
            <a:ext cx="2542032"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04 • KONSUMEN (HILIR)</a:t>
            </a:r>
          </a:p>
          <a:p>
            <a:pPr>
              <a:spcAft>
                <a:spcPts val="500"/>
              </a:spcAft>
              <a:defRPr sz="1250" b="1">
                <a:solidFill>
                  <a:srgbClr val="0F172A"/>
                </a:solidFill>
                <a:latin typeface="Arial"/>
              </a:defRPr>
            </a:pPr>
            <a:r>
              <a:t>Mahasiswa (Customer)</a:t>
            </a:r>
          </a:p>
          <a:p>
            <a:pPr>
              <a:spcAft>
                <a:spcPts val="300"/>
              </a:spcAft>
              <a:defRPr sz="1050">
                <a:solidFill>
                  <a:srgbClr val="0F172A"/>
                </a:solidFill>
                <a:latin typeface="Calibri"/>
              </a:defRPr>
            </a:pPr>
            <a:r>
              <a:t>•  Konsumen akhir yang memiliki hak jatah barang (Entitlement) sesuai prodi.</a:t>
            </a:r>
          </a:p>
          <a:p>
            <a:pPr>
              <a:spcAft>
                <a:spcPts val="300"/>
              </a:spcAft>
              <a:defRPr sz="1050">
                <a:solidFill>
                  <a:srgbClr val="0F172A"/>
                </a:solidFill>
                <a:latin typeface="Calibri"/>
              </a:defRPr>
            </a:pPr>
            <a:r>
              <a:t>•  Mengisi profil ukuran mandiri di web dan menerima tiket jadwal pembagian.</a:t>
            </a:r>
          </a:p>
          <a:p>
            <a:pPr>
              <a:spcAft>
                <a:spcPts val="300"/>
              </a:spcAft>
              <a:defRPr sz="1050">
                <a:solidFill>
                  <a:srgbClr val="0F172A"/>
                </a:solidFill>
                <a:latin typeface="Calibri"/>
              </a:defRPr>
            </a:pPr>
            <a:r>
              <a:t>•  Titik Info: Menunjukkan tiket QR Code beresolusi tinggi (NIM murni) di loket.</a:t>
            </a:r>
          </a:p>
          <a:p>
            <a:pPr>
              <a:spcBef>
                <a:spcPts val="400"/>
              </a:spcBef>
              <a:defRPr sz="1000" b="1">
                <a:solidFill>
                  <a:srgbClr val="980517"/>
                </a:solidFill>
                <a:latin typeface="Calibri"/>
              </a:defRPr>
            </a:pPr>
            <a:r>
              <a:t>➔  Aliran: Profil ➔ Seragam Pas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84048"/>
            <a:ext cx="54864" cy="713232"/>
          </a:xfrm>
          <a:prstGeom prst="rect">
            <a:avLst/>
          </a:prstGeom>
          <a:solidFill>
            <a:srgbClr val="980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347472"/>
            <a:ext cx="10515600" cy="219456"/>
          </a:xfrm>
          <a:prstGeom prst="rect">
            <a:avLst/>
          </a:prstGeom>
          <a:noFill/>
        </p:spPr>
        <p:txBody>
          <a:bodyPr wrap="square">
            <a:spAutoFit/>
          </a:bodyPr>
          <a:lstStyle/>
          <a:p>
            <a:pPr>
              <a:defRPr sz="950" b="1">
                <a:solidFill>
                  <a:srgbClr val="980517"/>
                </a:solidFill>
                <a:latin typeface="Arial"/>
              </a:defRPr>
            </a:pPr>
            <a:r>
              <a:t>ANALISIS MASALAH SISTEM LAMA</a:t>
            </a:r>
          </a:p>
        </p:txBody>
      </p:sp>
      <p:sp>
        <p:nvSpPr>
          <p:cNvPr id="4" name="TextBox 3"/>
          <p:cNvSpPr txBox="1"/>
          <p:nvPr/>
        </p:nvSpPr>
        <p:spPr>
          <a:xfrm>
            <a:off x="868680" y="548640"/>
            <a:ext cx="10515600" cy="384048"/>
          </a:xfrm>
          <a:prstGeom prst="rect">
            <a:avLst/>
          </a:prstGeom>
          <a:noFill/>
        </p:spPr>
        <p:txBody>
          <a:bodyPr wrap="square">
            <a:spAutoFit/>
          </a:bodyPr>
          <a:lstStyle/>
          <a:p>
            <a:pPr>
              <a:defRPr sz="1900" b="1">
                <a:solidFill>
                  <a:srgbClr val="0F172A"/>
                </a:solidFill>
                <a:latin typeface="Arial"/>
              </a:defRPr>
            </a:pPr>
            <a:r>
              <a:t>Evaluasi Kendala Operasional &amp; Dampak Sistemik</a:t>
            </a:r>
          </a:p>
        </p:txBody>
      </p:sp>
      <p:sp>
        <p:nvSpPr>
          <p:cNvPr id="5" name="TextBox 4"/>
          <p:cNvSpPr txBox="1"/>
          <p:nvPr/>
        </p:nvSpPr>
        <p:spPr>
          <a:xfrm>
            <a:off x="868680" y="932688"/>
            <a:ext cx="10515600" cy="256032"/>
          </a:xfrm>
          <a:prstGeom prst="rect">
            <a:avLst/>
          </a:prstGeom>
          <a:noFill/>
        </p:spPr>
        <p:txBody>
          <a:bodyPr wrap="square">
            <a:spAutoFit/>
          </a:bodyPr>
          <a:lstStyle/>
          <a:p>
            <a:pPr>
              <a:defRPr sz="1100">
                <a:solidFill>
                  <a:srgbClr val="475569"/>
                </a:solidFill>
                <a:latin typeface="Calibri"/>
              </a:defRPr>
            </a:pPr>
            <a:r>
              <a:t>Analisis akar masalah pengelolaan manual terhadap pembengkakan biaya, waktu kerja, dan penurunan mutu layanan</a:t>
            </a:r>
          </a:p>
        </p:txBody>
      </p:sp>
      <p:sp>
        <p:nvSpPr>
          <p:cNvPr id="6" name="Rectangle 5"/>
          <p:cNvSpPr/>
          <p:nvPr/>
        </p:nvSpPr>
        <p:spPr>
          <a:xfrm>
            <a:off x="731520" y="1243584"/>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417320"/>
          <a:ext cx="10728655" cy="4800600"/>
        </p:xfrm>
        <a:graphic>
          <a:graphicData uri="http://schemas.openxmlformats.org/drawingml/2006/table">
            <a:tbl>
              <a:tblPr firstRow="1" bandRow="1">
                <a:tableStyleId>{5C22544A-7EE6-4342-B048-85BDC9FD1C3A}</a:tableStyleId>
              </a:tblPr>
              <a:tblGrid>
                <a:gridCol w="2926080"/>
                <a:gridCol w="3840480"/>
                <a:gridCol w="3962095"/>
              </a:tblGrid>
              <a:tr h="960120">
                <a:tc>
                  <a:txBody>
                    <a:bodyPr/>
                    <a:lstStyle/>
                    <a:p>
                      <a:pPr>
                        <a:defRPr sz="1100" b="1">
                          <a:solidFill>
                            <a:srgbClr val="FFFFFF"/>
                          </a:solidFill>
                          <a:latin typeface="Arial"/>
                        </a:defRPr>
                      </a:pPr>
                      <a:r>
                        <a:t>Masalah Utama (Gejala Lapangan)</a:t>
                      </a:r>
                    </a:p>
                  </a:txBody>
                  <a:tcPr>
                    <a:solidFill>
                      <a:srgbClr val="980517"/>
                    </a:solidFill>
                  </a:tcPr>
                </a:tc>
                <a:tc>
                  <a:txBody>
                    <a:bodyPr/>
                    <a:lstStyle/>
                    <a:p>
                      <a:pPr>
                        <a:defRPr sz="1100" b="1">
                          <a:solidFill>
                            <a:srgbClr val="FFFFFF"/>
                          </a:solidFill>
                          <a:latin typeface="Arial"/>
                        </a:defRPr>
                      </a:pPr>
                      <a:r>
                        <a:t>Akar Penyebab Masalah (Root Cause)</a:t>
                      </a:r>
                    </a:p>
                  </a:txBody>
                  <a:tcPr>
                    <a:solidFill>
                      <a:srgbClr val="980517"/>
                    </a:solidFill>
                  </a:tcPr>
                </a:tc>
                <a:tc>
                  <a:txBody>
                    <a:bodyPr/>
                    <a:lstStyle/>
                    <a:p>
                      <a:pPr>
                        <a:defRPr sz="1100" b="1">
                          <a:solidFill>
                            <a:srgbClr val="FFFFFF"/>
                          </a:solidFill>
                          <a:latin typeface="Arial"/>
                        </a:defRPr>
                      </a:pPr>
                      <a:r>
                        <a:t>Dampak terhadap Biaya, Waktu, Stok &amp; Layanan</a:t>
                      </a:r>
                    </a:p>
                  </a:txBody>
                  <a:tcPr>
                    <a:solidFill>
                      <a:srgbClr val="980517"/>
                    </a:solidFill>
                  </a:tcPr>
                </a:tc>
              </a:tr>
              <a:tr h="960120">
                <a:tc>
                  <a:txBody>
                    <a:bodyPr/>
                    <a:lstStyle/>
                    <a:p>
                      <a:pPr>
                        <a:defRPr sz="1000" b="1">
                          <a:solidFill>
                            <a:srgbClr val="980517"/>
                          </a:solidFill>
                          <a:latin typeface="Calibri"/>
                        </a:defRPr>
                      </a:pPr>
                      <a:r>
                        <a:t>1. Ketidakcocokan Ukuran &amp; Penumpukan Dead-Stock</a:t>
                      </a:r>
                    </a:p>
                  </a:txBody>
                  <a:tcPr>
                    <a:solidFill>
                      <a:srgbClr val="F8FAFC"/>
                    </a:solidFill>
                  </a:tcPr>
                </a:tc>
                <a:tc>
                  <a:txBody>
                    <a:bodyPr/>
                    <a:lstStyle/>
                    <a:p>
                      <a:pPr>
                        <a:defRPr sz="1000">
                          <a:solidFill>
                            <a:srgbClr val="0F172A"/>
                          </a:solidFill>
                          <a:latin typeface="Calibri"/>
                        </a:defRPr>
                      </a:pPr>
                      <a:r>
                        <a:t>Pemesanan pengadaan ke vendor pabrik hanya menggunakan tebakan rasio historis. Tidak ada sistem survey profil ukuran mandiri sebelum tender dibuka.</a:t>
                      </a:r>
                    </a:p>
                  </a:txBody>
                  <a:tcPr>
                    <a:solidFill>
                      <a:srgbClr val="F8FAFC"/>
                    </a:solidFill>
                  </a:tcPr>
                </a:tc>
                <a:tc>
                  <a:txBody>
                    <a:bodyPr/>
                    <a:lstStyle/>
                    <a:p>
                      <a:pPr>
                        <a:defRPr sz="1000">
                          <a:solidFill>
                            <a:srgbClr val="0F172A"/>
                          </a:solidFill>
                          <a:latin typeface="Calibri"/>
                        </a:defRPr>
                      </a:pPr>
                      <a:r>
                        <a:t>Dampak Stok &amp; Biaya: Ukuran favorit (M/L) habis pada hari pertama pembagian, ukuran ekstrem (XS, 3XL) menumpuk bertahun-tahun. Modal kampus mengendap menjadi dead-stock.</a:t>
                      </a:r>
                    </a:p>
                  </a:txBody>
                  <a:tcPr>
                    <a:solidFill>
                      <a:srgbClr val="F8FAFC"/>
                    </a:solidFill>
                  </a:tcPr>
                </a:tc>
              </a:tr>
              <a:tr h="960120">
                <a:tc>
                  <a:txBody>
                    <a:bodyPr/>
                    <a:lstStyle/>
                    <a:p>
                      <a:pPr>
                        <a:defRPr sz="1000" b="1">
                          <a:solidFill>
                            <a:srgbClr val="980517"/>
                          </a:solidFill>
                          <a:latin typeface="Calibri"/>
                        </a:defRPr>
                      </a:pPr>
                      <a:r>
                        <a:t>2. File Excel Sering Crash &amp; Pengumuman Lambat</a:t>
                      </a:r>
                    </a:p>
                  </a:txBody>
                  <a:tcPr>
                    <a:solidFill>
                      <a:srgbClr val="FEF2F2"/>
                    </a:solidFill>
                  </a:tcPr>
                </a:tc>
                <a:tc>
                  <a:txBody>
                    <a:bodyPr/>
                    <a:lstStyle/>
                    <a:p>
                      <a:pPr>
                        <a:defRPr sz="1000">
                          <a:solidFill>
                            <a:srgbClr val="0F172A"/>
                          </a:solidFill>
                          <a:latin typeface="Calibri"/>
                        </a:defRPr>
                      </a:pPr>
                      <a:r>
                        <a:t>Departemen Keuangan memakai satu file spreadsheet raksasa (~4.5 MB, 19 sheet) untuk ribuan data mahasiswa. Pengiriman jadwal disebarkan manual via surel.</a:t>
                      </a:r>
                    </a:p>
                  </a:txBody>
                  <a:tcPr>
                    <a:solidFill>
                      <a:srgbClr val="FEF2F2"/>
                    </a:solidFill>
                  </a:tcPr>
                </a:tc>
                <a:tc>
                  <a:txBody>
                    <a:bodyPr/>
                    <a:lstStyle/>
                    <a:p>
                      <a:pPr>
                        <a:defRPr sz="1000">
                          <a:solidFill>
                            <a:srgbClr val="0F172A"/>
                          </a:solidFill>
                          <a:latin typeface="Calibri"/>
                        </a:defRPr>
                      </a:pPr>
                      <a:r>
                        <a:t>Dampak Waktu &amp; Layanan: Aplikasi sering not responding atau data korup. Rekapitulasi memakan waktu berminggu-minggu dan info jadwal terlambat diterima mahasiswa.</a:t>
                      </a:r>
                    </a:p>
                  </a:txBody>
                  <a:tcPr>
                    <a:solidFill>
                      <a:srgbClr val="FEF2F2"/>
                    </a:solidFill>
                  </a:tcPr>
                </a:tc>
              </a:tr>
              <a:tr h="960120">
                <a:tc>
                  <a:txBody>
                    <a:bodyPr/>
                    <a:lstStyle/>
                    <a:p>
                      <a:pPr>
                        <a:defRPr sz="1000" b="1">
                          <a:solidFill>
                            <a:srgbClr val="980517"/>
                          </a:solidFill>
                          <a:latin typeface="Calibri"/>
                        </a:defRPr>
                      </a:pPr>
                      <a:r>
                        <a:t>3. Bottleneck Loket Posko &amp; Risiko Double-Claim</a:t>
                      </a:r>
                    </a:p>
                  </a:txBody>
                  <a:tcPr>
                    <a:solidFill>
                      <a:srgbClr val="F8FAFC"/>
                    </a:solidFill>
                  </a:tcPr>
                </a:tc>
                <a:tc>
                  <a:txBody>
                    <a:bodyPr/>
                    <a:lstStyle/>
                    <a:p>
                      <a:pPr>
                        <a:defRPr sz="1000">
                          <a:solidFill>
                            <a:srgbClr val="0F172A"/>
                          </a:solidFill>
                          <a:latin typeface="Calibri"/>
                        </a:defRPr>
                      </a:pPr>
                      <a:r>
                        <a:t>Pengecekan lunas, pencocokan hak prodi, dan paraf bukti serah terima dilakukan manual dengan mencentang map formulir kertas fisik.</a:t>
                      </a:r>
                    </a:p>
                  </a:txBody>
                  <a:tcPr>
                    <a:solidFill>
                      <a:srgbClr val="F8FAFC"/>
                    </a:solidFill>
                  </a:tcPr>
                </a:tc>
                <a:tc>
                  <a:txBody>
                    <a:bodyPr/>
                    <a:lstStyle/>
                    <a:p>
                      <a:pPr>
                        <a:defRPr sz="1000">
                          <a:solidFill>
                            <a:srgbClr val="0F172A"/>
                          </a:solidFill>
                          <a:latin typeface="Calibri"/>
                        </a:defRPr>
                      </a:pPr>
                      <a:r>
                        <a:t>Dampak Waktu &amp; Akurasi: Waktu pelayanan lambat (15–20 menit per orang), antrean ratusan meter, serta rawan klaim ganda (double-claim) di loket atau hari berbeda.</a:t>
                      </a:r>
                    </a:p>
                  </a:txBody>
                  <a:tcPr>
                    <a:solidFill>
                      <a:srgbClr val="F8FAFC"/>
                    </a:solidFill>
                  </a:tcPr>
                </a:tc>
              </a:tr>
              <a:tr h="960120">
                <a:tc>
                  <a:txBody>
                    <a:bodyPr/>
                    <a:lstStyle/>
                    <a:p>
                      <a:pPr>
                        <a:defRPr sz="1000" b="1">
                          <a:solidFill>
                            <a:srgbClr val="980517"/>
                          </a:solidFill>
                          <a:latin typeface="Calibri"/>
                        </a:defRPr>
                      </a:pPr>
                      <a:r>
                        <a:t>4. Susut Stok Liar &amp; Valuasi HPP Buram</a:t>
                      </a:r>
                    </a:p>
                  </a:txBody>
                  <a:tcPr>
                    <a:solidFill>
                      <a:srgbClr val="FEF2F2"/>
                    </a:solidFill>
                  </a:tcPr>
                </a:tc>
                <a:tc>
                  <a:txBody>
                    <a:bodyPr/>
                    <a:lstStyle/>
                    <a:p>
                      <a:pPr>
                        <a:defRPr sz="1000">
                          <a:solidFill>
                            <a:srgbClr val="0F172A"/>
                          </a:solidFill>
                          <a:latin typeface="Calibri"/>
                        </a:defRPr>
                      </a:pPr>
                      <a:r>
                        <a:t>Penerimaan seragam dari vendor dengan harga berbeda tidak dicatat per batch FIFO dan tanpa kartu mutasi stok otomatis yang terikat ke transaksi loket.</a:t>
                      </a:r>
                    </a:p>
                  </a:txBody>
                  <a:tcPr>
                    <a:solidFill>
                      <a:srgbClr val="FEF2F2"/>
                    </a:solidFill>
                  </a:tcPr>
                </a:tc>
                <a:tc>
                  <a:txBody>
                    <a:bodyPr/>
                    <a:lstStyle/>
                    <a:p>
                      <a:pPr>
                        <a:defRPr sz="1000">
                          <a:solidFill>
                            <a:srgbClr val="0F172A"/>
                          </a:solidFill>
                          <a:latin typeface="Calibri"/>
                        </a:defRPr>
                      </a:pPr>
                      <a:r>
                        <a:t>Dampak Biaya &amp; Akuntansi: Selisih barang susut (shrinkage) tidak terlacak penanggungjawabnya. Valuasi HPP dan analisis Gross Profit Margin (GPM) terdistorsi.</a:t>
                      </a:r>
                    </a:p>
                  </a:txBody>
                  <a:tcPr>
                    <a:solidFill>
                      <a:srgbClr val="FEF2F2"/>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84048"/>
            <a:ext cx="54864" cy="713232"/>
          </a:xfrm>
          <a:prstGeom prst="rect">
            <a:avLst/>
          </a:prstGeom>
          <a:solidFill>
            <a:srgbClr val="980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347472"/>
            <a:ext cx="10515600" cy="219456"/>
          </a:xfrm>
          <a:prstGeom prst="rect">
            <a:avLst/>
          </a:prstGeom>
          <a:noFill/>
        </p:spPr>
        <p:txBody>
          <a:bodyPr wrap="square">
            <a:spAutoFit/>
          </a:bodyPr>
          <a:lstStyle/>
          <a:p>
            <a:pPr>
              <a:defRPr sz="950" b="1">
                <a:solidFill>
                  <a:srgbClr val="980517"/>
                </a:solidFill>
                <a:latin typeface="Arial"/>
              </a:defRPr>
            </a:pPr>
            <a:r>
              <a:t>ANALISIS ALIRAN INFORMASI</a:t>
            </a:r>
          </a:p>
        </p:txBody>
      </p:sp>
      <p:sp>
        <p:nvSpPr>
          <p:cNvPr id="4" name="TextBox 3"/>
          <p:cNvSpPr txBox="1"/>
          <p:nvPr/>
        </p:nvSpPr>
        <p:spPr>
          <a:xfrm>
            <a:off x="868680" y="548640"/>
            <a:ext cx="10515600" cy="384048"/>
          </a:xfrm>
          <a:prstGeom prst="rect">
            <a:avLst/>
          </a:prstGeom>
          <a:noFill/>
        </p:spPr>
        <p:txBody>
          <a:bodyPr wrap="square">
            <a:spAutoFit/>
          </a:bodyPr>
          <a:lstStyle/>
          <a:p>
            <a:pPr>
              <a:defRPr sz="1900" b="1">
                <a:solidFill>
                  <a:srgbClr val="0F172A"/>
                </a:solidFill>
                <a:latin typeface="Arial"/>
              </a:defRPr>
            </a:pPr>
            <a:r>
              <a:t>Titik Kemacetan &amp; Isolasi Data (As-Is State)</a:t>
            </a:r>
          </a:p>
        </p:txBody>
      </p:sp>
      <p:sp>
        <p:nvSpPr>
          <p:cNvPr id="5" name="TextBox 4"/>
          <p:cNvSpPr txBox="1"/>
          <p:nvPr/>
        </p:nvSpPr>
        <p:spPr>
          <a:xfrm>
            <a:off x="868680" y="932688"/>
            <a:ext cx="10515600" cy="256032"/>
          </a:xfrm>
          <a:prstGeom prst="rect">
            <a:avLst/>
          </a:prstGeom>
          <a:noFill/>
        </p:spPr>
        <p:txBody>
          <a:bodyPr wrap="square">
            <a:spAutoFit/>
          </a:bodyPr>
          <a:lstStyle/>
          <a:p>
            <a:pPr>
              <a:defRPr sz="1100">
                <a:solidFill>
                  <a:srgbClr val="475569"/>
                </a:solidFill>
                <a:latin typeface="Calibri"/>
              </a:defRPr>
            </a:pPr>
            <a:r>
              <a:t>Hambatan komunikasi antarbagian yang memicu keterlambatan, inkonsistensi data, dan pembatalan layanan</a:t>
            </a:r>
          </a:p>
        </p:txBody>
      </p:sp>
      <p:sp>
        <p:nvSpPr>
          <p:cNvPr id="6" name="Rectangle 5"/>
          <p:cNvSpPr/>
          <p:nvPr/>
        </p:nvSpPr>
        <p:spPr>
          <a:xfrm>
            <a:off x="731520" y="1243584"/>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17320"/>
            <a:ext cx="5257800"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ALIRAN 01 • MAHASISWA ➔ KAMPUS</a:t>
            </a:r>
          </a:p>
          <a:p>
            <a:pPr>
              <a:spcAft>
                <a:spcPts val="500"/>
              </a:spcAft>
              <a:defRPr sz="1250" b="1">
                <a:solidFill>
                  <a:srgbClr val="0F172A"/>
                </a:solidFill>
                <a:latin typeface="Arial"/>
              </a:defRPr>
            </a:pPr>
            <a:r>
              <a:t>Kebutuhan: Profil Ukuran &amp; Jadwal</a:t>
            </a:r>
          </a:p>
          <a:p>
            <a:pPr>
              <a:spcAft>
                <a:spcPts val="300"/>
              </a:spcAft>
              <a:defRPr sz="1050">
                <a:solidFill>
                  <a:srgbClr val="0F172A"/>
                </a:solidFill>
                <a:latin typeface="Calibri"/>
              </a:defRPr>
            </a:pPr>
            <a:r>
              <a:t>•  Asal &amp; Tujuan: Mahasiswa mengisi form ke kampus dan menerima jadwal pembagian via email.</a:t>
            </a:r>
          </a:p>
          <a:p>
            <a:pPr>
              <a:spcAft>
                <a:spcPts val="300"/>
              </a:spcAft>
              <a:defRPr sz="1050">
                <a:solidFill>
                  <a:srgbClr val="0F172A"/>
                </a:solidFill>
                <a:latin typeface="Calibri"/>
              </a:defRPr>
            </a:pPr>
            <a:r>
              <a:t>•  Titik Masalah: Google Form terpisah tanpa validasi SKU baku, memicu input ganda dan rekapitulasi data staf terlambat berminggu-minggu.</a:t>
            </a:r>
          </a:p>
          <a:p>
            <a:pPr>
              <a:spcBef>
                <a:spcPts val="400"/>
              </a:spcBef>
              <a:defRPr sz="1000" b="1">
                <a:solidFill>
                  <a:srgbClr val="980517"/>
                </a:solidFill>
                <a:latin typeface="Calibri"/>
              </a:defRPr>
            </a:pPr>
            <a:r>
              <a:t>➔  Kondisi: Informasi Terlambat &amp; Format Liar</a:t>
            </a:r>
          </a:p>
        </p:txBody>
      </p:sp>
      <p:sp>
        <p:nvSpPr>
          <p:cNvPr id="8" name="Rounded Rectangle 7"/>
          <p:cNvSpPr/>
          <p:nvPr/>
        </p:nvSpPr>
        <p:spPr>
          <a:xfrm>
            <a:off x="6199632" y="1417320"/>
            <a:ext cx="5257800" cy="2331720"/>
          </a:xfrm>
          <a:prstGeom prst="roundRect">
            <a:avLst/>
          </a:prstGeom>
          <a:solidFill>
            <a:srgbClr val="FEF2F2"/>
          </a:solidFill>
          <a:ln w="19050">
            <a:solidFill>
              <a:srgbClr val="98051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ALIRAN 02 • KEUANGAN ➔ POSKO HARI-H</a:t>
            </a:r>
          </a:p>
          <a:p>
            <a:pPr>
              <a:spcAft>
                <a:spcPts val="500"/>
              </a:spcAft>
              <a:defRPr sz="1250" b="1">
                <a:solidFill>
                  <a:srgbClr val="0F172A"/>
                </a:solidFill>
                <a:latin typeface="Arial"/>
              </a:defRPr>
            </a:pPr>
            <a:r>
              <a:t>Kebutuhan: Status Lunas (Eligibility)</a:t>
            </a:r>
          </a:p>
          <a:p>
            <a:pPr>
              <a:spcAft>
                <a:spcPts val="300"/>
              </a:spcAft>
              <a:defRPr sz="1050">
                <a:solidFill>
                  <a:srgbClr val="0F172A"/>
                </a:solidFill>
                <a:latin typeface="Calibri"/>
              </a:defRPr>
            </a:pPr>
            <a:r>
              <a:t>•  Asal &amp; Tujuan: Staf Keuangan mengekspor data lunas ke staf meja posko pembagian seragam.</a:t>
            </a:r>
          </a:p>
          <a:p>
            <a:pPr>
              <a:spcAft>
                <a:spcPts val="300"/>
              </a:spcAft>
              <a:defRPr sz="1050">
                <a:solidFill>
                  <a:srgbClr val="0F172A"/>
                </a:solidFill>
                <a:latin typeface="Calibri"/>
              </a:defRPr>
            </a:pPr>
            <a:r>
              <a:t>•  Titik Masalah: Data terisolasi di file Excel lokal staf. Saat ada pelunasan baru di bank pada hari-H, staf posko tidak terupdate sehingga maba tertolak.</a:t>
            </a:r>
          </a:p>
          <a:p>
            <a:pPr>
              <a:spcBef>
                <a:spcPts val="400"/>
              </a:spcBef>
              <a:defRPr sz="1000" b="1">
                <a:solidFill>
                  <a:srgbClr val="980517"/>
                </a:solidFill>
                <a:latin typeface="Calibri"/>
              </a:defRPr>
            </a:pPr>
            <a:r>
              <a:t>➔  Kondisi: Informasi Terputus (Silo Data Lokal)</a:t>
            </a:r>
          </a:p>
        </p:txBody>
      </p:sp>
      <p:sp>
        <p:nvSpPr>
          <p:cNvPr id="9" name="Rounded Rectangle 8"/>
          <p:cNvSpPr/>
          <p:nvPr/>
        </p:nvSpPr>
        <p:spPr>
          <a:xfrm>
            <a:off x="731520" y="3886200"/>
            <a:ext cx="5257800"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ALIRAN 03 • MEJA POSKO ➔ GUDANG</a:t>
            </a:r>
          </a:p>
          <a:p>
            <a:pPr>
              <a:spcAft>
                <a:spcPts val="500"/>
              </a:spcAft>
              <a:defRPr sz="1250" b="1">
                <a:solidFill>
                  <a:srgbClr val="0F172A"/>
                </a:solidFill>
                <a:latin typeface="Arial"/>
              </a:defRPr>
            </a:pPr>
            <a:r>
              <a:t>Kebutuhan: Kuota Hak &amp; Kartu Mutasi</a:t>
            </a:r>
          </a:p>
          <a:p>
            <a:pPr>
              <a:spcAft>
                <a:spcPts val="300"/>
              </a:spcAft>
              <a:defRPr sz="1050">
                <a:solidFill>
                  <a:srgbClr val="0F172A"/>
                </a:solidFill>
                <a:latin typeface="Calibri"/>
              </a:defRPr>
            </a:pPr>
            <a:r>
              <a:t>•  Asal &amp; Tujuan: Staf posko memverifikasi paket hak prodi dan mencatat mutasi seragam yang keluar.</a:t>
            </a:r>
          </a:p>
          <a:p>
            <a:pPr>
              <a:spcAft>
                <a:spcPts val="300"/>
              </a:spcAft>
              <a:defRPr sz="1050">
                <a:solidFill>
                  <a:srgbClr val="0F172A"/>
                </a:solidFill>
                <a:latin typeface="Calibri"/>
              </a:defRPr>
            </a:pPr>
            <a:r>
              <a:t>•  Titik Masalah: Penyerahan seragam dicatat di lembaran kertas. Pengurangan saldo stok gudang baru direkap malam hari, memicu risiko susut stok.</a:t>
            </a:r>
          </a:p>
          <a:p>
            <a:pPr>
              <a:spcBef>
                <a:spcPts val="400"/>
              </a:spcBef>
              <a:defRPr sz="1000" b="1">
                <a:solidFill>
                  <a:srgbClr val="980517"/>
                </a:solidFill>
                <a:latin typeface="Calibri"/>
              </a:defRPr>
            </a:pPr>
            <a:r>
              <a:t>➔  Kondisi: Informasi Terlambat (Paper-Based Tracking)</a:t>
            </a:r>
          </a:p>
        </p:txBody>
      </p:sp>
      <p:sp>
        <p:nvSpPr>
          <p:cNvPr id="10" name="Rounded Rectangle 9"/>
          <p:cNvSpPr/>
          <p:nvPr/>
        </p:nvSpPr>
        <p:spPr>
          <a:xfrm>
            <a:off x="6199632" y="3886200"/>
            <a:ext cx="5257800" cy="2331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ALIRAN 04 • PENGADAAN ➔ PABRIK</a:t>
            </a:r>
          </a:p>
          <a:p>
            <a:pPr>
              <a:spcAft>
                <a:spcPts val="500"/>
              </a:spcAft>
              <a:defRPr sz="1250" b="1">
                <a:solidFill>
                  <a:srgbClr val="0F172A"/>
                </a:solidFill>
                <a:latin typeface="Arial"/>
              </a:defRPr>
            </a:pPr>
            <a:r>
              <a:t>Kebutuhan: Purchase Order Agregat</a:t>
            </a:r>
          </a:p>
          <a:p>
            <a:pPr>
              <a:spcAft>
                <a:spcPts val="300"/>
              </a:spcAft>
              <a:defRPr sz="1050">
                <a:solidFill>
                  <a:srgbClr val="0F172A"/>
                </a:solidFill>
                <a:latin typeface="Calibri"/>
              </a:defRPr>
            </a:pPr>
            <a:r>
              <a:t>•  Asal &amp; Tujuan: Pengadaan kampus mengirim rincian jumlah potong seragam dan sepatu ke pabrik.</a:t>
            </a:r>
          </a:p>
          <a:p>
            <a:pPr>
              <a:spcAft>
                <a:spcPts val="300"/>
              </a:spcAft>
              <a:defRPr sz="1050">
                <a:solidFill>
                  <a:srgbClr val="0F172A"/>
                </a:solidFill>
                <a:latin typeface="Calibri"/>
              </a:defRPr>
            </a:pPr>
            <a:r>
              <a:t>•  Titik Masalah: Purchase Order ke pabrik hanya estimasi kasar tanpa dasar profil data riil maba, memicu lead-time penukaran barang berbulan-bulan.</a:t>
            </a:r>
          </a:p>
          <a:p>
            <a:pPr>
              <a:spcBef>
                <a:spcPts val="400"/>
              </a:spcBef>
              <a:defRPr sz="1000" b="1">
                <a:solidFill>
                  <a:srgbClr val="980517"/>
                </a:solidFill>
                <a:latin typeface="Calibri"/>
              </a:defRPr>
            </a:pPr>
            <a:r>
              <a:t>➔  Kondisi: Informasi Tidak Akurat (Blind Ordering)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84048"/>
            <a:ext cx="54864" cy="713232"/>
          </a:xfrm>
          <a:prstGeom prst="rect">
            <a:avLst/>
          </a:prstGeom>
          <a:solidFill>
            <a:srgbClr val="980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347472"/>
            <a:ext cx="10515600" cy="219456"/>
          </a:xfrm>
          <a:prstGeom prst="rect">
            <a:avLst/>
          </a:prstGeom>
          <a:noFill/>
        </p:spPr>
        <p:txBody>
          <a:bodyPr wrap="square">
            <a:spAutoFit/>
          </a:bodyPr>
          <a:lstStyle/>
          <a:p>
            <a:pPr>
              <a:defRPr sz="950" b="1">
                <a:solidFill>
                  <a:srgbClr val="980517"/>
                </a:solidFill>
                <a:latin typeface="Arial"/>
              </a:defRPr>
            </a:pPr>
            <a:r>
              <a:t>REKOMENDASI SISTEM TERPADU</a:t>
            </a:r>
          </a:p>
        </p:txBody>
      </p:sp>
      <p:sp>
        <p:nvSpPr>
          <p:cNvPr id="4" name="TextBox 3"/>
          <p:cNvSpPr txBox="1"/>
          <p:nvPr/>
        </p:nvSpPr>
        <p:spPr>
          <a:xfrm>
            <a:off x="868680" y="548640"/>
            <a:ext cx="10515600" cy="384048"/>
          </a:xfrm>
          <a:prstGeom prst="rect">
            <a:avLst/>
          </a:prstGeom>
          <a:noFill/>
        </p:spPr>
        <p:txBody>
          <a:bodyPr wrap="square">
            <a:spAutoFit/>
          </a:bodyPr>
          <a:lstStyle/>
          <a:p>
            <a:pPr>
              <a:defRPr sz="1900" b="1">
                <a:solidFill>
                  <a:srgbClr val="0F172A"/>
                </a:solidFill>
                <a:latin typeface="Arial"/>
              </a:defRPr>
            </a:pPr>
            <a:r>
              <a:t>Pemilihan Arsitektur Sistem Informasi (HorizonU Uniform Engine)</a:t>
            </a:r>
          </a:p>
        </p:txBody>
      </p:sp>
      <p:sp>
        <p:nvSpPr>
          <p:cNvPr id="5" name="TextBox 4"/>
          <p:cNvSpPr txBox="1"/>
          <p:nvPr/>
        </p:nvSpPr>
        <p:spPr>
          <a:xfrm>
            <a:off x="868680" y="932688"/>
            <a:ext cx="10515600" cy="256032"/>
          </a:xfrm>
          <a:prstGeom prst="rect">
            <a:avLst/>
          </a:prstGeom>
          <a:noFill/>
        </p:spPr>
        <p:txBody>
          <a:bodyPr wrap="square">
            <a:spAutoFit/>
          </a:bodyPr>
          <a:lstStyle/>
          <a:p>
            <a:pPr>
              <a:defRPr sz="1100">
                <a:solidFill>
                  <a:srgbClr val="475569"/>
                </a:solidFill>
                <a:latin typeface="Calibri"/>
              </a:defRPr>
            </a:pPr>
            <a:r>
              <a:t>Integrasi empat pilar sistem: ERP, SCM, POS, dan WMS dalam satu platform web modern</a:t>
            </a:r>
          </a:p>
        </p:txBody>
      </p:sp>
      <p:sp>
        <p:nvSpPr>
          <p:cNvPr id="6" name="Rectangle 5"/>
          <p:cNvSpPr/>
          <p:nvPr/>
        </p:nvSpPr>
        <p:spPr>
          <a:xfrm>
            <a:off x="731520" y="1243584"/>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731520" y="1417320"/>
          <a:ext cx="10728654" cy="4800600"/>
        </p:xfrm>
        <a:graphic>
          <a:graphicData uri="http://schemas.openxmlformats.org/drawingml/2006/table">
            <a:tbl>
              <a:tblPr firstRow="1" bandRow="1">
                <a:tableStyleId>{5C22544A-7EE6-4342-B048-85BDC9FD1C3A}</a:tableStyleId>
              </a:tblPr>
              <a:tblGrid>
                <a:gridCol w="2286000"/>
                <a:gridCol w="2651760"/>
                <a:gridCol w="3749039"/>
                <a:gridCol w="2041855"/>
              </a:tblGrid>
              <a:tr h="960120">
                <a:tc>
                  <a:txBody>
                    <a:bodyPr/>
                    <a:lstStyle/>
                    <a:p>
                      <a:pPr>
                        <a:defRPr sz="1100" b="1">
                          <a:solidFill>
                            <a:srgbClr val="FFFFFF"/>
                          </a:solidFill>
                          <a:latin typeface="Arial"/>
                        </a:defRPr>
                      </a:pPr>
                      <a:r>
                        <a:t>Masalah yang Diselesaikan</a:t>
                      </a:r>
                    </a:p>
                  </a:txBody>
                  <a:tcPr>
                    <a:solidFill>
                      <a:srgbClr val="980517"/>
                    </a:solidFill>
                  </a:tcPr>
                </a:tc>
                <a:tc>
                  <a:txBody>
                    <a:bodyPr/>
                    <a:lstStyle/>
                    <a:p>
                      <a:pPr>
                        <a:defRPr sz="1100" b="1">
                          <a:solidFill>
                            <a:srgbClr val="FFFFFF"/>
                          </a:solidFill>
                          <a:latin typeface="Arial"/>
                        </a:defRPr>
                      </a:pPr>
                      <a:r>
                        <a:t>Sistem &amp; Modul Terpilih</a:t>
                      </a:r>
                    </a:p>
                  </a:txBody>
                  <a:tcPr>
                    <a:solidFill>
                      <a:srgbClr val="980517"/>
                    </a:solidFill>
                  </a:tcPr>
                </a:tc>
                <a:tc>
                  <a:txBody>
                    <a:bodyPr/>
                    <a:lstStyle/>
                    <a:p>
                      <a:pPr>
                        <a:defRPr sz="1100" b="1">
                          <a:solidFill>
                            <a:srgbClr val="FFFFFF"/>
                          </a:solidFill>
                          <a:latin typeface="Arial"/>
                        </a:defRPr>
                      </a:pPr>
                      <a:r>
                        <a:t>Fungsi Sistem dalam Kasus</a:t>
                      </a:r>
                    </a:p>
                  </a:txBody>
                  <a:tcPr>
                    <a:solidFill>
                      <a:srgbClr val="980517"/>
                    </a:solidFill>
                  </a:tcPr>
                </a:tc>
                <a:tc>
                  <a:txBody>
                    <a:bodyPr/>
                    <a:lstStyle/>
                    <a:p>
                      <a:pPr>
                        <a:defRPr sz="1100" b="1">
                          <a:solidFill>
                            <a:srgbClr val="FFFFFF"/>
                          </a:solidFill>
                          <a:latin typeface="Arial"/>
                        </a:defRPr>
                      </a:pPr>
                      <a:r>
                        <a:t>Manfaat Nyata Terukur</a:t>
                      </a:r>
                    </a:p>
                  </a:txBody>
                  <a:tcPr>
                    <a:solidFill>
                      <a:srgbClr val="980517"/>
                    </a:solidFill>
                  </a:tcPr>
                </a:tc>
              </a:tr>
              <a:tr h="960120">
                <a:tc>
                  <a:txBody>
                    <a:bodyPr/>
                    <a:lstStyle/>
                    <a:p>
                      <a:pPr>
                        <a:defRPr sz="1000" b="1">
                          <a:solidFill>
                            <a:srgbClr val="980517"/>
                          </a:solidFill>
                          <a:latin typeface="Calibri"/>
                        </a:defRPr>
                      </a:pPr>
                      <a:r>
                        <a:t>Excel Crash &amp; Data Mahasiswa Terpecah</a:t>
                      </a:r>
                    </a:p>
                  </a:txBody>
                  <a:tcPr>
                    <a:solidFill>
                      <a:srgbClr val="F8FAFC"/>
                    </a:solidFill>
                  </a:tcPr>
                </a:tc>
                <a:tc>
                  <a:txBody>
                    <a:bodyPr/>
                    <a:lstStyle/>
                    <a:p>
                      <a:pPr>
                        <a:defRPr sz="1000">
                          <a:solidFill>
                            <a:srgbClr val="0F172A"/>
                          </a:solidFill>
                          <a:latin typeface="Calibri"/>
                        </a:defRPr>
                      </a:pPr>
                      <a:r>
                        <a:t>ERP Master &amp; Entitlement Engine (Database MySQL InnoDB)</a:t>
                      </a:r>
                    </a:p>
                  </a:txBody>
                  <a:tcPr>
                    <a:solidFill>
                      <a:srgbClr val="F8FAFC"/>
                    </a:solidFill>
                  </a:tcPr>
                </a:tc>
                <a:tc>
                  <a:txBody>
                    <a:bodyPr/>
                    <a:lstStyle/>
                    <a:p>
                      <a:pPr>
                        <a:defRPr sz="1000">
                          <a:solidFill>
                            <a:srgbClr val="0F172A"/>
                          </a:solidFill>
                          <a:latin typeface="Calibri"/>
                        </a:defRPr>
                      </a:pPr>
                      <a:r>
                        <a:t>Mengelola master data mahasiswa, struktur base code 4-segmen, impor massal via Maatwebsite, serta matriks kuota hak (Entitlement) otomatis per jenjang dan prodi.</a:t>
                      </a:r>
                    </a:p>
                  </a:txBody>
                  <a:tcPr>
                    <a:solidFill>
                      <a:srgbClr val="F8FAFC"/>
                    </a:solidFill>
                  </a:tcPr>
                </a:tc>
                <a:tc>
                  <a:txBody>
                    <a:bodyPr/>
                    <a:lstStyle/>
                    <a:p>
                      <a:pPr>
                        <a:defRPr sz="1000">
                          <a:solidFill>
                            <a:srgbClr val="0F172A"/>
                          </a:solidFill>
                          <a:latin typeface="Calibri"/>
                        </a:defRPr>
                      </a:pPr>
                      <a:r>
                        <a:t>100% Bebas Crash Excel, data terisolasi ACID, single source of truth.</a:t>
                      </a:r>
                    </a:p>
                  </a:txBody>
                  <a:tcPr>
                    <a:solidFill>
                      <a:srgbClr val="F8FAFC"/>
                    </a:solidFill>
                  </a:tcPr>
                </a:tc>
              </a:tr>
              <a:tr h="960120">
                <a:tc>
                  <a:txBody>
                    <a:bodyPr/>
                    <a:lstStyle/>
                    <a:p>
                      <a:pPr>
                        <a:defRPr sz="1000" b="1">
                          <a:solidFill>
                            <a:srgbClr val="980517"/>
                          </a:solidFill>
                          <a:latin typeface="Calibri"/>
                        </a:defRPr>
                      </a:pPr>
                      <a:r>
                        <a:t>Dead-Stock &amp; Pengumuman Jadwal Lambat</a:t>
                      </a:r>
                    </a:p>
                  </a:txBody>
                  <a:tcPr>
                    <a:solidFill>
                      <a:srgbClr val="FEF2F2"/>
                    </a:solidFill>
                  </a:tcPr>
                </a:tc>
                <a:tc>
                  <a:txBody>
                    <a:bodyPr/>
                    <a:lstStyle/>
                    <a:p>
                      <a:pPr>
                        <a:defRPr sz="1000">
                          <a:solidFill>
                            <a:srgbClr val="0F172A"/>
                          </a:solidFill>
                          <a:latin typeface="Calibri"/>
                        </a:defRPr>
                      </a:pPr>
                      <a:r>
                        <a:t>SCM Demand Planning Portal (Size Event &amp; Announcement Hub)</a:t>
                      </a:r>
                    </a:p>
                  </a:txBody>
                  <a:tcPr>
                    <a:solidFill>
                      <a:srgbClr val="FEF2F2"/>
                    </a:solidFill>
                  </a:tcPr>
                </a:tc>
                <a:tc>
                  <a:txBody>
                    <a:bodyPr/>
                    <a:lstStyle/>
                    <a:p>
                      <a:pPr>
                        <a:defRPr sz="1000">
                          <a:solidFill>
                            <a:srgbClr val="0F172A"/>
                          </a:solidFill>
                          <a:latin typeface="Calibri"/>
                        </a:defRPr>
                      </a:pPr>
                      <a:r>
                        <a:t>Membuka event input profil ukuran mandiri mahasiswa (SizeChangeEvent), siaran jadwal terfilter per prodi, serta kalkulasi otomatis Demand vs Shortage untuk tender vendor.</a:t>
                      </a:r>
                    </a:p>
                  </a:txBody>
                  <a:tcPr>
                    <a:solidFill>
                      <a:srgbClr val="FEF2F2"/>
                    </a:solidFill>
                  </a:tcPr>
                </a:tc>
                <a:tc>
                  <a:txBody>
                    <a:bodyPr/>
                    <a:lstStyle/>
                    <a:p>
                      <a:pPr>
                        <a:defRPr sz="1000">
                          <a:solidFill>
                            <a:srgbClr val="0F172A"/>
                          </a:solidFill>
                          <a:latin typeface="Calibri"/>
                        </a:defRPr>
                      </a:pPr>
                      <a:r>
                        <a:t>Zero Dead-Stock, pengadaan pabrik presisi 100% sesuai ukuran riil.</a:t>
                      </a:r>
                    </a:p>
                  </a:txBody>
                  <a:tcPr>
                    <a:solidFill>
                      <a:srgbClr val="FEF2F2"/>
                    </a:solidFill>
                  </a:tcPr>
                </a:tc>
              </a:tr>
              <a:tr h="960120">
                <a:tc>
                  <a:txBody>
                    <a:bodyPr/>
                    <a:lstStyle/>
                    <a:p>
                      <a:pPr>
                        <a:defRPr sz="1000" b="1">
                          <a:solidFill>
                            <a:srgbClr val="980517"/>
                          </a:solidFill>
                          <a:latin typeface="Calibri"/>
                        </a:defRPr>
                      </a:pPr>
                      <a:r>
                        <a:t>Bottleneck Antrean &amp; Risiko Double-Claim</a:t>
                      </a:r>
                    </a:p>
                  </a:txBody>
                  <a:tcPr>
                    <a:solidFill>
                      <a:srgbClr val="F8FAFC"/>
                    </a:solidFill>
                  </a:tcPr>
                </a:tc>
                <a:tc>
                  <a:txBody>
                    <a:bodyPr/>
                    <a:lstStyle/>
                    <a:p>
                      <a:pPr>
                        <a:defRPr sz="1000">
                          <a:solidFill>
                            <a:srgbClr val="0F172A"/>
                          </a:solidFill>
                          <a:latin typeface="Calibri"/>
                        </a:defRPr>
                      </a:pPr>
                      <a:r>
                        <a:t>POS QR Verification Engine (BaconQrCode &amp; HTML5 Scanner)</a:t>
                      </a:r>
                    </a:p>
                  </a:txBody>
                  <a:tcPr>
                    <a:solidFill>
                      <a:srgbClr val="F8FAFC"/>
                    </a:solidFill>
                  </a:tcPr>
                </a:tc>
                <a:tc>
                  <a:txBody>
                    <a:bodyPr/>
                    <a:lstStyle/>
                    <a:p>
                      <a:pPr>
                        <a:defRPr sz="1000">
                          <a:solidFill>
                            <a:srgbClr val="0F172A"/>
                          </a:solidFill>
                          <a:latin typeface="Calibri"/>
                        </a:defRPr>
                      </a:pPr>
                      <a:r>
                        <a:t>Penerbitan QR Code NIM beresolusi tinggi (Level H) dan eksekusi 6-Lapis Validasi Atomik via kamera webcam loket (Lunas, Sesi, Prodi, Gender, Sisa Hak, Stok Rak).</a:t>
                      </a:r>
                    </a:p>
                  </a:txBody>
                  <a:tcPr>
                    <a:solidFill>
                      <a:srgbClr val="F8FAFC"/>
                    </a:solidFill>
                  </a:tcPr>
                </a:tc>
                <a:tc>
                  <a:txBody>
                    <a:bodyPr/>
                    <a:lstStyle/>
                    <a:p>
                      <a:pPr>
                        <a:defRPr sz="1000">
                          <a:solidFill>
                            <a:srgbClr val="0F172A"/>
                          </a:solidFill>
                          <a:latin typeface="Calibri"/>
                        </a:defRPr>
                      </a:pPr>
                      <a:r>
                        <a:t>Waktu layan &lt; 30 detik/mhs, nol risiko penyerahan ganda.</a:t>
                      </a:r>
                    </a:p>
                  </a:txBody>
                  <a:tcPr>
                    <a:solidFill>
                      <a:srgbClr val="F8FAFC"/>
                    </a:solidFill>
                  </a:tcPr>
                </a:tc>
              </a:tr>
              <a:tr h="960120">
                <a:tc>
                  <a:txBody>
                    <a:bodyPr/>
                    <a:lstStyle/>
                    <a:p>
                      <a:pPr>
                        <a:defRPr sz="1000" b="1">
                          <a:solidFill>
                            <a:srgbClr val="980517"/>
                          </a:solidFill>
                          <a:latin typeface="Calibri"/>
                        </a:defRPr>
                      </a:pPr>
                      <a:r>
                        <a:t>Susut Stok Gudang &amp; Valuasi HPP Buram</a:t>
                      </a:r>
                    </a:p>
                  </a:txBody>
                  <a:tcPr>
                    <a:solidFill>
                      <a:srgbClr val="FEF2F2"/>
                    </a:solidFill>
                  </a:tcPr>
                </a:tc>
                <a:tc>
                  <a:txBody>
                    <a:bodyPr/>
                    <a:lstStyle/>
                    <a:p>
                      <a:pPr>
                        <a:defRPr sz="1000">
                          <a:solidFill>
                            <a:srgbClr val="0F172A"/>
                          </a:solidFill>
                          <a:latin typeface="Calibri"/>
                        </a:defRPr>
                      </a:pPr>
                      <a:r>
                        <a:t>WMS &amp; FIFO Costing Engine (StockBatch &amp; Movement Ledger)</a:t>
                      </a:r>
                    </a:p>
                  </a:txBody>
                  <a:tcPr>
                    <a:solidFill>
                      <a:srgbClr val="FEF2F2"/>
                    </a:solidFill>
                  </a:tcPr>
                </a:tc>
                <a:tc>
                  <a:txBody>
                    <a:bodyPr/>
                    <a:lstStyle/>
                    <a:p>
                      <a:pPr>
                        <a:defRPr sz="1000">
                          <a:solidFill>
                            <a:srgbClr val="0F172A"/>
                          </a:solidFill>
                          <a:latin typeface="Calibri"/>
                        </a:defRPr>
                      </a:pPr>
                      <a:r>
                        <a:t>Melacak batch penerimaan vendor tertua (FIFO), pemotongan stok berkartu audit, rekonsiliasi Stock Opname fisik via variance kalkulator, serta analitik margin laba kotor.</a:t>
                      </a:r>
                    </a:p>
                  </a:txBody>
                  <a:tcPr>
                    <a:solidFill>
                      <a:srgbClr val="FEF2F2"/>
                    </a:solidFill>
                  </a:tcPr>
                </a:tc>
                <a:tc>
                  <a:txBody>
                    <a:bodyPr/>
                    <a:lstStyle/>
                    <a:p>
                      <a:pPr>
                        <a:defRPr sz="1000">
                          <a:solidFill>
                            <a:srgbClr val="0F172A"/>
                          </a:solidFill>
                          <a:latin typeface="Calibri"/>
                        </a:defRPr>
                      </a:pPr>
                      <a:r>
                        <a:t>Valuasi HPP FIFO real-time, audit transparan, cegah selisih fisik.</a:t>
                      </a:r>
                    </a:p>
                  </a:txBody>
                  <a:tcPr>
                    <a:solidFill>
                      <a:srgbClr val="FEF2F2"/>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84048"/>
            <a:ext cx="54864" cy="713232"/>
          </a:xfrm>
          <a:prstGeom prst="rect">
            <a:avLst/>
          </a:prstGeom>
          <a:solidFill>
            <a:srgbClr val="980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347472"/>
            <a:ext cx="10515600" cy="219456"/>
          </a:xfrm>
          <a:prstGeom prst="rect">
            <a:avLst/>
          </a:prstGeom>
          <a:noFill/>
        </p:spPr>
        <p:txBody>
          <a:bodyPr wrap="square">
            <a:spAutoFit/>
          </a:bodyPr>
          <a:lstStyle/>
          <a:p>
            <a:pPr>
              <a:defRPr sz="950" b="1">
                <a:solidFill>
                  <a:srgbClr val="980517"/>
                </a:solidFill>
                <a:latin typeface="Arial"/>
              </a:defRPr>
            </a:pPr>
            <a:r>
              <a:t>DESAIN ARSITEKTUR SOLUSI</a:t>
            </a:r>
          </a:p>
        </p:txBody>
      </p:sp>
      <p:sp>
        <p:nvSpPr>
          <p:cNvPr id="4" name="TextBox 3"/>
          <p:cNvSpPr txBox="1"/>
          <p:nvPr/>
        </p:nvSpPr>
        <p:spPr>
          <a:xfrm>
            <a:off x="868680" y="548640"/>
            <a:ext cx="10515600" cy="384048"/>
          </a:xfrm>
          <a:prstGeom prst="rect">
            <a:avLst/>
          </a:prstGeom>
          <a:noFill/>
        </p:spPr>
        <p:txBody>
          <a:bodyPr wrap="square">
            <a:spAutoFit/>
          </a:bodyPr>
          <a:lstStyle/>
          <a:p>
            <a:pPr>
              <a:defRPr sz="1900" b="1">
                <a:solidFill>
                  <a:srgbClr val="0F172A"/>
                </a:solidFill>
                <a:latin typeface="Arial"/>
              </a:defRPr>
            </a:pPr>
            <a:r>
              <a:t>Aliran 4-Fase Closed-Loop Supply Chain Engine</a:t>
            </a:r>
          </a:p>
        </p:txBody>
      </p:sp>
      <p:sp>
        <p:nvSpPr>
          <p:cNvPr id="5" name="TextBox 4"/>
          <p:cNvSpPr txBox="1"/>
          <p:nvPr/>
        </p:nvSpPr>
        <p:spPr>
          <a:xfrm>
            <a:off x="868680" y="932688"/>
            <a:ext cx="10515600" cy="256032"/>
          </a:xfrm>
          <a:prstGeom prst="rect">
            <a:avLst/>
          </a:prstGeom>
          <a:noFill/>
        </p:spPr>
        <p:txBody>
          <a:bodyPr wrap="square">
            <a:spAutoFit/>
          </a:bodyPr>
          <a:lstStyle/>
          <a:p>
            <a:pPr>
              <a:defRPr sz="1100">
                <a:solidFill>
                  <a:srgbClr val="475569"/>
                </a:solidFill>
                <a:latin typeface="Calibri"/>
              </a:defRPr>
            </a:pPr>
            <a:r>
              <a:t>Konektivitas sistem end-to-end, pemrosesan transaksi atomik, dan closed-loop data feedback</a:t>
            </a:r>
          </a:p>
        </p:txBody>
      </p:sp>
      <p:sp>
        <p:nvSpPr>
          <p:cNvPr id="6" name="Rectangle 5"/>
          <p:cNvSpPr/>
          <p:nvPr/>
        </p:nvSpPr>
        <p:spPr>
          <a:xfrm>
            <a:off x="731520" y="1243584"/>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17320"/>
            <a:ext cx="2542032"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FASE 1 • HULU (INBOUND)</a:t>
            </a:r>
          </a:p>
          <a:p>
            <a:pPr>
              <a:spcAft>
                <a:spcPts val="500"/>
              </a:spcAft>
              <a:defRPr sz="1250" b="1">
                <a:solidFill>
                  <a:srgbClr val="0F172A"/>
                </a:solidFill>
                <a:latin typeface="Arial"/>
              </a:defRPr>
            </a:pPr>
            <a:r>
              <a:t>Inbound &amp; Batch FIFO</a:t>
            </a:r>
          </a:p>
          <a:p>
            <a:pPr>
              <a:spcAft>
                <a:spcPts val="300"/>
              </a:spcAft>
              <a:defRPr sz="1050">
                <a:solidFill>
                  <a:srgbClr val="0F172A"/>
                </a:solidFill>
                <a:latin typeface="Calibri"/>
              </a:defRPr>
            </a:pPr>
            <a:r>
              <a:t>•  Pencatatan barang dari vendor garmen pada modul StockReceive.</a:t>
            </a:r>
          </a:p>
          <a:p>
            <a:pPr>
              <a:spcAft>
                <a:spcPts val="300"/>
              </a:spcAft>
              <a:defRPr sz="1050">
                <a:solidFill>
                  <a:srgbClr val="0F172A"/>
                </a:solidFill>
                <a:latin typeface="Calibri"/>
              </a:defRPr>
            </a:pPr>
            <a:r>
              <a:t>•  Sistem menerbitkan ID batch terurut (FIFO Queue Sequence).</a:t>
            </a:r>
          </a:p>
          <a:p>
            <a:pPr>
              <a:spcAft>
                <a:spcPts val="300"/>
              </a:spcAft>
              <a:defRPr sz="1050">
                <a:solidFill>
                  <a:srgbClr val="0F172A"/>
                </a:solidFill>
                <a:latin typeface="Calibri"/>
              </a:defRPr>
            </a:pPr>
            <a:r>
              <a:t>•  Pencatatan otomatis jurnal mutasi masuk (StockMovement IN) dan penetapan unit HPP batch.</a:t>
            </a:r>
          </a:p>
          <a:p>
            <a:pPr>
              <a:spcBef>
                <a:spcPts val="400"/>
              </a:spcBef>
              <a:defRPr sz="1000" b="1">
                <a:solidFill>
                  <a:srgbClr val="980517"/>
                </a:solidFill>
                <a:latin typeface="Calibri"/>
              </a:defRPr>
            </a:pPr>
            <a:r>
              <a:t>➔  Output: Batch FIFO Terdaftar</a:t>
            </a:r>
          </a:p>
        </p:txBody>
      </p:sp>
      <p:sp>
        <p:nvSpPr>
          <p:cNvPr id="8" name="Rounded Rectangle 7"/>
          <p:cNvSpPr/>
          <p:nvPr/>
        </p:nvSpPr>
        <p:spPr>
          <a:xfrm>
            <a:off x="3456432" y="1417320"/>
            <a:ext cx="2542032"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FASE 2 • DEMAND (PLANNING)</a:t>
            </a:r>
          </a:p>
          <a:p>
            <a:pPr>
              <a:spcAft>
                <a:spcPts val="500"/>
              </a:spcAft>
              <a:defRPr sz="1250" b="1">
                <a:solidFill>
                  <a:srgbClr val="0F172A"/>
                </a:solidFill>
                <a:latin typeface="Arial"/>
              </a:defRPr>
            </a:pPr>
            <a:r>
              <a:t>Eligibility &amp; Profiling</a:t>
            </a:r>
          </a:p>
          <a:p>
            <a:pPr>
              <a:spcAft>
                <a:spcPts val="300"/>
              </a:spcAft>
              <a:defRPr sz="1050">
                <a:solidFill>
                  <a:srgbClr val="0F172A"/>
                </a:solidFill>
                <a:latin typeface="Calibri"/>
              </a:defRPr>
            </a:pPr>
            <a:r>
              <a:t>•  Keuangan mengaktifkan data mahasiswa lunas di EligibilityRecord.</a:t>
            </a:r>
          </a:p>
          <a:p>
            <a:pPr>
              <a:spcAft>
                <a:spcPts val="300"/>
              </a:spcAft>
              <a:defRPr sz="1050">
                <a:solidFill>
                  <a:srgbClr val="0F172A"/>
                </a:solidFill>
                <a:latin typeface="Calibri"/>
              </a:defRPr>
            </a:pPr>
            <a:r>
              <a:t>•  Mahasiswa input profil ukuran badan mandiri di event portal.</a:t>
            </a:r>
          </a:p>
          <a:p>
            <a:pPr>
              <a:spcAft>
                <a:spcPts val="300"/>
              </a:spcAft>
              <a:defRPr sz="1050">
                <a:solidFill>
                  <a:srgbClr val="0F172A"/>
                </a:solidFill>
                <a:latin typeface="Calibri"/>
              </a:defRPr>
            </a:pPr>
            <a:r>
              <a:t>•  Sistem menghitung Demand vs Shortage untuk acuan belanja pengadaan vendor.</a:t>
            </a:r>
          </a:p>
          <a:p>
            <a:pPr>
              <a:spcBef>
                <a:spcPts val="400"/>
              </a:spcBef>
              <a:defRPr sz="1000" b="1">
                <a:solidFill>
                  <a:srgbClr val="980517"/>
                </a:solidFill>
                <a:latin typeface="Calibri"/>
              </a:defRPr>
            </a:pPr>
            <a:r>
              <a:t>➔  Output: QR Code &amp; Jadwal Aktif</a:t>
            </a:r>
          </a:p>
        </p:txBody>
      </p:sp>
      <p:sp>
        <p:nvSpPr>
          <p:cNvPr id="9" name="Rounded Rectangle 8"/>
          <p:cNvSpPr/>
          <p:nvPr/>
        </p:nvSpPr>
        <p:spPr>
          <a:xfrm>
            <a:off x="6181344" y="1417320"/>
            <a:ext cx="2542032" cy="4800600"/>
          </a:xfrm>
          <a:prstGeom prst="roundRect">
            <a:avLst/>
          </a:prstGeom>
          <a:solidFill>
            <a:srgbClr val="FEF2F2"/>
          </a:solidFill>
          <a:ln w="19050">
            <a:solidFill>
              <a:srgbClr val="98051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FASE 3 • HILIR (OUTBOUND)</a:t>
            </a:r>
          </a:p>
          <a:p>
            <a:pPr>
              <a:spcAft>
                <a:spcPts val="500"/>
              </a:spcAft>
              <a:defRPr sz="1250" b="1">
                <a:solidFill>
                  <a:srgbClr val="0F172A"/>
                </a:solidFill>
                <a:latin typeface="Arial"/>
              </a:defRPr>
            </a:pPr>
            <a:r>
              <a:t>POS QR &amp; 6-Lapis Validasi</a:t>
            </a:r>
          </a:p>
          <a:p>
            <a:pPr>
              <a:spcAft>
                <a:spcPts val="300"/>
              </a:spcAft>
              <a:defRPr sz="1050">
                <a:solidFill>
                  <a:srgbClr val="0F172A"/>
                </a:solidFill>
                <a:latin typeface="Calibri"/>
              </a:defRPr>
            </a:pPr>
            <a:r>
              <a:t>•  Staf memindai QR NIM mahasiswa di loket posko kampus.</a:t>
            </a:r>
          </a:p>
          <a:p>
            <a:pPr>
              <a:spcAft>
                <a:spcPts val="300"/>
              </a:spcAft>
              <a:defRPr sz="1050">
                <a:solidFill>
                  <a:srgbClr val="0F172A"/>
                </a:solidFill>
                <a:latin typeface="Calibri"/>
              </a:defRPr>
            </a:pPr>
            <a:r>
              <a:t>•  Eksekusi 6-Lapis Validasi Atomik via pessimistic lock (lockForUpdate).</a:t>
            </a:r>
          </a:p>
          <a:p>
            <a:pPr>
              <a:spcAft>
                <a:spcPts val="300"/>
              </a:spcAft>
              <a:defRPr sz="1050">
                <a:solidFill>
                  <a:srgbClr val="0F172A"/>
                </a:solidFill>
                <a:latin typeface="Calibri"/>
              </a:defRPr>
            </a:pPr>
            <a:r>
              <a:t>•  Pemotongan batch tertua otomatis (deductStockFifo) dan cetak tiket serah terima fisik.</a:t>
            </a:r>
          </a:p>
          <a:p>
            <a:pPr>
              <a:spcBef>
                <a:spcPts val="400"/>
              </a:spcBef>
              <a:defRPr sz="1000" b="1">
                <a:solidFill>
                  <a:srgbClr val="980517"/>
                </a:solidFill>
                <a:latin typeface="Calibri"/>
              </a:defRPr>
            </a:pPr>
            <a:r>
              <a:t>➔  Output: Seragam Diterima Pas</a:t>
            </a:r>
          </a:p>
        </p:txBody>
      </p:sp>
      <p:sp>
        <p:nvSpPr>
          <p:cNvPr id="10" name="Rounded Rectangle 9"/>
          <p:cNvSpPr/>
          <p:nvPr/>
        </p:nvSpPr>
        <p:spPr>
          <a:xfrm>
            <a:off x="8906256" y="1417320"/>
            <a:ext cx="2542032"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FASE 4 • KONTROL (AUDIT)</a:t>
            </a:r>
          </a:p>
          <a:p>
            <a:pPr>
              <a:spcAft>
                <a:spcPts val="500"/>
              </a:spcAft>
              <a:defRPr sz="1250" b="1">
                <a:solidFill>
                  <a:srgbClr val="0F172A"/>
                </a:solidFill>
                <a:latin typeface="Arial"/>
              </a:defRPr>
            </a:pPr>
            <a:r>
              <a:t>Opname &amp; Closed-Loop</a:t>
            </a:r>
          </a:p>
          <a:p>
            <a:pPr>
              <a:spcAft>
                <a:spcPts val="300"/>
              </a:spcAft>
              <a:defRPr sz="1050">
                <a:solidFill>
                  <a:srgbClr val="0F172A"/>
                </a:solidFill>
                <a:latin typeface="Calibri"/>
              </a:defRPr>
            </a:pPr>
            <a:r>
              <a:t>•  Stock Opname fisik berkala menghitung selisih variance otomatis.</a:t>
            </a:r>
          </a:p>
          <a:p>
            <a:pPr>
              <a:spcAft>
                <a:spcPts val="300"/>
              </a:spcAft>
              <a:defRPr sz="1050">
                <a:solidFill>
                  <a:srgbClr val="0F172A"/>
                </a:solidFill>
                <a:latin typeface="Calibri"/>
              </a:defRPr>
            </a:pPr>
            <a:r>
              <a:t>•  Penerbitan jurnal penyesuaian susut/surplus stok gudang.</a:t>
            </a:r>
          </a:p>
          <a:p>
            <a:pPr>
              <a:spcAft>
                <a:spcPts val="300"/>
              </a:spcAft>
              <a:defRPr sz="1050">
                <a:solidFill>
                  <a:srgbClr val="0F172A"/>
                </a:solidFill>
                <a:latin typeface="Calibri"/>
              </a:defRPr>
            </a:pPr>
            <a:r>
              <a:t>•  Generate analitik Gross Profit Margin (GPM) dan laporan sisa stok untuk pimpinan.</a:t>
            </a:r>
          </a:p>
          <a:p>
            <a:pPr>
              <a:spcBef>
                <a:spcPts val="400"/>
              </a:spcBef>
              <a:defRPr sz="1000" b="1">
                <a:solidFill>
                  <a:srgbClr val="980517"/>
                </a:solidFill>
                <a:latin typeface="Calibri"/>
              </a:defRPr>
            </a:pPr>
            <a:r>
              <a:t>➔  Output: Feedback Siklus Baru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84048"/>
            <a:ext cx="54864" cy="713232"/>
          </a:xfrm>
          <a:prstGeom prst="rect">
            <a:avLst/>
          </a:prstGeom>
          <a:solidFill>
            <a:srgbClr val="980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347472"/>
            <a:ext cx="10515600" cy="219456"/>
          </a:xfrm>
          <a:prstGeom prst="rect">
            <a:avLst/>
          </a:prstGeom>
          <a:noFill/>
        </p:spPr>
        <p:txBody>
          <a:bodyPr wrap="square">
            <a:spAutoFit/>
          </a:bodyPr>
          <a:lstStyle/>
          <a:p>
            <a:pPr>
              <a:defRPr sz="950" b="1">
                <a:solidFill>
                  <a:srgbClr val="980517"/>
                </a:solidFill>
                <a:latin typeface="Arial"/>
              </a:defRPr>
            </a:pPr>
            <a:r>
              <a:t>RENCANA PENERAPAN &amp; MITIGASI</a:t>
            </a:r>
          </a:p>
        </p:txBody>
      </p:sp>
      <p:sp>
        <p:nvSpPr>
          <p:cNvPr id="4" name="TextBox 3"/>
          <p:cNvSpPr txBox="1"/>
          <p:nvPr/>
        </p:nvSpPr>
        <p:spPr>
          <a:xfrm>
            <a:off x="868680" y="548640"/>
            <a:ext cx="10515600" cy="384048"/>
          </a:xfrm>
          <a:prstGeom prst="rect">
            <a:avLst/>
          </a:prstGeom>
          <a:noFill/>
        </p:spPr>
        <p:txBody>
          <a:bodyPr wrap="square">
            <a:spAutoFit/>
          </a:bodyPr>
          <a:lstStyle/>
          <a:p>
            <a:pPr>
              <a:defRPr sz="1900" b="1">
                <a:solidFill>
                  <a:srgbClr val="0F172A"/>
                </a:solidFill>
                <a:latin typeface="Arial"/>
              </a:defRPr>
            </a:pPr>
            <a:r>
              <a:t>Prioritas Implementasi &amp; Manajemen Risiko Lapangan</a:t>
            </a:r>
          </a:p>
        </p:txBody>
      </p:sp>
      <p:sp>
        <p:nvSpPr>
          <p:cNvPr id="5" name="TextBox 4"/>
          <p:cNvSpPr txBox="1"/>
          <p:nvPr/>
        </p:nvSpPr>
        <p:spPr>
          <a:xfrm>
            <a:off x="868680" y="932688"/>
            <a:ext cx="10515600" cy="256032"/>
          </a:xfrm>
          <a:prstGeom prst="rect">
            <a:avLst/>
          </a:prstGeom>
          <a:noFill/>
        </p:spPr>
        <p:txBody>
          <a:bodyPr wrap="square">
            <a:spAutoFit/>
          </a:bodyPr>
          <a:lstStyle/>
          <a:p>
            <a:pPr>
              <a:defRPr sz="1100">
                <a:solidFill>
                  <a:srgbClr val="475569"/>
                </a:solidFill>
                <a:latin typeface="Calibri"/>
              </a:defRPr>
            </a:pPr>
            <a:r>
              <a:t>Tahapan kesiapan operasional serta prosedur kontingensi darurat saat hari-H distribusi</a:t>
            </a:r>
          </a:p>
        </p:txBody>
      </p:sp>
      <p:sp>
        <p:nvSpPr>
          <p:cNvPr id="6" name="Rectangle 5"/>
          <p:cNvSpPr/>
          <p:nvPr/>
        </p:nvSpPr>
        <p:spPr>
          <a:xfrm>
            <a:off x="731520" y="1243584"/>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17320"/>
            <a:ext cx="3429000"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3 PRIORITAS IMPLEMENTASI</a:t>
            </a:r>
          </a:p>
          <a:p>
            <a:pPr>
              <a:spcAft>
                <a:spcPts val="500"/>
              </a:spcAft>
              <a:defRPr sz="1250" b="1">
                <a:solidFill>
                  <a:srgbClr val="0F172A"/>
                </a:solidFill>
                <a:latin typeface="Arial"/>
              </a:defRPr>
            </a:pPr>
            <a:r>
              <a:t>Tahapan Kesiapan Sistem</a:t>
            </a:r>
          </a:p>
          <a:p>
            <a:pPr>
              <a:spcAft>
                <a:spcPts val="300"/>
              </a:spcAft>
              <a:defRPr sz="1050">
                <a:solidFill>
                  <a:srgbClr val="0F172A"/>
                </a:solidFill>
                <a:latin typeface="Calibri"/>
              </a:defRPr>
            </a:pPr>
            <a:r>
              <a:t>•  Prioritas 1 (Master Data): Pembersihan data lama, pembuatan skema SKU 5-segmen, impor data mahasiswa, dan konfigurasi hak seragam prodi.</a:t>
            </a:r>
          </a:p>
          <a:p>
            <a:pPr>
              <a:spcAft>
                <a:spcPts val="300"/>
              </a:spcAft>
              <a:defRPr sz="1050">
                <a:solidFill>
                  <a:srgbClr val="0F172A"/>
                </a:solidFill>
                <a:latin typeface="Calibri"/>
              </a:defRPr>
            </a:pPr>
            <a:r>
              <a:t>•  Prioritas 2 (Integrasi Portal): Integrasi status lunas Keuangan (Eligibility), pembukaan jendela waktu pengisian profil ukuran maba, dan rilis jadwal.</a:t>
            </a:r>
          </a:p>
          <a:p>
            <a:pPr>
              <a:spcAft>
                <a:spcPts val="300"/>
              </a:spcAft>
              <a:defRPr sz="1050">
                <a:solidFill>
                  <a:srgbClr val="0F172A"/>
                </a:solidFill>
                <a:latin typeface="Calibri"/>
              </a:defRPr>
            </a:pPr>
            <a:r>
              <a:t>•  Prioritas 3 (Kesiapan SDM): Pelatihan teknis staf posko memakai scanner webcam, prosedur fitting ukuran, dan drill skenario darurat.</a:t>
            </a:r>
          </a:p>
          <a:p>
            <a:pPr>
              <a:spcBef>
                <a:spcPts val="400"/>
              </a:spcBef>
              <a:defRPr sz="1000" b="1">
                <a:solidFill>
                  <a:srgbClr val="980517"/>
                </a:solidFill>
                <a:latin typeface="Calibri"/>
              </a:defRPr>
            </a:pPr>
            <a:r>
              <a:t>➔  Roadmap: 6 Minggu Implementasi Penuh</a:t>
            </a:r>
          </a:p>
        </p:txBody>
      </p:sp>
      <p:sp>
        <p:nvSpPr>
          <p:cNvPr id="8" name="Rounded Rectangle 7"/>
          <p:cNvSpPr/>
          <p:nvPr/>
        </p:nvSpPr>
        <p:spPr>
          <a:xfrm>
            <a:off x="4370832" y="1417320"/>
            <a:ext cx="7086600" cy="4800600"/>
          </a:xfrm>
          <a:prstGeom prst="roundRect">
            <a:avLst/>
          </a:prstGeom>
          <a:solidFill>
            <a:srgbClr val="FEF2F2"/>
          </a:solidFill>
          <a:ln w="19050">
            <a:solidFill>
              <a:srgbClr val="98051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3 RISIKO LAPANGAN &amp; CARA MITIGASI</a:t>
            </a:r>
          </a:p>
          <a:p>
            <a:pPr>
              <a:spcAft>
                <a:spcPts val="500"/>
              </a:spcAft>
              <a:defRPr sz="1250" b="1">
                <a:solidFill>
                  <a:srgbClr val="0F172A"/>
                </a:solidFill>
                <a:latin typeface="Arial"/>
              </a:defRPr>
            </a:pPr>
            <a:r>
              <a:t>SOP Kontingensi Hari-H Posko</a:t>
            </a:r>
          </a:p>
          <a:p>
            <a:pPr>
              <a:spcAft>
                <a:spcPts val="300"/>
              </a:spcAft>
              <a:defRPr sz="1050">
                <a:solidFill>
                  <a:srgbClr val="0F172A"/>
                </a:solidFill>
                <a:latin typeface="Calibri"/>
              </a:defRPr>
            </a:pPr>
            <a:r>
              <a:t>•  RISIKO 1 (Baterai HP Mati / QR Rusak): Fallback Search manual via NIM atau Nama langsung memanggil profil hak seketika.</a:t>
            </a:r>
          </a:p>
          <a:p>
            <a:pPr>
              <a:spcAft>
                <a:spcPts val="300"/>
              </a:spcAft>
              <a:defRPr sz="1050">
                <a:solidFill>
                  <a:srgbClr val="0F172A"/>
                </a:solidFill>
                <a:latin typeface="Calibri"/>
              </a:defRPr>
            </a:pPr>
            <a:r>
              <a:t>•  RISIKO 2 (Ukuran Rak Habis / Fitting Beda): Fitur Partial Pickup serahkan barang yang tersedia tanpa menghanguskan sisa hak.</a:t>
            </a:r>
          </a:p>
          <a:p>
            <a:pPr>
              <a:spcAft>
                <a:spcPts val="300"/>
              </a:spcAft>
              <a:defRPr sz="1050">
                <a:solidFill>
                  <a:srgbClr val="0F172A"/>
                </a:solidFill>
                <a:latin typeface="Calibri"/>
              </a:defRPr>
            </a:pPr>
            <a:r>
              <a:t>•  RISIKO 3 (Jaringan Internet Kampus Lambat): Pessimistic Row Locking (lockForUpdate) dan idempotensi menjamin nol pemotongan ganda.</a:t>
            </a:r>
          </a:p>
          <a:p>
            <a:pPr>
              <a:spcBef>
                <a:spcPts val="400"/>
              </a:spcBef>
              <a:defRPr sz="1000" b="1">
                <a:solidFill>
                  <a:srgbClr val="980517"/>
                </a:solidFill>
                <a:latin typeface="Calibri"/>
              </a:defRPr>
            </a:pPr>
            <a:r>
              <a:t>➔  Toleransi Kesalahan: Resiliensi Operasional Tinggi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384048"/>
            <a:ext cx="54864" cy="713232"/>
          </a:xfrm>
          <a:prstGeom prst="rect">
            <a:avLst/>
          </a:prstGeom>
          <a:solidFill>
            <a:srgbClr val="980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347472"/>
            <a:ext cx="10515600" cy="219456"/>
          </a:xfrm>
          <a:prstGeom prst="rect">
            <a:avLst/>
          </a:prstGeom>
          <a:noFill/>
        </p:spPr>
        <p:txBody>
          <a:bodyPr wrap="square">
            <a:spAutoFit/>
          </a:bodyPr>
          <a:lstStyle/>
          <a:p>
            <a:pPr>
              <a:defRPr sz="950" b="1">
                <a:solidFill>
                  <a:srgbClr val="980517"/>
                </a:solidFill>
                <a:latin typeface="Arial"/>
              </a:defRPr>
            </a:pPr>
            <a:r>
              <a:t>KESIMPULAN &amp; HASIL TERUKUR</a:t>
            </a:r>
          </a:p>
        </p:txBody>
      </p:sp>
      <p:sp>
        <p:nvSpPr>
          <p:cNvPr id="4" name="TextBox 3"/>
          <p:cNvSpPr txBox="1"/>
          <p:nvPr/>
        </p:nvSpPr>
        <p:spPr>
          <a:xfrm>
            <a:off x="868680" y="548640"/>
            <a:ext cx="10515600" cy="384048"/>
          </a:xfrm>
          <a:prstGeom prst="rect">
            <a:avLst/>
          </a:prstGeom>
          <a:noFill/>
        </p:spPr>
        <p:txBody>
          <a:bodyPr wrap="square">
            <a:spAutoFit/>
          </a:bodyPr>
          <a:lstStyle/>
          <a:p>
            <a:pPr>
              <a:defRPr sz="1900" b="1">
                <a:solidFill>
                  <a:srgbClr val="0F172A"/>
                </a:solidFill>
                <a:latin typeface="Arial"/>
              </a:defRPr>
            </a:pPr>
            <a:r>
              <a:t>Dampak Strategis &amp; Manfaat Nyata Implementasi</a:t>
            </a:r>
          </a:p>
        </p:txBody>
      </p:sp>
      <p:sp>
        <p:nvSpPr>
          <p:cNvPr id="5" name="TextBox 4"/>
          <p:cNvSpPr txBox="1"/>
          <p:nvPr/>
        </p:nvSpPr>
        <p:spPr>
          <a:xfrm>
            <a:off x="868680" y="932688"/>
            <a:ext cx="10515600" cy="256032"/>
          </a:xfrm>
          <a:prstGeom prst="rect">
            <a:avLst/>
          </a:prstGeom>
          <a:noFill/>
        </p:spPr>
        <p:txBody>
          <a:bodyPr wrap="square">
            <a:spAutoFit/>
          </a:bodyPr>
          <a:lstStyle/>
          <a:p>
            <a:pPr>
              <a:defRPr sz="1100">
                <a:solidFill>
                  <a:srgbClr val="475569"/>
                </a:solidFill>
                <a:latin typeface="Calibri"/>
              </a:defRPr>
            </a:pPr>
            <a:r>
              <a:t>Transformasi operasional Departemen Keuangan Universitas Horizon Indonesia pasca-digitalisasi</a:t>
            </a:r>
          </a:p>
        </p:txBody>
      </p:sp>
      <p:sp>
        <p:nvSpPr>
          <p:cNvPr id="6" name="Rectangle 5"/>
          <p:cNvSpPr/>
          <p:nvPr/>
        </p:nvSpPr>
        <p:spPr>
          <a:xfrm>
            <a:off x="731520" y="1243584"/>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17320"/>
            <a:ext cx="3429000" cy="4800600"/>
          </a:xfrm>
          <a:prstGeom prst="roundRect">
            <a:avLst/>
          </a:prstGeom>
          <a:solidFill>
            <a:srgbClr val="FEF2F2"/>
          </a:solidFill>
          <a:ln w="19050">
            <a:solidFill>
              <a:srgbClr val="980517"/>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MANFAAT 01 • EFISIENSI WAKTU</a:t>
            </a:r>
          </a:p>
          <a:p>
            <a:pPr>
              <a:spcAft>
                <a:spcPts val="500"/>
              </a:spcAft>
              <a:defRPr sz="1250" b="1">
                <a:solidFill>
                  <a:srgbClr val="0F172A"/>
                </a:solidFill>
                <a:latin typeface="Arial"/>
              </a:defRPr>
            </a:pPr>
            <a:r>
              <a:t>&lt; 30 Detik per Mahasiswa</a:t>
            </a:r>
          </a:p>
          <a:p>
            <a:pPr>
              <a:spcAft>
                <a:spcPts val="300"/>
              </a:spcAft>
              <a:defRPr sz="1050">
                <a:solidFill>
                  <a:srgbClr val="0F172A"/>
                </a:solidFill>
                <a:latin typeface="Calibri"/>
              </a:defRPr>
            </a:pPr>
            <a:r>
              <a:t>•  Memangkas waktu layanan loket dari yang sebelumnya 15–20 menit per mahasiswa menjadi di bawah 30 detik.</a:t>
            </a:r>
          </a:p>
          <a:p>
            <a:pPr>
              <a:spcAft>
                <a:spcPts val="300"/>
              </a:spcAft>
              <a:defRPr sz="1050">
                <a:solidFill>
                  <a:srgbClr val="0F172A"/>
                </a:solidFill>
                <a:latin typeface="Calibri"/>
              </a:defRPr>
            </a:pPr>
            <a:r>
              <a:t>•  Pemindaian QR Code instan berbasis NIM dan eksekusi 6-lapis validasi otomatis.</a:t>
            </a:r>
          </a:p>
          <a:p>
            <a:pPr>
              <a:spcAft>
                <a:spcPts val="300"/>
              </a:spcAft>
              <a:defRPr sz="1050">
                <a:solidFill>
                  <a:srgbClr val="0F172A"/>
                </a:solidFill>
                <a:latin typeface="Calibri"/>
              </a:defRPr>
            </a:pPr>
            <a:r>
              <a:t>•  Mengeliminasi antrean panjang yang berdesakan di posko kampus setiap awal tahun ajaran baru.</a:t>
            </a:r>
          </a:p>
          <a:p>
            <a:pPr>
              <a:spcBef>
                <a:spcPts val="400"/>
              </a:spcBef>
              <a:defRPr sz="1000" b="1">
                <a:solidFill>
                  <a:srgbClr val="980517"/>
                </a:solidFill>
                <a:latin typeface="Calibri"/>
              </a:defRPr>
            </a:pPr>
            <a:r>
              <a:t>➔  Dampak: Pelayanan Mahasiswa Cepat &amp; Nyaman</a:t>
            </a:r>
          </a:p>
        </p:txBody>
      </p:sp>
      <p:sp>
        <p:nvSpPr>
          <p:cNvPr id="8" name="Rounded Rectangle 7"/>
          <p:cNvSpPr/>
          <p:nvPr/>
        </p:nvSpPr>
        <p:spPr>
          <a:xfrm>
            <a:off x="4370832" y="1417320"/>
            <a:ext cx="3429000"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MANFAAT 02 • AKURASI INVENTARIS</a:t>
            </a:r>
          </a:p>
          <a:p>
            <a:pPr>
              <a:spcAft>
                <a:spcPts val="500"/>
              </a:spcAft>
              <a:defRPr sz="1250" b="1">
                <a:solidFill>
                  <a:srgbClr val="0F172A"/>
                </a:solidFill>
                <a:latin typeface="Arial"/>
              </a:defRPr>
            </a:pPr>
            <a:r>
              <a:t>Zero (0) Dead-Stock</a:t>
            </a:r>
          </a:p>
          <a:p>
            <a:pPr>
              <a:spcAft>
                <a:spcPts val="300"/>
              </a:spcAft>
              <a:defRPr sz="1050">
                <a:solidFill>
                  <a:srgbClr val="0F172A"/>
                </a:solidFill>
                <a:latin typeface="Calibri"/>
              </a:defRPr>
            </a:pPr>
            <a:r>
              <a:t>•  Profiling ukuran mandiri oleh mahasiswa sebelum tender vendor garmen dibuka.</a:t>
            </a:r>
          </a:p>
          <a:p>
            <a:pPr>
              <a:spcAft>
                <a:spcPts val="300"/>
              </a:spcAft>
              <a:defRPr sz="1050">
                <a:solidFill>
                  <a:srgbClr val="0F172A"/>
                </a:solidFill>
                <a:latin typeface="Calibri"/>
              </a:defRPr>
            </a:pPr>
            <a:r>
              <a:t>•  Kalkulasi Demand vs Shortage otomatis memastikan pesanan pabrik selaras 100% dengan kebutuhan tubuh riil mahasiswa.</a:t>
            </a:r>
          </a:p>
          <a:p>
            <a:pPr>
              <a:spcAft>
                <a:spcPts val="300"/>
              </a:spcAft>
              <a:defRPr sz="1050">
                <a:solidFill>
                  <a:srgbClr val="0F172A"/>
                </a:solidFill>
                <a:latin typeface="Calibri"/>
              </a:defRPr>
            </a:pPr>
            <a:r>
              <a:t>•  Tidak ada lagi seragam berukuran ekstrem yang mengendap bertahun-tahun di gudang.</a:t>
            </a:r>
          </a:p>
          <a:p>
            <a:pPr>
              <a:spcBef>
                <a:spcPts val="400"/>
              </a:spcBef>
              <a:defRPr sz="1000" b="1">
                <a:solidFill>
                  <a:srgbClr val="980517"/>
                </a:solidFill>
                <a:latin typeface="Calibri"/>
              </a:defRPr>
            </a:pPr>
            <a:r>
              <a:t>➔  Dampak: Optimalisasi Modal Kerja Kampus</a:t>
            </a:r>
          </a:p>
        </p:txBody>
      </p:sp>
      <p:sp>
        <p:nvSpPr>
          <p:cNvPr id="9" name="Rounded Rectangle 8"/>
          <p:cNvSpPr/>
          <p:nvPr/>
        </p:nvSpPr>
        <p:spPr>
          <a:xfrm>
            <a:off x="8010144" y="1417320"/>
            <a:ext cx="3429000" cy="4800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64592" bIns="137160"/>
          <a:lstStyle/>
          <a:p>
            <a:pPr algn="ctr">
              <a:defRPr sz="950" b="1">
                <a:solidFill>
                  <a:srgbClr val="980517"/>
                </a:solidFill>
                <a:latin typeface="Arial"/>
              </a:defRPr>
            </a:pPr>
            <a:r>
              <a:t>MANFAAT 03 • AKUNTABILITAS BIAYA</a:t>
            </a:r>
          </a:p>
          <a:p>
            <a:pPr>
              <a:spcAft>
                <a:spcPts val="500"/>
              </a:spcAft>
              <a:defRPr sz="1250" b="1">
                <a:solidFill>
                  <a:srgbClr val="0F172A"/>
                </a:solidFill>
                <a:latin typeface="Arial"/>
              </a:defRPr>
            </a:pPr>
            <a:r>
              <a:t>100% Valuasi FIFO Real-Time</a:t>
            </a:r>
          </a:p>
          <a:p>
            <a:pPr>
              <a:spcAft>
                <a:spcPts val="300"/>
              </a:spcAft>
              <a:defRPr sz="1050">
                <a:solidFill>
                  <a:srgbClr val="0F172A"/>
                </a:solidFill>
                <a:latin typeface="Calibri"/>
              </a:defRPr>
            </a:pPr>
            <a:r>
              <a:t>•  Mengeliminasi ketergantungan pada spreadsheet Excel raksasa yang rawan rusak atau korup.</a:t>
            </a:r>
          </a:p>
          <a:p>
            <a:pPr>
              <a:spcAft>
                <a:spcPts val="300"/>
              </a:spcAft>
              <a:defRPr sz="1050">
                <a:solidFill>
                  <a:srgbClr val="0F172A"/>
                </a:solidFill>
                <a:latin typeface="Calibri"/>
              </a:defRPr>
            </a:pPr>
            <a:r>
              <a:t>•  Seluruh pergerakan stok dicatat otomatis ke kartu mutasi persediaan berbasis urutan batch FIFO.</a:t>
            </a:r>
          </a:p>
          <a:p>
            <a:pPr>
              <a:spcAft>
                <a:spcPts val="300"/>
              </a:spcAft>
              <a:defRPr sz="1050">
                <a:solidFill>
                  <a:srgbClr val="0F172A"/>
                </a:solidFill>
                <a:latin typeface="Calibri"/>
              </a:defRPr>
            </a:pPr>
            <a:r>
              <a:t>•  Laporan Harga Pokok Penjualan (HPP) dan Gross Profit Margin (GPM) tersedia secara transparan bagi pimpinan.</a:t>
            </a:r>
          </a:p>
          <a:p>
            <a:pPr>
              <a:spcBef>
                <a:spcPts val="400"/>
              </a:spcBef>
              <a:defRPr sz="1000" b="1">
                <a:solidFill>
                  <a:srgbClr val="980517"/>
                </a:solidFill>
                <a:latin typeface="Calibri"/>
              </a:defRPr>
            </a:pPr>
            <a:r>
              <a:t>➔  Dampak: Audit Trail Keuangan Bebas Selisih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