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654809ca-5d24-4b35-a5de-569383139a7e.fntdata" /><ns0:Relationship Id="rIdFont16" Type="http://schemas.openxmlformats.org/officeDocument/2006/relationships/font" Target="fonts/1425bcbc-cb68-4c41-ab25-39e76b71d1b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201417"/>
            <a:ext cx="6858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08832"/>
            <a:ext cx="1150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59E0B"/>
                </a:solidFill>
                <a:latin typeface="Plus Jakarta Sans"/>
              </a:rPr>
              <a:t>TIM NIRWANA • DEPARTEMEN KEUANGAN UNIVERSITAS HORIZON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2207"/>
            <a:ext cx="99012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HorizonU Uniform: Sistem Rantai Pasok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71837"/>
            <a:ext cx="8667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FECDD3"/>
                </a:solidFill>
                <a:latin typeface="Plus Jakarta Sans"/>
              </a:rPr>
              <a:t>Platform web terpusat bertenaga UniStock guna memodernisasi pencatatan stok seragam dan mempercepat pembagian di posko mahasiswa.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82417"/>
            <a:ext cx="4127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59E0B"/>
                </a:solidFill>
                <a:latin typeface="Plus Jakarta Sans"/>
              </a:rPr>
              <a:t>OBJEK &amp;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11017"/>
            <a:ext cx="4127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Seragam Kuliah, Sepatu, &amp; Alat Medis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49" y="4582417"/>
            <a:ext cx="4127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59E0B"/>
                </a:solidFill>
                <a:latin typeface="Plus Jakarta Sans"/>
              </a:rPr>
              <a:t>MASALAH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5049" y="4811017"/>
            <a:ext cx="33972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Kendala Excel, Antrean Posko, &amp; Stok Mati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99" y="4582417"/>
            <a:ext cx="3987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59E0B"/>
                </a:solidFill>
                <a:latin typeface="Plus Jakarta Sans"/>
              </a:rPr>
              <a:t>ANGGOTA TIM NIRWANA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4299" y="4811017"/>
            <a:ext cx="3987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Fhazar, Ferry, Hildan, Fadel, Daffa, Acep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76925"/>
            <a:ext cx="10972800" cy="523875"/>
          </a:xfrm>
          <a:prstGeom prst="roundRect">
            <a:avLst>
              <a:gd name="adj" fmla="val 2181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95575"/>
            <a:ext cx="2407443" cy="1924050"/>
          </a:xfrm>
          <a:prstGeom prst="roundRect">
            <a:avLst>
              <a:gd name="adj" fmla="val 7920"/>
            </a:avLst>
          </a:prstGeom>
          <a:solidFill>
            <a:srgbClr val="FA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64718" y="2805112"/>
            <a:ext cx="2407443" cy="1704975"/>
          </a:xfrm>
          <a:prstGeom prst="roundRect">
            <a:avLst>
              <a:gd name="adj" fmla="val 8938"/>
            </a:avLst>
          </a:prstGeom>
          <a:solidFill>
            <a:srgbClr val="FA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19837" y="2805112"/>
            <a:ext cx="2407443" cy="1704975"/>
          </a:xfrm>
          <a:prstGeom prst="roundRect">
            <a:avLst>
              <a:gd name="adj" fmla="val 8938"/>
            </a:avLst>
          </a:prstGeom>
          <a:solidFill>
            <a:srgbClr val="FA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74956" y="2686050"/>
            <a:ext cx="2407443" cy="1943100"/>
          </a:xfrm>
          <a:prstGeom prst="roundRect">
            <a:avLst>
              <a:gd name="adj" fmla="val 7843"/>
            </a:avLst>
          </a:prstGeom>
          <a:solidFill>
            <a:srgbClr val="FA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393" y="3552825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512" y="3552825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631" y="3552825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962275"/>
            <a:ext cx="323850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268" y="3071812"/>
            <a:ext cx="361950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387" y="3071812"/>
            <a:ext cx="219075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4506" y="2952750"/>
            <a:ext cx="247650" cy="285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B0F1A"/>
                </a:solidFill>
                <a:latin typeface="Plus Jakarta Sans"/>
              </a:rPr>
              <a:t>01 • STRUKTUR RANTAI PASOK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Plus Jakarta Sans"/>
              </a:rPr>
              <a:t>Aliran Fisik Barang &amp; Otorisasi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1430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Rantai pasok menghubungkan empat pihak mulai dari pabrik produksi hingga serah terima mahasiswa.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6029325"/>
            <a:ext cx="11353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8350F"/>
                </a:solidFill>
                <a:latin typeface="Plus Jakarta Sans"/>
              </a:rPr>
              <a:t>Prinsip Utama: Data Mengunci Fisik — Seragam dilarang keluar sebelum validasi QR disetujui sistem.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381375"/>
            <a:ext cx="26097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1. Pabrik Garmen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3695700"/>
            <a:ext cx="2083593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Memproduksi paket seragam sesuai rekap ukuran.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4268" y="3490912"/>
            <a:ext cx="26097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2. Gudang Kampus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4268" y="3805237"/>
            <a:ext cx="2083593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Mencatat barang masuk memakai urutan FIFO.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9387" y="3490912"/>
            <a:ext cx="26097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3. Staf Keuangan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9387" y="3805237"/>
            <a:ext cx="2083593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Mengaktifkan status lunas beserta hak kuota.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4506" y="3371850"/>
            <a:ext cx="218777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4. Posko &amp; Mahasiswa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4506" y="3924300"/>
            <a:ext cx="2083593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Memindai kode QR saat pengambilan fisik.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19312"/>
            <a:ext cx="10972800" cy="37147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119312"/>
          <a:ext cx="10972798" cy="37147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91780"/>
                <a:gridCol w="3840360"/>
                <a:gridCol w="3840658"/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Masalah Lapangan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Penyebab Manual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Dampak Kerugian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F1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C1917"/>
                          </a:solidFill>
                          <a:latin typeface="Plus Jakarta Sans"/>
                        </a:rPr>
                        <a:t>1. File Excel Sering Macet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Ribuan baris data mahasiswa diinput manual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91C1C"/>
                          </a:solidFill>
                          <a:latin typeface="Plus Jakarta Sans"/>
                        </a:rPr>
                        <a:t>Pencatatan stok melambat dan rawan rusak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C1917"/>
                          </a:solidFill>
                          <a:latin typeface="Plus Jakarta Sans"/>
                        </a:rPr>
                        <a:t>2. Info Jadwal Terlambat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Pengumuman dikirim ke surel satu-persatu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91C1C"/>
                          </a:solidFill>
                          <a:latin typeface="Plus Jakarta Sans"/>
                        </a:rPr>
                        <a:t>Mahasiswa terlambat mengetahui jadwal ambil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F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C1917"/>
                          </a:solidFill>
                          <a:latin typeface="Plus Jakarta Sans"/>
                        </a:rPr>
                        <a:t>3. Antrean Posko Panjang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Kode QR dan cek lunas dibuat manual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91C1C"/>
                          </a:solidFill>
                          <a:latin typeface="Plus Jakarta Sans"/>
                        </a:rPr>
                        <a:t>Pelayanan lama mencapai lima menit per orang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C1917"/>
                          </a:solidFill>
                          <a:latin typeface="Plus Jakarta Sans"/>
                        </a:rPr>
                        <a:t>4. Penumpukan Stok Mati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4403C"/>
                          </a:solidFill>
                          <a:latin typeface="Plus Jakarta Sans"/>
                        </a:rPr>
                        <a:t>Pesanan ukuran ke pabrik hanya tebakan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91C1C"/>
                          </a:solidFill>
                          <a:latin typeface="Plus Jakarta Sans"/>
                        </a:rPr>
                        <a:t>Ukuran populer habis sedangkan sisa menumpuk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B0F1A"/>
                </a:solidFill>
                <a:latin typeface="Plus Jakarta Sans"/>
              </a:rPr>
              <a:t>02 • ANALISIS MASALAH SISTEM 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Plus Jakarta Sans"/>
              </a:rPr>
              <a:t>Mengapa Pengelolaan Manual Menghambat Distribusi?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430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Empat kendala operasional Staf Keuangan saat masih menggunakan lembar kerja Excel dan surel manual.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6050"/>
            <a:ext cx="3619500" cy="2619375"/>
          </a:xfrm>
          <a:prstGeom prst="roundRect">
            <a:avLst>
              <a:gd name="adj" fmla="val 7272"/>
            </a:avLst>
          </a:prstGeom>
          <a:solidFill>
            <a:srgbClr val="FA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B0F1A"/>
                </a:solidFill>
                <a:latin typeface="Plus Jakarta Sans"/>
              </a:rPr>
              <a:t>03 • ANALISIS ALIRAN INFORMASI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Plus Jakarta Sans"/>
              </a:rPr>
              <a:t>Di Mana Informasi Terputus pada Proses Lama?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430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Data berjalan terpisah antarbagian sehingga menghambat penyerahan seragam di meja posko.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7050"/>
            <a:ext cx="3762375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00"/>
              </a:lnSpc>
            </a:pPr>
            <a:r>
              <a:rPr b="1" sz="5100" i="0" u="none">
                <a:solidFill>
                  <a:srgbClr val="6B0F1A"/>
                </a:solidFill>
                <a:latin typeface="Plus Jakarta Sans"/>
              </a:rPr>
              <a:t>4 Titik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67150"/>
            <a:ext cx="39504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C1917"/>
                </a:solidFill>
                <a:latin typeface="Plus Jakarta Sans"/>
              </a:rPr>
              <a:t>Isolasi Data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67200"/>
            <a:ext cx="31051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Ketiadaan sistem terpusat membuat staf posko buta terhadap status bayar terbaru.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224212"/>
            <a:ext cx="7581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6B0F1A"/>
                </a:solidFill>
                <a:latin typeface="Plus Jakarta Sans"/>
              </a:rPr>
              <a:t>1. Bagian Keuangan:</a:t>
            </a:r>
            <a:r>
              <a:rPr b="0" sz="1425" i="0" u="none">
                <a:solidFill>
                  <a:srgbClr val="1C1917"/>
                </a:solidFill>
                <a:latin typeface="Plus Jakarta Sans"/>
              </a:rPr>
              <a:t> Menyimpan status lunas di file Excel terpisah.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662362"/>
            <a:ext cx="7581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6B0F1A"/>
                </a:solidFill>
                <a:latin typeface="Plus Jakarta Sans"/>
              </a:rPr>
              <a:t>2. Mahasiswa Baru:</a:t>
            </a:r>
            <a:r>
              <a:rPr b="0" sz="1425" i="0" u="none">
                <a:solidFill>
                  <a:srgbClr val="1C1917"/>
                </a:solidFill>
                <a:latin typeface="Plus Jakarta Sans"/>
              </a:rPr>
              <a:t> Mengisi ukuran lewat formulir tidak terstandarisasi.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4100512"/>
            <a:ext cx="7581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6B0F1A"/>
                </a:solidFill>
                <a:latin typeface="Plus Jakarta Sans"/>
              </a:rPr>
              <a:t>3. Petugas Posko:</a:t>
            </a:r>
            <a:r>
              <a:rPr b="0" sz="1425" i="0" u="none">
                <a:solidFill>
                  <a:srgbClr val="1C1917"/>
                </a:solidFill>
                <a:latin typeface="Plus Jakarta Sans"/>
              </a:rPr>
              <a:t> Mencatat pengambilan seragam pada lembar kertas.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4538662"/>
            <a:ext cx="7581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6B0F1A"/>
                </a:solidFill>
                <a:latin typeface="Plus Jakarta Sans"/>
              </a:rPr>
              <a:t>4. Pabrik Vendor:</a:t>
            </a:r>
            <a:r>
              <a:rPr b="0" sz="1425" i="0" u="none">
                <a:solidFill>
                  <a:srgbClr val="1C1917"/>
                </a:solidFill>
                <a:latin typeface="Plus Jakarta Sans"/>
              </a:rPr>
              <a:t> Menerima pesanan barang tanpa data ukuran riil.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9875"/>
            <a:ext cx="2571750" cy="2371725"/>
          </a:xfrm>
          <a:prstGeom prst="roundRect">
            <a:avLst>
              <a:gd name="adj" fmla="val 64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809875"/>
            <a:ext cx="2571750" cy="2371725"/>
          </a:xfrm>
          <a:prstGeom prst="roundRect">
            <a:avLst>
              <a:gd name="adj" fmla="val 64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28937"/>
            <a:ext cx="2571750" cy="2133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28937"/>
            <a:ext cx="2571750" cy="2133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B0F1A"/>
                </a:solidFill>
                <a:latin typeface="Plus Jakarta Sans"/>
              </a:rPr>
              <a:t>04 • REKOMENDASI SISTEM INFORMASI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Plus Jakarta Sans"/>
              </a:rPr>
              <a:t>4 Fitur Utama Solusi Web HorizonU Uniform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430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Platform terpusat yang mengintegrasikan pengelolaan data mahasiswa, jadwal, kode QR, dan stok gudang.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114675"/>
            <a:ext cx="2643187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3150" i="0" u="none">
                <a:solidFill>
                  <a:srgbClr val="D97706"/>
                </a:solidFill>
                <a:latin typeface="Plus Jakarta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48075"/>
            <a:ext cx="232029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B0F1A"/>
                </a:solidFill>
                <a:latin typeface="Plus Jakarta Sans"/>
              </a:rPr>
              <a:t>Manajemen Data &amp; Hak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1957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Menggantikan file Excel menjadi basis data kuota mahasiswa.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114675"/>
            <a:ext cx="2643187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3150" i="0" u="none">
                <a:solidFill>
                  <a:srgbClr val="D97706"/>
                </a:solidFill>
                <a:latin typeface="Plus Jakarta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648075"/>
            <a:ext cx="232029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B0F1A"/>
                </a:solidFill>
                <a:latin typeface="Plus Jakarta Sans"/>
              </a:rPr>
              <a:t>Pengumuman &amp; Jadwal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421957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Menyiarkan jadwal ambil seragam langsung di portal web.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233737"/>
            <a:ext cx="2643187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3150" i="0" u="none">
                <a:solidFill>
                  <a:srgbClr val="D97706"/>
                </a:solidFill>
                <a:latin typeface="Plus Jakarta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767137"/>
            <a:ext cx="27753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B0F1A"/>
                </a:solidFill>
                <a:latin typeface="Plus Jakarta Sans"/>
              </a:rPr>
              <a:t>Validasi Pindai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100512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Membuat kode QR otomatis guna verifikasi cepat posko.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233737"/>
            <a:ext cx="2643187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3150" i="0" u="none">
                <a:solidFill>
                  <a:srgbClr val="D97706"/>
                </a:solidFill>
                <a:latin typeface="Plus Jakarta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767137"/>
            <a:ext cx="27753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B0F1A"/>
                </a:solidFill>
                <a:latin typeface="Plus Jakarta Sans"/>
              </a:rPr>
              <a:t>Dasbor Analitik Stok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0" y="4100512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Memantau batas stok minimum setiap ukuran seragam.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5262"/>
            <a:ext cx="2600325" cy="1200150"/>
          </a:xfrm>
          <a:prstGeom prst="roundRect">
            <a:avLst>
              <a:gd name="adj" fmla="val 11111"/>
            </a:avLst>
          </a:prstGeom>
          <a:solidFill>
            <a:srgbClr val="FA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4005262"/>
            <a:ext cx="2600325" cy="1200150"/>
          </a:xfrm>
          <a:prstGeom prst="roundRect">
            <a:avLst>
              <a:gd name="adj" fmla="val 11111"/>
            </a:avLst>
          </a:prstGeom>
          <a:solidFill>
            <a:srgbClr val="FA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895725"/>
            <a:ext cx="2600325" cy="1419225"/>
          </a:xfrm>
          <a:prstGeom prst="roundRect">
            <a:avLst>
              <a:gd name="adj" fmla="val 9395"/>
            </a:avLst>
          </a:prstGeom>
          <a:solidFill>
            <a:srgbClr val="FA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4005262"/>
            <a:ext cx="2600325" cy="120015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B0F1A"/>
                </a:solidFill>
                <a:latin typeface="Plus Jakarta Sans"/>
              </a:rPr>
              <a:t>05 • DESAIN ARSITEKTUR SOLUSI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Plus Jakarta Sans"/>
              </a:rPr>
              <a:t>Cara Kerja 4 Fase Siklus Tertutup UniStock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430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Aliran data berputar otomatis dari penerimaan barang gudang hingga menjadi acuan belanja periode berikutnya.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233862"/>
            <a:ext cx="29128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6B0F1A"/>
                </a:solidFill>
                <a:latin typeface="Plus Jakarta Sans"/>
              </a:rPr>
              <a:t>Fase 1: Stok Masuk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538662"/>
            <a:ext cx="23145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Gudang mencatat seragam vendor ke kelompok FIFO.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0925" y="4233862"/>
            <a:ext cx="29128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6B0F1A"/>
                </a:solidFill>
                <a:latin typeface="Plus Jakarta Sans"/>
              </a:rPr>
              <a:t>Fase 2: Kunci Hak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0925" y="4538662"/>
            <a:ext cx="23145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Sistem memverifikasi lunas biaya beserta ukuran baju.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4124325"/>
            <a:ext cx="29128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6B0F1A"/>
                </a:solidFill>
                <a:latin typeface="Plus Jakarta Sans"/>
              </a:rPr>
              <a:t>Fase 3: Serah Terima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4429125"/>
            <a:ext cx="23145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03C"/>
                </a:solidFill>
                <a:latin typeface="Plus Jakarta Sans"/>
              </a:rPr>
              <a:t>Pindai QR posko memotong saldo stok terlama.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4233862"/>
            <a:ext cx="29128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2400E"/>
                </a:solidFill>
                <a:latin typeface="Plus Jakarta Sans"/>
              </a:rPr>
              <a:t>Fase 4: Evaluasi Sisa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2575" y="4538662"/>
            <a:ext cx="23145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350F"/>
                </a:solidFill>
                <a:latin typeface="Plus Jakarta Sans"/>
              </a:rPr>
              <a:t>Laporan sisa stok menjadi acuan pesanan baru.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4612"/>
            <a:ext cx="5334000" cy="272415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14612"/>
            <a:ext cx="5334000" cy="2724150"/>
          </a:xfrm>
          <a:prstGeom prst="roundRect">
            <a:avLst>
              <a:gd name="adj" fmla="val 5594"/>
            </a:avLst>
          </a:prstGeom>
          <a:solidFill>
            <a:srgbClr val="FA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B0F1A"/>
                </a:solidFill>
                <a:latin typeface="Plus Jakarta Sans"/>
              </a:rPr>
              <a:t>06 • IMPLEMENTASI &amp; MITIGASI RISIKO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Plus Jakarta Sans"/>
              </a:rPr>
              <a:t>Tahapan Penerapan &amp; Solusi Kendala Lapangan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430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Plus Jakarta Sans"/>
              </a:rPr>
              <a:t>Langkah kesiapan sistem beserta pengaman otomatis apabila terjadi kendala darurat saat pembagian.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9412"/>
            <a:ext cx="62007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6B0F1A"/>
                </a:solidFill>
                <a:latin typeface="Plus Jakarta Sans"/>
              </a:rPr>
              <a:t>3 Langkah Implementasi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2919412"/>
            <a:ext cx="563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2400E"/>
                </a:solidFill>
                <a:latin typeface="Plus Jakarta Sans"/>
              </a:rPr>
              <a:t>3 Antisipasi Kendala Darurat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6612"/>
            <a:ext cx="4819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B0F1A"/>
                </a:solidFill>
                <a:latin typeface="Plus Jakarta Sans"/>
              </a:rPr>
              <a:t>1. Standarisasi Kode:</a:t>
            </a:r>
            <a:r>
              <a:rPr b="0" sz="1350" i="0" u="none">
                <a:solidFill>
                  <a:srgbClr val="1C1917"/>
                </a:solidFill>
                <a:latin typeface="Plus Jakarta Sans"/>
              </a:rPr>
              <a:t> Memindahkan tabel Excel ke kode barang baku.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86212"/>
            <a:ext cx="4819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B0F1A"/>
                </a:solidFill>
                <a:latin typeface="Plus Jakarta Sans"/>
              </a:rPr>
              <a:t>2. Integrasi Keuangan:</a:t>
            </a:r>
            <a:r>
              <a:rPr b="0" sz="1350" i="0" u="none">
                <a:solidFill>
                  <a:srgbClr val="1C1917"/>
                </a:solidFill>
                <a:latin typeface="Plus Jakarta Sans"/>
              </a:rPr>
              <a:t> Menghubungkan status lunas dan pilihan ukuran.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95812"/>
            <a:ext cx="4819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B0F1A"/>
                </a:solidFill>
                <a:latin typeface="Plus Jakarta Sans"/>
              </a:rPr>
              <a:t>3. Pelatihan Petugas:</a:t>
            </a:r>
            <a:r>
              <a:rPr b="0" sz="1350" i="0" u="none">
                <a:solidFill>
                  <a:srgbClr val="1C1917"/>
                </a:solidFill>
                <a:latin typeface="Plus Jakarta Sans"/>
              </a:rPr>
              <a:t> Melatih staf posko memakai pemindai kamera web.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376612"/>
            <a:ext cx="4819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2400E"/>
                </a:solidFill>
                <a:latin typeface="Plus Jakarta Sans"/>
              </a:rPr>
              <a:t>1. Kendala HP Mati:</a:t>
            </a:r>
            <a:r>
              <a:rPr b="0" sz="1350" i="0" u="none">
                <a:solidFill>
                  <a:srgbClr val="1C1917"/>
                </a:solidFill>
                <a:latin typeface="Plus Jakarta Sans"/>
              </a:rPr>
              <a:t> Petugas mencari data manual lewat ketik NIM.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986212"/>
            <a:ext cx="4819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2400E"/>
                </a:solidFill>
                <a:latin typeface="Plus Jakarta Sans"/>
              </a:rPr>
              <a:t>2. Ukuran Seragam Habis:</a:t>
            </a:r>
            <a:r>
              <a:rPr b="0" sz="1350" i="0" u="none">
                <a:solidFill>
                  <a:srgbClr val="1C1917"/>
                </a:solidFill>
                <a:latin typeface="Plus Jakarta Sans"/>
              </a:rPr>
              <a:t> Mahasiswa ambil sebagian tanpa hangus kuota.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595812"/>
            <a:ext cx="4819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2400E"/>
                </a:solidFill>
                <a:latin typeface="Plus Jakarta Sans"/>
              </a:rPr>
              <a:t>3. Jaringan Kampus Lambat:</a:t>
            </a:r>
            <a:r>
              <a:rPr b="0" sz="1350" i="0" u="none">
                <a:solidFill>
                  <a:srgbClr val="1C1917"/>
                </a:solidFill>
                <a:latin typeface="Plus Jakarta Sans"/>
              </a:rPr>
              <a:t> Sistem mengunci saldo cegah pemotongan ganda.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62087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59E0B"/>
                </a:solidFill>
                <a:latin typeface="Plus Jakarta Sans"/>
              </a:rPr>
              <a:t>07 • KESIMPULAN &amp; MANFAAT TERUKUR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47837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3 Dampak Nyata Implementasi HorizonU Uniform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862512"/>
            <a:ext cx="10915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FDE68A"/>
                </a:solidFill>
                <a:latin typeface="Plus Jakarta Sans"/>
              </a:rPr>
              <a:t>"HorizonU Uniform mengubah pencatatan manual menjadi rantai pasok terintegrasi berbasis data presisi. Terima kasih."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9362"/>
            <a:ext cx="422281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F59E0B"/>
                </a:solidFill>
                <a:latin typeface="Plus Jakarta Sans"/>
              </a:rPr>
              <a:t>&lt; 30 Detik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67062"/>
            <a:ext cx="443395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Pelayanan Posko Cepat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09962"/>
            <a:ext cx="34734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ECDD3"/>
                </a:solidFill>
                <a:latin typeface="Plus Jakarta Sans"/>
              </a:rPr>
              <a:t>Memangkas antrean lima menit lewat pindai kode QR.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6949" y="2519362"/>
            <a:ext cx="422281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34D399"/>
                </a:solidFill>
                <a:latin typeface="Plus Jakarta Sans"/>
              </a:rPr>
              <a:t>0 Stok Mati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6949" y="3167062"/>
            <a:ext cx="443395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Pengadaan Tepat Ukuran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6949" y="3509962"/>
            <a:ext cx="34734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ECDD3"/>
                </a:solidFill>
                <a:latin typeface="Plus Jakarta Sans"/>
              </a:rPr>
              <a:t>Pesanan pabrik sesuai ukuran asli mahasiswa aktif.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99" y="2519362"/>
            <a:ext cx="3473499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38BDF8"/>
                </a:solidFill>
                <a:latin typeface="Plus Jakarta Sans"/>
              </a:rPr>
              <a:t>100% Akurat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99" y="3700462"/>
            <a:ext cx="4063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Bebas Kendala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99" y="4043362"/>
            <a:ext cx="34734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ECDD3"/>
                </a:solidFill>
                <a:latin typeface="Plus Jakarta Sans"/>
              </a:rPr>
              <a:t>Mutasi barang tercatat otomatis memakai urutan FIFO.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